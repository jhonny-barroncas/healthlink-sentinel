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ccdcca87e44eed" /><Relationship Type="http://schemas.openxmlformats.org/officeDocument/2006/relationships/extended-properties" Target="/docProps/app.xml" Id="R58734f32eca3494d" /><Relationship Type="http://schemas.openxmlformats.org/officeDocument/2006/relationships/officeDocument" Target="/ppt/presentation.xml" Id="Rc57ef0f0bfeb4e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768110d4564421"/>
  </p:sldMasterIdLst>
  <p:notesMasterIdLst>
    <p:notesMasterId xmlns:r="http://schemas.openxmlformats.org/officeDocument/2006/relationships" r:id="R94b4e0decd204a2c"/>
  </p:notesMasterIdLst>
  <p:sldIdLst>
    <p:sldId xmlns:r="http://schemas.openxmlformats.org/officeDocument/2006/relationships" id="256" r:id="R12b8c57cac624e52"/>
    <p:sldId xmlns:r="http://schemas.openxmlformats.org/officeDocument/2006/relationships" id="257" r:id="R28c706fb7b2a4445"/>
    <p:sldId xmlns:r="http://schemas.openxmlformats.org/officeDocument/2006/relationships" id="258" r:id="Rd09d1a241b784c14"/>
    <p:sldId xmlns:r="http://schemas.openxmlformats.org/officeDocument/2006/relationships" id="259" r:id="Rb01ad6433809419f"/>
    <p:sldId xmlns:r="http://schemas.openxmlformats.org/officeDocument/2006/relationships" id="260" r:id="R9792722f7757471f"/>
    <p:sldId xmlns:r="http://schemas.openxmlformats.org/officeDocument/2006/relationships" id="261" r:id="R059a713f244842d7"/>
    <p:sldId xmlns:r="http://schemas.openxmlformats.org/officeDocument/2006/relationships" id="262" r:id="Rf6dec795e6584765"/>
    <p:sldId xmlns:r="http://schemas.openxmlformats.org/officeDocument/2006/relationships" id="263" r:id="R03e4513b0bea4d18"/>
    <p:sldId xmlns:r="http://schemas.openxmlformats.org/officeDocument/2006/relationships" id="264" r:id="R83a0386ab3fd4078"/>
    <p:sldId xmlns:r="http://schemas.openxmlformats.org/officeDocument/2006/relationships" id="265" r:id="R0ccb436d8de44a14"/>
    <p:sldId xmlns:r="http://schemas.openxmlformats.org/officeDocument/2006/relationships" id="266" r:id="Raf12e5d270f44bcd"/>
    <p:sldId xmlns:r="http://schemas.openxmlformats.org/officeDocument/2006/relationships" id="267" r:id="R573d62221b7b4b5c"/>
    <p:sldId xmlns:r="http://schemas.openxmlformats.org/officeDocument/2006/relationships" id="268" r:id="Rfebd676fd9db4ce0"/>
    <p:sldId xmlns:r="http://schemas.openxmlformats.org/officeDocument/2006/relationships" id="269" r:id="R639313a6bb0a41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248f8ff0104bdb" /><Relationship Type="http://schemas.openxmlformats.org/officeDocument/2006/relationships/slideMaster" Target="/ppt/slideMasters/slideMaster1.xml" Id="R05768110d4564421" /><Relationship Type="http://schemas.openxmlformats.org/officeDocument/2006/relationships/notesMaster" Target="/ppt/notesMasters/notesMaster1.xml" Id="R94b4e0decd204a2c" /><Relationship Type="http://schemas.openxmlformats.org/officeDocument/2006/relationships/presProps" Target="/ppt/presProps.xml" Id="Rcf4245aa707b4c05" /><Relationship Type="http://schemas.openxmlformats.org/officeDocument/2006/relationships/tableStyles" Target="/ppt/tableStyles.xml" Id="Rb823245d738b4a7c" /><Relationship Type="http://schemas.openxmlformats.org/officeDocument/2006/relationships/slide" Target="/ppt/slides/slide1.xml" Id="R12b8c57cac624e52" /><Relationship Type="http://schemas.openxmlformats.org/officeDocument/2006/relationships/slide" Target="/ppt/slides/slide2.xml" Id="R28c706fb7b2a4445" /><Relationship Type="http://schemas.openxmlformats.org/officeDocument/2006/relationships/slide" Target="/ppt/slides/slide3.xml" Id="Rd09d1a241b784c14" /><Relationship Type="http://schemas.openxmlformats.org/officeDocument/2006/relationships/slide" Target="/ppt/slides/slide4.xml" Id="Rb01ad6433809419f" /><Relationship Type="http://schemas.openxmlformats.org/officeDocument/2006/relationships/slide" Target="/ppt/slides/slide5.xml" Id="R9792722f7757471f" /><Relationship Type="http://schemas.openxmlformats.org/officeDocument/2006/relationships/slide" Target="/ppt/slides/slide6.xml" Id="R059a713f244842d7" /><Relationship Type="http://schemas.openxmlformats.org/officeDocument/2006/relationships/slide" Target="/ppt/slides/slide7.xml" Id="Rf6dec795e6584765" /><Relationship Type="http://schemas.openxmlformats.org/officeDocument/2006/relationships/slide" Target="/ppt/slides/slide8.xml" Id="R03e4513b0bea4d18" /><Relationship Type="http://schemas.openxmlformats.org/officeDocument/2006/relationships/slide" Target="/ppt/slides/slide9.xml" Id="R83a0386ab3fd4078" /><Relationship Type="http://schemas.openxmlformats.org/officeDocument/2006/relationships/slide" Target="/ppt/slides/slide10.xml" Id="R0ccb436d8de44a14" /><Relationship Type="http://schemas.openxmlformats.org/officeDocument/2006/relationships/slide" Target="/ppt/slides/slide11.xml" Id="Raf12e5d270f44bcd" /><Relationship Type="http://schemas.openxmlformats.org/officeDocument/2006/relationships/slide" Target="/ppt/slides/slide12.xml" Id="R573d62221b7b4b5c" /><Relationship Type="http://schemas.openxmlformats.org/officeDocument/2006/relationships/slide" Target="/ppt/slides/slide13.xml" Id="Rfebd676fd9db4ce0" /><Relationship Type="http://schemas.openxmlformats.org/officeDocument/2006/relationships/slide" Target="/ppt/slides/slide14.xml" Id="R639313a6bb0a41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a815f907004d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64fb25bf174a5b" /><Relationship Type="http://schemas.openxmlformats.org/officeDocument/2006/relationships/notesMaster" Target="/ppt/notesMasters/notesMaster1.xml" Id="R92c1c35af1b14f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1e93e4121f4ca2" /><Relationship Type="http://schemas.openxmlformats.org/officeDocument/2006/relationships/notesMaster" Target="/ppt/notesMasters/notesMaster1.xml" Id="R5dfb34f0bc534a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e4a83b52394b64" /><Relationship Type="http://schemas.openxmlformats.org/officeDocument/2006/relationships/notesMaster" Target="/ppt/notesMasters/notesMaster1.xml" Id="Re8f48496996343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959185669b413f" /><Relationship Type="http://schemas.openxmlformats.org/officeDocument/2006/relationships/notesMaster" Target="/ppt/notesMasters/notesMaster1.xml" Id="R5df41721b14a49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2a45caf5c14734" /><Relationship Type="http://schemas.openxmlformats.org/officeDocument/2006/relationships/notesMaster" Target="/ppt/notesMasters/notesMaster1.xml" Id="R7ddf67c4cd8045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e0d48433334dd2" /><Relationship Type="http://schemas.openxmlformats.org/officeDocument/2006/relationships/notesMaster" Target="/ppt/notesMasters/notesMaster1.xml" Id="R9a26bca170b841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2e33384f15423d" /><Relationship Type="http://schemas.openxmlformats.org/officeDocument/2006/relationships/notesMaster" Target="/ppt/notesMasters/notesMaster1.xml" Id="R9aa28f87b9fe4d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c57c5b12584054" /><Relationship Type="http://schemas.openxmlformats.org/officeDocument/2006/relationships/notesMaster" Target="/ppt/notesMasters/notesMaster1.xml" Id="Re67152745cc144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e07dd2f5ad4416" /><Relationship Type="http://schemas.openxmlformats.org/officeDocument/2006/relationships/notesMaster" Target="/ppt/notesMasters/notesMaster1.xml" Id="R87a4782370f645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27db7a07b54d77" /><Relationship Type="http://schemas.openxmlformats.org/officeDocument/2006/relationships/notesMaster" Target="/ppt/notesMasters/notesMaster1.xml" Id="Rba808445873844d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c40ce17ff34bb7" /><Relationship Type="http://schemas.openxmlformats.org/officeDocument/2006/relationships/notesMaster" Target="/ppt/notesMasters/notesMaster1.xml" Id="Rdcb06a9da44349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89fa3d932c46a6" /><Relationship Type="http://schemas.openxmlformats.org/officeDocument/2006/relationships/notesMaster" Target="/ppt/notesMasters/notesMaster1.xml" Id="R4eb6779d07e2421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c1d09bc7fc24fac" /><Relationship Type="http://schemas.openxmlformats.org/officeDocument/2006/relationships/notesMaster" Target="/ppt/notesMasters/notesMaster1.xml" Id="R14e9d0a2cfc44bb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e4d8d81123443fe" /><Relationship Type="http://schemas.openxmlformats.org/officeDocument/2006/relationships/notesMaster" Target="/ppt/notesMasters/notesMaster1.xml" Id="R5a36dda7433d41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52d3dca40340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5769d7259a42e4" /><Relationship Type="http://schemas.openxmlformats.org/officeDocument/2006/relationships/slideLayout" Target="/ppt/slideLayouts/slideLayout1.xml" Id="R96e3555641f04a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e3555641f04a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3797d05bc43a1" /><Relationship Type="http://schemas.openxmlformats.org/officeDocument/2006/relationships/notesSlide" Target="/ppt/notesSlides/notesSlide1.xml" Id="R00e1b9748c174e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364eecb714465" /><Relationship Type="http://schemas.openxmlformats.org/officeDocument/2006/relationships/image" Target="/ppt/media/image.jpeg" Id="R813e897398904b74" /><Relationship Type="http://schemas.openxmlformats.org/officeDocument/2006/relationships/image" Target="/ppt/media/image2.jpeg" Id="R227a9f85bfd54804" /><Relationship Type="http://schemas.openxmlformats.org/officeDocument/2006/relationships/notesSlide" Target="/ppt/notesSlides/notesSlide2.xml" Id="R5807be96a11448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0c9e5fe0b4c3f" /><Relationship Type="http://schemas.openxmlformats.org/officeDocument/2006/relationships/notesSlide" Target="/ppt/notesSlides/notesSlide3.xml" Id="Rc9430c2ce1454e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7a8837c644e8d" /><Relationship Type="http://schemas.openxmlformats.org/officeDocument/2006/relationships/image" Target="/ppt/media/image3.jpeg" Id="Rce5fbf1f167d40f1" /><Relationship Type="http://schemas.openxmlformats.org/officeDocument/2006/relationships/image" Target="/ppt/media/image4.jpeg" Id="Rff43ed73031e415f" /><Relationship Type="http://schemas.openxmlformats.org/officeDocument/2006/relationships/notesSlide" Target="/ppt/notesSlides/notesSlide4.xml" Id="R8a0be24c491845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8186ddb7a4a0e" /><Relationship Type="http://schemas.openxmlformats.org/officeDocument/2006/relationships/notesSlide" Target="/ppt/notesSlides/notesSlide5.xml" Id="R4277039c426c47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5c63b9dde4917" /><Relationship Type="http://schemas.openxmlformats.org/officeDocument/2006/relationships/image" Target="/ppt/media/image5.jpeg" Id="R91f783bfd20c4365" /><Relationship Type="http://schemas.openxmlformats.org/officeDocument/2006/relationships/notesSlide" Target="/ppt/notesSlides/notesSlide6.xml" Id="R13ed20ffc7784a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2a5b8e1bb4d9b" /><Relationship Type="http://schemas.openxmlformats.org/officeDocument/2006/relationships/notesSlide" Target="/ppt/notesSlides/notesSlide7.xml" Id="Raa82c098272349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a2c36c6584b5c" /><Relationship Type="http://schemas.openxmlformats.org/officeDocument/2006/relationships/notesSlide" Target="/ppt/notesSlides/notesSlide8.xml" Id="R3733e83fa6024f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7b5c1bf4a4aea" /><Relationship Type="http://schemas.openxmlformats.org/officeDocument/2006/relationships/notesSlide" Target="/ppt/notesSlides/notesSlide9.xml" Id="R6f490614608240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8ac5cb3b64ab2" /><Relationship Type="http://schemas.openxmlformats.org/officeDocument/2006/relationships/notesSlide" Target="/ppt/notesSlides/notesSlide10.xml" Id="Rbc34cdb75a45429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f912897514e44" /><Relationship Type="http://schemas.openxmlformats.org/officeDocument/2006/relationships/notesSlide" Target="/ppt/notesSlides/notesSlide11.xml" Id="Rc12e661e860747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b0827ad1e4db9" /><Relationship Type="http://schemas.openxmlformats.org/officeDocument/2006/relationships/notesSlide" Target="/ppt/notesSlides/notesSlide12.xml" Id="R27af9b459b114fd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462b1775442f4" /><Relationship Type="http://schemas.openxmlformats.org/officeDocument/2006/relationships/notesSlide" Target="/ppt/notesSlides/notesSlide13.xml" Id="R48ad8011db0a46a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0cbce329c4c9a" /><Relationship Type="http://schemas.openxmlformats.org/officeDocument/2006/relationships/notesSlide" Target="/ppt/notesSlides/notesSlide14.xml" Id="R18cee67d024046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E2E0FB-D01C-4BB4-BC05-40869DEC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71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B063DD-84CC-4A9D-8F92-90608B3D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83A6F-8F5F-4E3F-9CAA-0E35104B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9055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4F8FB"/>
                </a:solidFill>
              </a:defRPr>
            </a:pPr>
            <a:r>
              <a:rPr sz="4050" b="1">
                <a:solidFill>
                  <a:srgbClr val="F4F8FB"/>
                </a:solidFill>
              </a:rPr>
              <a:t>HEALTHLINK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6D258-A6ED-428D-B450-32463DA4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59055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39C6D8"/>
                </a:solidFill>
              </a:defRPr>
            </a:pPr>
            <a:r>
              <a:rPr sz="4050" b="1">
                <a:solidFill>
                  <a:srgbClr val="39C6D8"/>
                </a:solidFill>
              </a:rPr>
              <a:t>SENTINEL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39C0DE-1757-42AF-8ABE-0BD66886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72390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8BAC7"/>
                </a:solidFill>
              </a:defRPr>
            </a:pPr>
            <a:r>
              <a:rPr sz="1800" b="0">
                <a:solidFill>
                  <a:srgbClr val="A8BAC7"/>
                </a:solidFill>
              </a:rPr>
              <a:t>Uma camada operacional para transformar telemetria em decisão.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0C985-081C-4A9E-911D-EEAD16C3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57250"/>
            <a:ext cx="3429000" cy="4000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A5F34-42E1-415C-A451-B0970202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38250"/>
            <a:ext cx="23812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9C6D8"/>
                </a:solidFill>
              </a:defRPr>
            </a:pPr>
            <a:r>
              <a:rPr sz="1125" b="1">
                <a:solidFill>
                  <a:srgbClr val="39C6D8"/>
                </a:solidFill>
              </a:rPr>
              <a:t>DOIS MÓDULOS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DF56C-7DFA-4B7D-9B55-3B73B242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09750"/>
            <a:ext cx="762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9D49A"/>
                </a:solidFill>
              </a:defRPr>
            </a:pPr>
            <a:r>
              <a:rPr sz="2550" b="1">
                <a:solidFill>
                  <a:srgbClr val="59D49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E6C69-983B-449A-BCA9-E2676644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05050"/>
            <a:ext cx="2476500" cy="666750"/>
          </a:xfrm>
          <a:prstGeom xmlns:a="http://schemas.openxmlformats.org/drawingml/2006/main" prst="roundRect">
            <a:avLst>
              <a:gd name="adj" fmla="val 171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B"/>
                </a:solidFill>
              </a:defRPr>
            </a:pPr>
            <a:r>
              <a:rPr sz="1725" b="1">
                <a:solidFill>
                  <a:srgbClr val="F4F8FB"/>
                </a:solidFill>
              </a:rPr>
              <a:t>Monitoramento</a:t>
            </a:r>
          </a:p>
          <a:p xmlns:a="http://schemas.openxmlformats.org/drawingml/2006/main">
            <a:pPr>
              <a:defRPr sz="1725" b="1">
                <a:solidFill>
                  <a:srgbClr val="F4F8FB"/>
                </a:solidFill>
              </a:defRPr>
            </a:pPr>
            <a:r>
              <a:rPr sz="1725" b="1">
                <a:solidFill>
                  <a:srgbClr val="F4F8FB"/>
                </a:solidFill>
              </a:rPr>
              <a:t>de infraestrutura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85B5C4-8EA9-4107-AD8F-D8C3021B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81350"/>
            <a:ext cx="26098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85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BA9107-30E8-4B99-A20B-92BA2DB1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76625"/>
            <a:ext cx="762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6B95B"/>
                </a:solidFill>
              </a:defRPr>
            </a:pPr>
            <a:r>
              <a:rPr sz="2550" b="1">
                <a:solidFill>
                  <a:srgbClr val="F6B95B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69E3D-9DD8-4189-A848-B2BBE406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71925"/>
            <a:ext cx="2476500" cy="666750"/>
          </a:xfrm>
          <a:prstGeom xmlns:a="http://schemas.openxmlformats.org/drawingml/2006/main" prst="roundRect">
            <a:avLst>
              <a:gd name="adj" fmla="val 171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B"/>
                </a:solidFill>
              </a:defRPr>
            </a:pPr>
            <a:r>
              <a:rPr sz="1725" b="1">
                <a:solidFill>
                  <a:srgbClr val="F4F8FB"/>
                </a:solidFill>
              </a:rPr>
              <a:t>Links de unidades</a:t>
            </a:r>
          </a:p>
          <a:p xmlns:a="http://schemas.openxmlformats.org/drawingml/2006/main">
            <a:pPr>
              <a:defRPr sz="1725" b="1">
                <a:solidFill>
                  <a:srgbClr val="F4F8FB"/>
                </a:solidFill>
              </a:defRPr>
            </a:pPr>
            <a:r>
              <a:rPr sz="1725" b="1">
                <a:solidFill>
                  <a:srgbClr val="F4F8FB"/>
                </a:solidFill>
              </a:rPr>
              <a:t>móveis + suporte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1EB1A6-32CD-447F-A556-306CA68A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3810000" cy="238125"/>
          </a:xfrm>
          <a:prstGeom xmlns:a="http://schemas.openxmlformats.org/drawingml/2006/main" prst="roundRect">
            <a:avLst>
              <a:gd name="adj" fmla="val 4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8BAC7"/>
                </a:solidFill>
              </a:defRPr>
            </a:pPr>
            <a:r>
              <a:rPr sz="1125" b="0">
                <a:solidFill>
                  <a:srgbClr val="A8BAC7"/>
                </a:solidFill>
              </a:rPr>
              <a:t>Apresentação executiva  |  2026</a:t>
            </a:r>
          </a:p>
        </p:txBody>
      </p:sp>
    </p:spTree>
    <p:extLst>
      <p:ext uri="{BB962C8B-B14F-4D97-AF65-F5344CB8AC3E}">
        <p14:creationId xmlns:p14="http://schemas.microsoft.com/office/powerpoint/2010/main" val="7253915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5E45E1-7E68-4124-81F4-302B183F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A OPORTUNIDADE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C1D16-CC7F-492B-8D01-CDC0E8EE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O Zabbix coleta muito. A operação precisa entender rápido.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5F947-4147-4D6F-9D40-85E3A009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O HealthLink Sentinel organiza o dado técnico no contexto da unidade, do link e da missão.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D6759-6B7C-49F3-85FF-83F6EC84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F5715-8AB7-4EBF-AA9B-78306DF9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BA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E01AC-7CD6-48C6-882B-989D7BF8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67000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O que existe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8C8FC-7CF3-4433-97BD-592401AA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2686050" cy="1219200"/>
          </a:xfrm>
          <a:prstGeom xmlns:a="http://schemas.openxmlformats.org/drawingml/2006/main" prst="roundRect">
            <a:avLst>
              <a:gd name="adj" fmla="val 937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Métricas, hosts, itens, triggers e eventos distribuídos em uma camada técnica.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6A5970-D67E-47BF-8E5E-63EF5EA1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7650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658CF-0926-43DC-99DC-686B5DBD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724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00BF56-EC70-4569-8AD0-31797A36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67000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O que falta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C3189F-BBBE-489F-ABE9-78B31F3B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105150"/>
            <a:ext cx="2686050" cy="1219200"/>
          </a:xfrm>
          <a:prstGeom xmlns:a="http://schemas.openxmlformats.org/drawingml/2006/main" prst="roundRect">
            <a:avLst>
              <a:gd name="adj" fmla="val 937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Contexto operacional: qual unidade está comprometida, por quê e qual ação vem agora.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B6B014-84B7-4950-A3ED-C5D83120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943042-D6A7-4C99-B36C-456851BB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24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93FB9B-A4DD-422E-A129-00A5E395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67000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O que muda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E3C064-F074-427C-9433-909685FC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05150"/>
            <a:ext cx="2686050" cy="1219200"/>
          </a:xfrm>
          <a:prstGeom xmlns:a="http://schemas.openxmlformats.org/drawingml/2006/main" prst="roundRect">
            <a:avLst>
              <a:gd name="adj" fmla="val 937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Uma visão executiva e operacional, com estado consolidado, mapa, alerta e histórico.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2E312A-759E-4FE1-BF69-2DEFA70D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477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B"/>
                </a:solidFill>
              </a:defRPr>
            </a:pPr>
            <a:r>
              <a:rPr sz="1350" b="1">
                <a:solidFill>
                  <a:srgbClr val="F4F8FB"/>
                </a:solidFill>
              </a:rPr>
              <a:t>Zabbix permanece como motor de coleta. A inteligência operacional pertence ao HealthLink.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e897398904b74"/>
          <a:srcRect xmlns:a="http://schemas.openxmlformats.org/drawingml/2006/main" l="0" t="25324" r="0" b="253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714875"/>
            <a:ext cx="514350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a9f85bfd54804"/>
          <a:srcRect xmlns:a="http://schemas.openxmlformats.org/drawingml/2006/main" l="0" t="25309" r="0" b="253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4714875"/>
            <a:ext cx="514350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7487C5-BDCC-4841-A8CB-E35E4779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C0B7EF-15AE-4915-BFB4-BA1CC139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045497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0A4BB6-C8A9-4CBB-83F6-EF562480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POSICIONAMENTO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2BEF0-C35C-4460-8D44-C1FF26FD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HealthLink Sentinel é a camada de operação acima do Zabbix.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E5064-FAA3-4D9A-BB5C-56F00A4A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Preserva o investimento existente e acrescenta contexto, governança e fluidez para quem decide.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115FC-B655-49F0-AC18-29DEBDC5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20002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39C6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B77BD-1808-441C-9269-CD9FF504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0"/>
            <a:ext cx="20002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59D49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8A868D-107D-4456-B374-9DFE5DCC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1717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DDFE0A-CF2D-4DBB-8121-B4DB1A20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1428750" cy="238125"/>
          </a:xfrm>
          <a:prstGeom xmlns:a="http://schemas.openxmlformats.org/drawingml/2006/main" prst="roundRect">
            <a:avLst>
              <a:gd name="adj" fmla="val 4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8BAC7"/>
                </a:solidFill>
              </a:defRPr>
            </a:pPr>
            <a:r>
              <a:rPr sz="1125" b="1">
                <a:solidFill>
                  <a:srgbClr val="A8BAC7"/>
                </a:solidFill>
              </a:rPr>
              <a:t>FONTES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9ED891-52B4-4A31-8FBB-114EC3E7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1714500" cy="85725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8FB"/>
                </a:solidFill>
              </a:defRPr>
            </a:pPr>
            <a:r>
              <a:rPr sz="1800" b="1">
                <a:solidFill>
                  <a:srgbClr val="F4F8FB"/>
                </a:solidFill>
              </a:rPr>
              <a:t>Zabbix</a:t>
            </a:r>
          </a:p>
          <a:p xmlns:a="http://schemas.openxmlformats.org/drawingml/2006/main">
            <a:pPr>
              <a:defRPr sz="1800" b="1">
                <a:solidFill>
                  <a:srgbClr val="F4F8FB"/>
                </a:solidFill>
              </a:defRPr>
            </a:pPr>
            <a:r>
              <a:rPr sz="1800" b="1">
                <a:solidFill>
                  <a:srgbClr val="F4F8FB"/>
                </a:solidFill>
              </a:rPr>
              <a:t>Starlink</a:t>
            </a:r>
          </a:p>
          <a:p xmlns:a="http://schemas.openxmlformats.org/drawingml/2006/main">
            <a:pPr>
              <a:defRPr sz="1800" b="1">
                <a:solidFill>
                  <a:srgbClr val="F4F8FB"/>
                </a:solidFill>
              </a:defRPr>
            </a:pPr>
            <a:r>
              <a:rPr sz="1800" b="1">
                <a:solidFill>
                  <a:srgbClr val="F4F8FB"/>
                </a:solidFill>
              </a:rPr>
              <a:t>MikroTik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882301-2D3D-456A-94E7-F687BD2D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33625"/>
            <a:ext cx="2476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02FED0-0FE3-4F5E-860E-7BB4C788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38450"/>
            <a:ext cx="1809750" cy="666750"/>
          </a:xfrm>
          <a:prstGeom xmlns:a="http://schemas.openxmlformats.org/drawingml/2006/main" prst="roundRect">
            <a:avLst>
              <a:gd name="adj" fmla="val 171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7131F"/>
                </a:solidFill>
              </a:defRPr>
            </a:pPr>
            <a:r>
              <a:rPr sz="2025" b="1">
                <a:solidFill>
                  <a:srgbClr val="07131F"/>
                </a:solidFill>
              </a:rPr>
              <a:t>HEALTHLINK</a:t>
            </a:r>
          </a:p>
          <a:p xmlns:a="http://schemas.openxmlformats.org/drawingml/2006/main">
            <a:pPr>
              <a:defRPr sz="2025" b="1">
                <a:solidFill>
                  <a:srgbClr val="07131F"/>
                </a:solidFill>
              </a:defRPr>
            </a:pPr>
            <a:r>
              <a:rPr sz="2025" b="1">
                <a:solidFill>
                  <a:srgbClr val="07131F"/>
                </a:solidFill>
              </a:rPr>
              <a:t>SENTINEL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D9C682-0968-4C8F-9CFA-B6F26772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67125"/>
            <a:ext cx="1809750" cy="4572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7131F"/>
                </a:solidFill>
              </a:defRPr>
            </a:pPr>
            <a:r>
              <a:rPr sz="1200" b="1">
                <a:solidFill>
                  <a:srgbClr val="07131F"/>
                </a:solidFill>
              </a:rPr>
              <a:t>normaliza • correlaciona</a:t>
            </a:r>
          </a:p>
          <a:p xmlns:a="http://schemas.openxmlformats.org/drawingml/2006/main">
            <a:pPr>
              <a:defRPr sz="1200" b="1">
                <a:solidFill>
                  <a:srgbClr val="07131F"/>
                </a:solidFill>
              </a:defRPr>
            </a:pPr>
            <a:r>
              <a:rPr sz="1200" b="1">
                <a:solidFill>
                  <a:srgbClr val="07131F"/>
                </a:solidFill>
              </a:rPr>
              <a:t>projeta • audita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B48492-17C0-4E63-9399-7778CF70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71750"/>
            <a:ext cx="21717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B95712-0196-43DA-8AA1-2810566B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76550"/>
            <a:ext cx="1524000" cy="238125"/>
          </a:xfrm>
          <a:prstGeom xmlns:a="http://schemas.openxmlformats.org/drawingml/2006/main" prst="roundRect">
            <a:avLst>
              <a:gd name="adj" fmla="val 4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8BAC7"/>
                </a:solidFill>
              </a:defRPr>
            </a:pPr>
            <a:r>
              <a:rPr sz="1125" b="1">
                <a:solidFill>
                  <a:srgbClr val="A8BAC7"/>
                </a:solidFill>
              </a:rPr>
              <a:t>RESULTADO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51BCCE-8B67-4A3C-9FF1-EF6BFE47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38500"/>
            <a:ext cx="1714500" cy="85725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8FB"/>
                </a:solidFill>
              </a:defRPr>
            </a:pPr>
            <a:r>
              <a:rPr sz="1800" b="1">
                <a:solidFill>
                  <a:srgbClr val="F4F8FB"/>
                </a:solidFill>
              </a:rPr>
              <a:t>NOC</a:t>
            </a:r>
          </a:p>
          <a:p xmlns:a="http://schemas.openxmlformats.org/drawingml/2006/main">
            <a:pPr>
              <a:defRPr sz="1800" b="1">
                <a:solidFill>
                  <a:srgbClr val="F4F8FB"/>
                </a:solidFill>
              </a:defRPr>
            </a:pPr>
            <a:r>
              <a:rPr sz="1800" b="1">
                <a:solidFill>
                  <a:srgbClr val="F4F8FB"/>
                </a:solidFill>
              </a:rPr>
              <a:t>Gestão</a:t>
            </a:r>
          </a:p>
          <a:p xmlns:a="http://schemas.openxmlformats.org/drawingml/2006/main">
            <a:pPr>
              <a:defRPr sz="1800" b="1">
                <a:solidFill>
                  <a:srgbClr val="F4F8FB"/>
                </a:solidFill>
              </a:defRPr>
            </a:pPr>
            <a:r>
              <a:rPr sz="1800" b="1">
                <a:solidFill>
                  <a:srgbClr val="F4F8FB"/>
                </a:solidFill>
              </a:rPr>
              <a:t>Suporte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090C19-E87D-41D2-B3C9-3E39EEC4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66800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B"/>
                </a:solidFill>
              </a:defRPr>
            </a:pPr>
            <a:r>
              <a:rPr sz="1725" b="1">
                <a:solidFill>
                  <a:srgbClr val="F4F8FB"/>
                </a:solidFill>
              </a:rPr>
              <a:t>A integração é evolutiva: o motor existente continua; a experiência e a governança avançam.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DB878F-2B20-4A91-9952-D9CB38FC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47F0A0-D597-4000-AACB-B5952991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937586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00D25B-D11C-49BD-813F-C1F9DB00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MÓDULO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47561-03D9-4C83-A705-E9815D43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Monitoramento de infraestrutura com contexto operacional.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A6445-64CB-4609-86CC-13FDAF4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Uma visão consolidada para servidores, rede, VPN, equipamentos e disponibilidade das unidades.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DB5AF6-722A-42B6-851C-027244DC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DB02E-3176-43FA-9631-BB0098B2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FCB1C-56CA-476A-97AD-40329A41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71750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Mapa operacional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66287-D9D1-40BA-A19A-20388853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2876550" cy="1314450"/>
          </a:xfrm>
          <a:prstGeom xmlns:a="http://schemas.openxmlformats.org/drawingml/2006/main" prst="roundRect">
            <a:avLst>
              <a:gd name="adj" fmla="val 869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Brasil por estado, unidades e pior estado herdado entre equipamentos ativos.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FDA034-E783-49E5-ACB5-C242EC01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33F1A7-A3D6-4611-9E3B-A836F51E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28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99CC94-F7F9-4AD0-B597-E21CB482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571750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Central de alertas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99B2B5-5CAE-4FDF-9992-873C385F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09900"/>
            <a:ext cx="2876550" cy="1314450"/>
          </a:xfrm>
          <a:prstGeom xmlns:a="http://schemas.openxmlformats.org/drawingml/2006/main" prst="roundRect">
            <a:avLst>
              <a:gd name="adj" fmla="val 869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Incidentes ativos, reconhecimento, severidade, histórico e ciclo de vida.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E75F86-06BF-416C-9F49-B0FE16D9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B743AD-D24B-4E39-9AB4-0D9367B9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28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F71EB3-7B80-4E9C-BCD9-746D40CC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71750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Integração governada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6D2AB8-3306-4841-8DB1-A26F6612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9900"/>
            <a:ext cx="2876550" cy="1314450"/>
          </a:xfrm>
          <a:prstGeom xmlns:a="http://schemas.openxmlformats.org/drawingml/2006/main" prst="roundRect">
            <a:avLst>
              <a:gd name="adj" fmla="val 869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Hosts autorizados, sugestões de vínculo, sincronização, saúde e auditoria.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DA8386-5B7C-42C8-8B62-EB243192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668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B"/>
                </a:solidFill>
              </a:defRPr>
            </a:pPr>
            <a:r>
              <a:rPr sz="1350" b="1">
                <a:solidFill>
                  <a:srgbClr val="F4F8FB"/>
                </a:solidFill>
              </a:rPr>
              <a:t>O operador deixa de procurar “qual host falhou?” e passa a responder “qual unidade está em risco?”.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fbf1f167d40f1"/>
          <a:srcRect xmlns:a="http://schemas.openxmlformats.org/drawingml/2006/main" l="0" t="25324" r="0" b="253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714875"/>
            <a:ext cx="514350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43ed73031e415f"/>
          <a:srcRect xmlns:a="http://schemas.openxmlformats.org/drawingml/2006/main" l="0" t="25309" r="0" b="253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4714875"/>
            <a:ext cx="514350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F93050-22A7-4455-A51D-0DB40010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FDF3F0-1111-472A-A183-5EA0A4A4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563255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3E1DF8-35CA-4474-8B33-A590E12F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MÓDULO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7BACA1-60D2-413F-996D-19E9BEA8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Diferenciais sobre o Zabbix para a operação.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2DB82-DFE9-433B-B57A-73A1EE67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O valor está na tradução do evento técnico para uma decisão rastreável.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C80B9-4856-4E16-BCE6-0C43D124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09800"/>
            <a:ext cx="2095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8BAC7"/>
                </a:solidFill>
              </a:defRPr>
            </a:pPr>
            <a:r>
              <a:rPr sz="1125" b="1">
                <a:solidFill>
                  <a:srgbClr val="A8BAC7"/>
                </a:solidFill>
              </a:rPr>
              <a:t>ZABBIX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521D5-070E-4CB9-B154-13E3BBC5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09800"/>
            <a:ext cx="2857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9C6D8"/>
                </a:solidFill>
              </a:defRPr>
            </a:pPr>
            <a:r>
              <a:rPr sz="1125" b="1">
                <a:solidFill>
                  <a:srgbClr val="39C6D8"/>
                </a:solidFill>
              </a:rPr>
              <a:t>HEALTHLINK SENTINEL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6E4F7-30F4-4897-88E1-CE3BAA0E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8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020B2-99C3-418A-9A32-F30D2F5A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4F8FB"/>
                </a:solidFill>
              </a:defRPr>
            </a:pPr>
            <a:r>
              <a:rPr sz="1425" b="1">
                <a:solidFill>
                  <a:srgbClr val="F4F8FB"/>
                </a:solidFill>
              </a:rPr>
              <a:t>Contexto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82DB2-DA5A-48B6-9A12-A79C3394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62250"/>
            <a:ext cx="35242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Host / trigger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5ABCC-2D95-4829-97EA-55913E0A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62250"/>
            <a:ext cx="4381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B"/>
                </a:solidFill>
              </a:defRPr>
            </a:pPr>
            <a:r>
              <a:rPr sz="1350" b="1">
                <a:solidFill>
                  <a:srgbClr val="F4F8FB"/>
                </a:solidFill>
              </a:rPr>
              <a:t>Unidade / equipamento / impacto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6B9F4-0751-4C76-93F7-AAE469D3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7C77E7-AB16-4D60-9A37-586452A9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4F8FB"/>
                </a:solidFill>
              </a:defRPr>
            </a:pPr>
            <a:r>
              <a:rPr sz="1425" b="1">
                <a:solidFill>
                  <a:srgbClr val="F4F8FB"/>
                </a:solidFill>
              </a:rPr>
              <a:t>Visão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1E4FA-6B5A-4543-A37C-7B429262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81375"/>
            <a:ext cx="35242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Telas técnicas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51AF45-A10F-4056-8929-C936EE55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81375"/>
            <a:ext cx="4381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B"/>
                </a:solidFill>
              </a:defRPr>
            </a:pPr>
            <a:r>
              <a:rPr sz="1350" b="1">
                <a:solidFill>
                  <a:srgbClr val="F4F8FB"/>
                </a:solidFill>
              </a:rPr>
              <a:t>Mapa + estado consolidado + detalhe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5A7130-6438-4A05-A5B7-D606739A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F4AF40-4DFA-40C1-BF46-6ADB4C53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4F8FB"/>
                </a:solidFill>
              </a:defRPr>
            </a:pPr>
            <a:r>
              <a:rPr sz="1425" b="1">
                <a:solidFill>
                  <a:srgbClr val="F4F8FB"/>
                </a:solidFill>
              </a:rPr>
              <a:t>Ação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17B79C-D0AE-42CC-85C6-5CE4A84E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35242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Reconhecer problema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DA95FB-664D-4865-BC89-A9072056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00500"/>
            <a:ext cx="4381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B"/>
                </a:solidFill>
              </a:defRPr>
            </a:pPr>
            <a:r>
              <a:rPr sz="1350" b="1">
                <a:solidFill>
                  <a:srgbClr val="F4F8FB"/>
                </a:solidFill>
              </a:rPr>
              <a:t>Diagnosticar, registrar e acompanhar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B7117-3428-4AD4-81B2-0A6AD47B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9ADE44-93A8-496C-8FCC-BACA5160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4F8FB"/>
                </a:solidFill>
              </a:defRPr>
            </a:pPr>
            <a:r>
              <a:rPr sz="1425" b="1">
                <a:solidFill>
                  <a:srgbClr val="F4F8FB"/>
                </a:solidFill>
              </a:rPr>
              <a:t>Governança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7526AF-90BB-4492-A982-8FBFE5DE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19625"/>
            <a:ext cx="35242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Configuração distribuída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F4871F-3BD4-4351-B4DF-64AB6D49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19625"/>
            <a:ext cx="4381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B"/>
                </a:solidFill>
              </a:defRPr>
            </a:pPr>
            <a:r>
              <a:rPr sz="1350" b="1">
                <a:solidFill>
                  <a:srgbClr val="F4F8FB"/>
                </a:solidFill>
              </a:rPr>
              <a:t>RBAC, multi-tenant, auditoria e histórico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C7FE88-3DD3-4524-8AC5-FDB539B6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3B8396-89B3-43D7-9A83-6E706E5F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4F8FB"/>
                </a:solidFill>
              </a:defRPr>
            </a:pPr>
            <a:r>
              <a:rPr sz="1425" b="1">
                <a:solidFill>
                  <a:srgbClr val="F4F8FB"/>
                </a:solidFill>
              </a:rPr>
              <a:t>Confiabilidade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B8A077-7DA0-4FF5-A88E-CBA62D2D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38750"/>
            <a:ext cx="35242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Último valor disponível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E22EC9-BEE9-4C90-88F7-547857DB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38750"/>
            <a:ext cx="4381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B"/>
                </a:solidFill>
              </a:defRPr>
            </a:pPr>
            <a:r>
              <a:rPr sz="1350" b="1">
                <a:solidFill>
                  <a:srgbClr val="F4F8FB"/>
                </a:solidFill>
              </a:rPr>
              <a:t>Telemetria stale vira unknown; histórico preservado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5C550C-1777-43E1-B049-BAA38FC9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3F7231-25EE-466C-908F-19DC4B4A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9D3142-BBDE-452B-BA92-275BBFD0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435658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85558F-B563-47C9-A2F5-10B0D99B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MÓDULO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3ADDE-51AF-4E45-91FA-34BF5673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Gestão de links das unidades móveis + suporte.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26ED7-5054-441F-AA48-CB04317E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Uma visão específica para conectividade em campo: link, antena, caminho, agente e atendimento.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36EDE-B900-4D61-95D6-DC129BDC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5717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010A7-77D0-401E-A666-A35DC541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81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C0086-615E-4774-B637-36F2F3E5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24125"/>
            <a:ext cx="190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Link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9127F-5A2C-4E13-98E8-B4F11850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62275"/>
            <a:ext cx="2114550" cy="1457325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Plano contratado x tráfego atual; latência, perda e disponibilidade.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E844A-494B-490A-B17C-4D09D0BC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333625"/>
            <a:ext cx="25717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8B9F9E-7362-44C5-B2AF-3C8461E1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581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9939C6-25AB-46A8-B573-EF23D941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524125"/>
            <a:ext cx="190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Unidade móvel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D3D1AE-5F8C-4EFB-8D99-59F11C54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962275"/>
            <a:ext cx="2114550" cy="1457325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Starlink como fonte primária; MikroTik como caminho e interfaces.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F691BB-AC3C-4CFC-B2F4-F64CFDED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33625"/>
            <a:ext cx="25717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86844B-B733-45C3-9081-A57D75DE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81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DB3EF8-C0C6-4074-A590-2C5374AC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24125"/>
            <a:ext cx="190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Suporte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6E4C46-4F93-4184-A801-FAFD472D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62275"/>
            <a:ext cx="2114550" cy="1457325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Diagnóstico de ping/tracert, origem da métrica e evidência para o chamado.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0B3786-3B7D-49CA-85EA-A7FB37B7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33625"/>
            <a:ext cx="2219325" cy="2238375"/>
          </a:xfrm>
          <a:prstGeom xmlns:a="http://schemas.openxmlformats.org/drawingml/2006/main" prst="roundRect">
            <a:avLst>
              <a:gd name="adj" fmla="val 5150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77055E-04D7-44A2-B2F5-ECD132E3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581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910BF8-182F-442A-9E71-EB9F49D5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524125"/>
            <a:ext cx="1552575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Continuidade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D43DE7-E97D-4942-A950-17D65195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962275"/>
            <a:ext cx="1762125" cy="1457325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Fila local, retry, envio idempotente e telemetria stale explícita.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377A9C-B1D4-4BDB-9714-AE57E983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477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B"/>
                </a:solidFill>
              </a:defRPr>
            </a:pPr>
            <a:r>
              <a:rPr sz="1350" b="1">
                <a:solidFill>
                  <a:srgbClr val="F4F8FB"/>
                </a:solidFill>
              </a:rPr>
              <a:t>A conectividade deixa de ser apenas “online/offline” e passa a ser gerenciável.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f783bfd20c4365"/>
          <a:srcRect xmlns:a="http://schemas.openxmlformats.org/drawingml/2006/main" l="0" t="43920" r="0" b="439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714875"/>
            <a:ext cx="1082040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0EB657-1FE7-4245-9440-457955C1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945150-BE94-44DF-B019-F2A7DDA5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599063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A089A4-8D57-4A7E-AC96-F26BF634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MÓDULO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214AF-CB10-4F01-B2A0-44A7221B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Arquitetura híbrida para operar onde o servidor central não alcança.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73EAC-8A26-4481-B924-A75A4F6D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O servidor local da unidade coleta, normaliza e entrega telemetria com segurança.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061B7-3115-4AF2-AD90-A2EE8D7E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29000"/>
            <a:ext cx="1619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9C6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516E35-D1C5-4CC8-8CE8-E9CEF0D0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1619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9D49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683BA-51C3-4F51-8176-A5EB3F32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0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6B9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27D57-DA30-4D22-AC70-88CD3842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809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39C6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19FFB-BF3D-47AD-9D18-6C59E108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1381125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HEALTHLINK</a:t>
            </a:r>
          </a:p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API + jobs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B8B61F-E68E-44E7-B0C2-F0CD23BA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62250"/>
            <a:ext cx="1809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59D4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8F7CFB-8B9C-4ABA-8EF7-0241FD78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05150"/>
            <a:ext cx="1381125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SERVIDOR LOCAL</a:t>
            </a:r>
          </a:p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agente + fila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F981CD-A16A-4870-827A-62AC0623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1809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F6B9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B6FDFF-02E4-4AF6-BB52-178E4512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05150"/>
            <a:ext cx="1381125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STARLINK</a:t>
            </a:r>
          </a:p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gRPC local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D959BB-A608-4B02-BC6B-FD920DF7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0"/>
            <a:ext cx="1809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39C6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A2B44F-DA4D-4D44-AFAE-A30E3836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105150"/>
            <a:ext cx="1381125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MIKROTIK</a:t>
            </a:r>
          </a:p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SNMP/API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766569-65FF-4C96-B73F-339E1146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905250"/>
            <a:ext cx="1714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8BAC7"/>
                </a:solidFill>
              </a:defRPr>
            </a:pPr>
            <a:r>
              <a:rPr sz="1050" b="0">
                <a:solidFill>
                  <a:srgbClr val="A8BAC7"/>
                </a:solidFill>
              </a:rPr>
              <a:t>HTTPS/VPN autenticada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0AF10C-5247-4BDC-85BE-2198D604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12382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8BAC7"/>
                </a:solidFill>
              </a:defRPr>
            </a:pPr>
            <a:r>
              <a:rPr sz="1050" b="0">
                <a:solidFill>
                  <a:srgbClr val="A8BAC7"/>
                </a:solidFill>
              </a:rPr>
              <a:t>LAN da unidade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75FE2F-7A99-4CB8-B349-2C04BB37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05250"/>
            <a:ext cx="952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8BAC7"/>
                </a:solidFill>
              </a:defRPr>
            </a:pPr>
            <a:r>
              <a:rPr sz="1050" b="0">
                <a:solidFill>
                  <a:srgbClr val="A8BAC7"/>
                </a:solidFill>
              </a:rPr>
              <a:t>opcional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69C1BA-EF35-4B20-8E52-031E546F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6680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B"/>
                </a:solidFill>
              </a:defRPr>
            </a:pPr>
            <a:r>
              <a:rPr sz="1725" b="1">
                <a:solidFill>
                  <a:srgbClr val="F4F8FB"/>
                </a:solidFill>
              </a:rPr>
              <a:t>O frontend consulta apenas projeções da API — nunca acessa diretamente a rede da unidade.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C2D997-60EE-4FFA-BDC4-8FD02B1D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A0D234-5FDC-42D8-B8D4-0FBFE0CA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498045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6E181B-F8DE-4363-9D1B-EA881A91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CONFIABILIDADE E SEGURANÇA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1F761-8E1B-4EFD-9649-04E8C4F3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O sistema evita decisões baseadas em telemetria velha ou contexto incompleto.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52892-FB5B-4AE0-A84F-A8098391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As regras de confiança são parte do produto, não apenas da infraestrutura.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FC0A5-3B7B-4F34-BD78-EA05EF62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48518-A927-4061-9631-7BCA5A7C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921F4C-D305-4D67-8FE2-8942BC78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71750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Telemetria stale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6E839-4756-41C5-A76F-C6F4D647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2876550" cy="1314450"/>
          </a:xfrm>
          <a:prstGeom xmlns:a="http://schemas.openxmlformats.org/drawingml/2006/main" prst="roundRect">
            <a:avLst>
              <a:gd name="adj" fmla="val 869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Após 30s sem amostra: estado unknown, indicadores atuais zerados e histórico preservado.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A5C32-722D-4291-814F-4E3C5CD4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F5B8BC-58D9-4F22-87EC-3F779D62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28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85C792-31EA-4B95-BD80-7E476389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571750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Fonte explícita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B263E4-36A1-4C1B-A908-C5FAB8CB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09900"/>
            <a:ext cx="2876550" cy="1314450"/>
          </a:xfrm>
          <a:prstGeom xmlns:a="http://schemas.openxmlformats.org/drawingml/2006/main" prst="roundRect">
            <a:avLst>
              <a:gd name="adj" fmla="val 869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Cada métrica preserva origem, timestamp e qualidade; campo ausente aparece como N/D.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ABD6CA-6FDD-4C4E-8349-25CB80B4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BD66A5-9D42-4103-8246-AE11529E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28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A8D9AB-1113-4853-AB3D-5378DE9C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71750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Acesso controlado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53E62A-246D-4529-A188-A26144E7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9900"/>
            <a:ext cx="2876550" cy="1314450"/>
          </a:xfrm>
          <a:prstGeom xmlns:a="http://schemas.openxmlformats.org/drawingml/2006/main" prst="roundRect">
            <a:avLst>
              <a:gd name="adj" fmla="val 869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Multi-tenant desde o MVP, RLS, RBAC, agente com identidade própria e auditoria.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7F840B-29A7-40A5-8B53-EA06F621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477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B"/>
                </a:solidFill>
              </a:defRPr>
            </a:pPr>
            <a:r>
              <a:rPr sz="1725" b="1">
                <a:solidFill>
                  <a:srgbClr val="F4F8FB"/>
                </a:solidFill>
              </a:rPr>
              <a:t>Resultado: menos “verde falso”, menos ambiguidade e mais confiança na ação.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77E31-FF99-4705-A982-502A622B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D476ED-9336-4239-9D23-A27EC5EA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6178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51FFD4-76F2-4537-90BB-E0B58A18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VALOR PARA A EQUIPE DE DESENVOLVIMENTO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0A21F-B7EA-4C26-9FA8-79AC07AD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Uma plataforma que organiza evolução, integração e operação em torno do domínio.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7860E-502B-4A9C-9B19-871AA1F2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A arquitetura permite ampliar fontes e módulos sem reescrever a experiência operacional.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4D318-4DD3-4A45-8F6D-A4053DDB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95F654-B528-4B35-BA1E-3E33EF95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90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Reuso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4FFC1-DAB0-45BD-B5B1-7771AD31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4572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AC7"/>
                </a:solidFill>
              </a:defRPr>
            </a:pPr>
            <a:r>
              <a:rPr sz="1275" b="0">
                <a:solidFill>
                  <a:srgbClr val="A8BAC7"/>
                </a:solidFill>
              </a:rPr>
              <a:t>Zabbix continua sendo aproveitado como coletor e fonte de problemas.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0D2CE-25C4-452D-A28D-C774327F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00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2D065-E395-4D8E-A3BD-C14814A8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190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Evolução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C7C62B-04C1-4264-8447-543200BD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14625"/>
            <a:ext cx="4572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AC7"/>
                </a:solidFill>
              </a:defRPr>
            </a:pPr>
            <a:r>
              <a:rPr sz="1275" b="0">
                <a:solidFill>
                  <a:srgbClr val="A8BAC7"/>
                </a:solidFill>
              </a:rPr>
              <a:t>Starlink, MikroTik e novos adaptadores entram por contratos normalizados.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D5C9C8-252A-4075-8F64-877690FF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908BFC-8D6D-4BAA-8B0F-B2C8EF9F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190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Operabilidade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531C12-6497-4755-A28B-24CAACC8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43375"/>
            <a:ext cx="4572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AC7"/>
                </a:solidFill>
              </a:defRPr>
            </a:pPr>
            <a:r>
              <a:rPr sz="1275" b="0">
                <a:solidFill>
                  <a:srgbClr val="A8BAC7"/>
                </a:solidFill>
              </a:rPr>
              <a:t>Diagnóstico, saúde do agente, fila e sincronização são visíveis.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479330-3304-473E-95A3-8A6B0E6A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29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70F854-1BE2-4BC9-A8EF-4654B817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62375"/>
            <a:ext cx="190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Produto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DD56C5-506C-4A67-9376-D21AD9E4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43375"/>
            <a:ext cx="4572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AC7"/>
                </a:solidFill>
              </a:defRPr>
            </a:pPr>
            <a:r>
              <a:rPr sz="1275" b="0">
                <a:solidFill>
                  <a:srgbClr val="A8BAC7"/>
                </a:solidFill>
              </a:rPr>
              <a:t>O dado técnico ganha unidade, impacto, histórico e responsabilidade.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4A2BB9-55B2-49DC-94E1-DC4F27FF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477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B"/>
                </a:solidFill>
              </a:defRPr>
            </a:pPr>
            <a:r>
              <a:rPr sz="1725" b="1">
                <a:solidFill>
                  <a:srgbClr val="F4F8FB"/>
                </a:solidFill>
              </a:rPr>
              <a:t>É uma camada de produto: menor dependência de leitura manual e maior capacidade de escalar a operação.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3A3CE0-A7EC-4662-97F5-D66E0878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737B1F-1A7C-4CB4-94D5-452FEA50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948222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95C721-80FD-4B37-B3EC-1C5DAE6F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PROPOSTA DE ENCAMINHAMENTO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AAB17-1D99-4054-8573-BFCA66F9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Validar o HealthLink Sentinel como plataforma operacional em dois módulos.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96069-64D1-4BF1-A776-918A32C5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A decisão recomendada é evoluir sobre o Zabbix, com foco em contexto, links móveis e suporte.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37C691-D69F-433C-930E-5AF3DD80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F5E99-A3B9-407F-9222-AE0DC17C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81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F02FC-6117-449A-9192-A3F5F0D3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24125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1. Demonstrar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C8A3C-2BB7-4DAB-9E26-55687C46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62275"/>
            <a:ext cx="2686050" cy="1219200"/>
          </a:xfrm>
          <a:prstGeom xmlns:a="http://schemas.openxmlformats.org/drawingml/2006/main" prst="roundRect">
            <a:avLst>
              <a:gd name="adj" fmla="val 937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Fluxo completo: mapa → alerta → unidade → diagnóstico → histórico.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D9FC17-6865-4D9E-AD69-5B5753EE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33625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B02FC0-40CE-430A-A045-8FBF6231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581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E5F5A-BFFA-4826-9858-E198F3D5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24125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2. Priorizar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909312-AE25-4EF5-AC47-09350089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962275"/>
            <a:ext cx="2686050" cy="1219200"/>
          </a:xfrm>
          <a:prstGeom xmlns:a="http://schemas.openxmlformats.org/drawingml/2006/main" prst="roundRect">
            <a:avLst>
              <a:gd name="adj" fmla="val 937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Fechar Fase 4 do centro operacional e consolidar gestão de usuários, auditoria e relatórios.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D9550E-8AE1-4444-890E-50C10CFD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33625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506E9E-B372-43DB-B98E-F1C4FF48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81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464955-4F68-4DE1-9AEF-523CFE4A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24125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3. Pilotar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52390A-3AF7-4AF2-AA82-F4F00E55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62275"/>
            <a:ext cx="2686050" cy="1219200"/>
          </a:xfrm>
          <a:prstGeom xmlns:a="http://schemas.openxmlformats.org/drawingml/2006/main" prst="roundRect">
            <a:avLst>
              <a:gd name="adj" fmla="val 937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Selecionar unidades móveis e medir tempo de descoberta, diagnóstico e resolução.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0A388-5451-419B-BF0B-6A8F97F8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476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C6D8"/>
                </a:solidFill>
              </a:defRPr>
            </a:pPr>
            <a:r>
              <a:rPr sz="1275" b="1">
                <a:solidFill>
                  <a:srgbClr val="39C6D8"/>
                </a:solidFill>
              </a:rPr>
              <a:t>Mensagem final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FF8049-B78F-4F68-9CA4-80A963F9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7620000" cy="647700"/>
          </a:xfrm>
          <a:prstGeom xmlns:a="http://schemas.openxmlformats.org/drawingml/2006/main" prst="roundRect">
            <a:avLst>
              <a:gd name="adj" fmla="val 1764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8FB"/>
                </a:solidFill>
              </a:defRPr>
            </a:pPr>
            <a:r>
              <a:rPr sz="2250" b="1">
                <a:solidFill>
                  <a:srgbClr val="F4F8FB"/>
                </a:solidFill>
              </a:rPr>
              <a:t>Zabbix coleta.</a:t>
            </a:r>
          </a:p>
          <a:p xmlns:a="http://schemas.openxmlformats.org/drawingml/2006/main">
            <a:pPr>
              <a:defRPr sz="2250" b="1">
                <a:solidFill>
                  <a:srgbClr val="F4F8FB"/>
                </a:solidFill>
              </a:defRPr>
            </a:pPr>
            <a:r>
              <a:rPr sz="2250" b="1">
                <a:solidFill>
                  <a:srgbClr val="F4F8FB"/>
                </a:solidFill>
              </a:rPr>
              <a:t>HealthLink Sentinel orienta a operação.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00B727-9BF2-4ACB-9DF1-1C06FD46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61E76B-FE95-4920-9CCE-1B7028AC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323737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29611E-B38B-4B05-99BD-2232E82E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AGENTE LOCAL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0C550-0B9A-49A6-A09C-50D3E305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O agente é a ponte segura entre a unidade móvel e o centro de comando.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FC206-BA88-428E-9EC5-D64DE9A6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Ele coleta dentro da rede local, normaliza os dados e mantém a operação resiliente mesmo com oscilações de conectividade.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3ACBB-55A7-4353-AC28-26253A1C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29000"/>
            <a:ext cx="19050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39C6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A61AE-5DCB-4518-A529-99A706B5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0"/>
            <a:ext cx="18097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59D49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959B6-4976-4FA8-B2B9-FF5733B5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8859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845E3-8C16-4FBD-873A-6C573358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1333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8BAC7"/>
                </a:solidFill>
              </a:defRPr>
            </a:pPr>
            <a:r>
              <a:rPr sz="1125" b="1">
                <a:solidFill>
                  <a:srgbClr val="A8BAC7"/>
                </a:solidFill>
              </a:rPr>
              <a:t>REDE LOCAL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158E4-3306-44F3-8BA4-CB816042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13335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Starlink</a:t>
            </a:r>
          </a:p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MikroTik</a:t>
            </a:r>
          </a:p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Servidor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89B537-21C4-4FFD-AAD3-4F32C882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28875"/>
            <a:ext cx="27622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60F66C-9F63-4F0F-808D-8D6C4187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09875"/>
            <a:ext cx="209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31F"/>
                </a:solidFill>
              </a:defRPr>
            </a:pPr>
            <a:r>
              <a:rPr sz="1350" b="1">
                <a:solidFill>
                  <a:srgbClr val="07131F"/>
                </a:solidFill>
              </a:rPr>
              <a:t>AGENTE HEALTHLINK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327E17-F9F5-46A3-AE67-16C8B3F3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38500"/>
            <a:ext cx="2095500" cy="809625"/>
          </a:xfrm>
          <a:prstGeom xmlns:a="http://schemas.openxmlformats.org/drawingml/2006/main" prst="roundRect">
            <a:avLst>
              <a:gd name="adj" fmla="val 1411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31F"/>
                </a:solidFill>
              </a:defRPr>
            </a:pPr>
            <a:r>
              <a:rPr sz="1725" b="1">
                <a:solidFill>
                  <a:srgbClr val="07131F"/>
                </a:solidFill>
              </a:rPr>
              <a:t>consulta • valida</a:t>
            </a:r>
          </a:p>
          <a:p xmlns:a="http://schemas.openxmlformats.org/drawingml/2006/main">
            <a:pPr>
              <a:defRPr sz="1725" b="1">
                <a:solidFill>
                  <a:srgbClr val="07131F"/>
                </a:solidFill>
              </a:defRPr>
            </a:pPr>
            <a:r>
              <a:rPr sz="1725" b="1">
                <a:solidFill>
                  <a:srgbClr val="07131F"/>
                </a:solidFill>
              </a:rPr>
              <a:t>normaliza • enfileira</a:t>
            </a:r>
          </a:p>
          <a:p xmlns:a="http://schemas.openxmlformats.org/drawingml/2006/main">
            <a:pPr>
              <a:defRPr sz="1725" b="1">
                <a:solidFill>
                  <a:srgbClr val="07131F"/>
                </a:solidFill>
              </a:defRPr>
            </a:pPr>
            <a:r>
              <a:rPr sz="1725" b="1">
                <a:solidFill>
                  <a:srgbClr val="07131F"/>
                </a:solidFill>
              </a:rPr>
              <a:t>envia • confirma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8B74B-908D-4F16-A0BC-BBD4BE29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0"/>
            <a:ext cx="24574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19958F-34BE-46DC-AA4E-71E5DA90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71800"/>
            <a:ext cx="190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8BAC7"/>
                </a:solidFill>
              </a:defRPr>
            </a:pPr>
            <a:r>
              <a:rPr sz="1125" b="1">
                <a:solidFill>
                  <a:srgbClr val="A8BAC7"/>
                </a:solidFill>
              </a:rPr>
              <a:t>CENTRO DE COMANDO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7363CF-60C3-49F7-9132-C5D8EA2E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14700"/>
            <a:ext cx="180975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telemetria</a:t>
            </a:r>
          </a:p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estado • alerta</a:t>
            </a:r>
          </a:p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diagnóstico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4EC503-913F-4C6B-81E8-237B4887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33337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46EFE0-0CD6-44AA-933D-03EA40E1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4DE4B1-6820-4D31-A6B5-B9836E0A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53000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Resiliência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52B515-EC37-48D4-8BCD-D7D7E833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2876550" cy="504825"/>
          </a:xfrm>
          <a:prstGeom xmlns:a="http://schemas.openxmlformats.org/drawingml/2006/main" prst="roundRect">
            <a:avLst>
              <a:gd name="adj" fmla="val 2264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Fila local e retry para não perder amostras quando a conexão oscila.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0A400F-2904-45A3-9A8B-A21B0B05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62500"/>
            <a:ext cx="33337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B5F32D-D68A-4326-AFDB-4821022B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010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01FFBA-2363-4354-AC31-156C3413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953000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Segurança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3E101D-4B09-4149-B77B-21A58F90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391150"/>
            <a:ext cx="2876550" cy="504825"/>
          </a:xfrm>
          <a:prstGeom xmlns:a="http://schemas.openxmlformats.org/drawingml/2006/main" prst="roundRect">
            <a:avLst>
              <a:gd name="adj" fmla="val 2264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Identidade própria do agente, HTTPS/VPN e permissão mínima.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A6B45A-6019-464D-A2E6-37A22289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62500"/>
            <a:ext cx="33337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ECF602-F0C4-4FE6-88DD-F3D6880D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10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2C14F4-DD65-4831-84E9-992531A5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953000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Operação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4CB4B5-AD33-4215-B316-8303F9CD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391150"/>
            <a:ext cx="2876550" cy="504825"/>
          </a:xfrm>
          <a:prstGeom xmlns:a="http://schemas.openxmlformats.org/drawingml/2006/main" prst="roundRect">
            <a:avLst>
              <a:gd name="adj" fmla="val 2264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Saúde do coletor, última coleta e erro visíveis para o suporte.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F53C61-DB06-426A-956D-FA69A9D1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F84433-A7C1-4F2D-A863-7965AE54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295441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43450E-441C-484E-928E-D4BE8D28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INTEGRAÇÃO STARLINK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5B1CE-8E9C-44DE-AE0D-011215AB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A unidade passa a ter visibilidade de conectividade, localização e condição da antena.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7BC9D-7DFC-49F0-BF59-4C4D69E6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A integração usa o agente local e a API gRPC da Starlink para trazer dados específicos que o monitoramento tradicional não explica sozinho.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126B3-B6E7-4C83-BAB8-E61D396F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33337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C86A2-CA48-4346-9359-E4936FD2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76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6EB08-E007-4DF7-848C-07B8B17E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19375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Já validado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7A780-EDFF-4824-889B-63C3EF99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57525"/>
            <a:ext cx="2876550" cy="1457325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Latência, perda, tráfego, uptime, estado da antena, localização, cobertura/serviço e obstrução quando expostos pelo equipamento.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91F001-3A43-492B-AFAA-09814536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28875"/>
            <a:ext cx="33337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10BDB-B6FF-41B5-AB37-8E6AC0D2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76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B3142D-9C63-4C63-BAF8-E5D185AE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19375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No suporte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420D88-AEBA-4795-AF1D-BFD814E2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57525"/>
            <a:ext cx="2876550" cy="1457325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Ver origem e idade da amostra, identificar agente sem comunicação, diferenciar antena, rota, MikroTik e Zabbix.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FE997B-B1E8-4611-AC6E-AF7921FD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28875"/>
            <a:ext cx="33337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4EF13-8BF2-4930-918A-0111A047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76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C41324-C90E-46CB-A340-0742F35D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19375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Próxima evolução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5C9C27-8098-4E16-8701-CE8E495B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57525"/>
            <a:ext cx="2876550" cy="1457325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Ações remotas com autorização e auditoria: reiniciar equipamento, ajustar Wi‑Fi e aplicar configurações operacionais.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7ABF62-FFB0-485B-B2E8-A9E566F7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668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A8BAC7"/>
                </a:solidFill>
              </a:defRPr>
            </a:pPr>
            <a:r>
              <a:rPr sz="1425" b="1">
                <a:solidFill>
                  <a:srgbClr val="A8BAC7"/>
                </a:solidFill>
              </a:rPr>
              <a:t>Comandos remotos devem ser habilitados por escopo, confirmação e trilha de auditoria; a disponibilidade depende dos métodos expostos pelo firmware.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785018-8D35-47AE-86CF-8C5DE8E9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9F1C1D-CA6C-4577-9D38-AA9DCCAD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926774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A067C8-981D-4202-8688-79A9B668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BENEFÍCIOS PARA A OPERAÇÃO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D5E3A-3F70-4408-B941-9274B6F2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O ganho não é apenas enxergar o link: é reduzir o tempo entre o sintoma e a ação.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46ACE-09E0-4C26-A91B-B54CE80A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A plataforma conecta monitoramento, diagnóstico e suporte em um fluxo único.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12626-D596-480F-95DB-FD8478B0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B7D61-068F-4E94-9EC4-036A83FA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571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9C6D8"/>
                </a:solidFill>
              </a:defRPr>
            </a:pPr>
            <a:r>
              <a:rPr sz="1350" b="1">
                <a:solidFill>
                  <a:srgbClr val="39C6D8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F23A1-8D5E-484D-A49E-FC2F450D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095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Detectar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13EC01-F4E0-4BE3-AF81-FAF4EF9D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0955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AC7"/>
                </a:solidFill>
              </a:defRPr>
            </a:pPr>
            <a:r>
              <a:rPr sz="1275" b="0">
                <a:solidFill>
                  <a:srgbClr val="A8BAC7"/>
                </a:solidFill>
              </a:rPr>
              <a:t>Queda, degradação, obstrução ou ausência de telemetria.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AA230-B176-4CF0-BDB6-2032B270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5750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8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D068A-0525-4F5A-B82A-40EDEBC2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781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81262F-7420-4177-AF52-9F1505B0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67000"/>
            <a:ext cx="571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9D49A"/>
                </a:solidFill>
              </a:defRPr>
            </a:pPr>
            <a:r>
              <a:rPr sz="1350" b="1">
                <a:solidFill>
                  <a:srgbClr val="59D49A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795585-D134-4C88-9A22-8C1F92F2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238500"/>
            <a:ext cx="2095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Localizar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E6F8EF-10E5-4FA5-9340-D8B1D235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638550"/>
            <a:ext cx="20955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AC7"/>
                </a:solidFill>
              </a:defRPr>
            </a:pPr>
            <a:r>
              <a:rPr sz="1275" b="0">
                <a:solidFill>
                  <a:srgbClr val="A8BAC7"/>
                </a:solidFill>
              </a:rPr>
              <a:t>Unidade, antena, rota e equipamento afetado no mapa.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6F1BDB-291A-46B3-A815-29E57792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85750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8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E74761-329E-40DC-A1EA-57E0BC15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81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77ECB3-A4F2-4139-A83D-263C2E6E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571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B95B"/>
                </a:solidFill>
              </a:defRPr>
            </a:pPr>
            <a:r>
              <a:rPr sz="1350" b="1">
                <a:solidFill>
                  <a:srgbClr val="F6B95B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101838-483E-497E-921C-6762D91F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38500"/>
            <a:ext cx="2095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Diagnosticar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8BA5FD-3D76-44F1-A078-15B7D27E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38550"/>
            <a:ext cx="20955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AC7"/>
                </a:solidFill>
              </a:defRPr>
            </a:pPr>
            <a:r>
              <a:rPr sz="1275" b="0">
                <a:solidFill>
                  <a:srgbClr val="A8BAC7"/>
                </a:solidFill>
              </a:rPr>
              <a:t>Ping, tracert, origem da métrica e histórico do link.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C49C31-20E1-46FB-A9FD-BA04BABB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5750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85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17FBFE-A9A9-4ECA-96A4-A17A8939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781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919E3F-AD46-44D0-866B-BBA3D616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67000"/>
            <a:ext cx="571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6D78"/>
                </a:solidFill>
              </a:defRPr>
            </a:pPr>
            <a:r>
              <a:rPr sz="1350" b="1">
                <a:solidFill>
                  <a:srgbClr val="F06D78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C014F6-7C49-44E7-9CE3-FD2C5701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238500"/>
            <a:ext cx="2095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Agir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441D73-8767-44DB-B8ED-32899BEF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638550"/>
            <a:ext cx="20955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AC7"/>
                </a:solidFill>
              </a:defRPr>
            </a:pPr>
            <a:r>
              <a:rPr sz="1275" b="0">
                <a:solidFill>
                  <a:srgbClr val="A8BAC7"/>
                </a:solidFill>
              </a:rPr>
              <a:t>Orientar o suporte e, na evolução remota, executar comandos autorizados.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76A774-826C-4409-99CB-384C16C1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476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9C6D8"/>
                </a:solidFill>
              </a:defRPr>
            </a:pPr>
            <a:r>
              <a:rPr sz="1350" b="1">
                <a:solidFill>
                  <a:srgbClr val="39C6D8"/>
                </a:solidFill>
              </a:rPr>
              <a:t>Benefícios esperados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E24ED0-DB30-4165-9CB4-45F50676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685800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• Menos deslocamentos e tentativas manuais</a:t>
            </a:r>
          </a:p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• Diagnóstico mais rápido e baseado em evidência</a:t>
            </a:r>
          </a:p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• Histórico completo para suporte e gestão</a:t>
            </a:r>
          </a:p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• Escala para múltiplas unidades móveis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3278EF-5671-4F4B-95FC-7A7880F4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4A164D-9CBB-46BF-A763-661E41B1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233888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808271-9385-491C-843C-B1A0CE3A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72CD0-6164-46DA-ACE8-F64AC83D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A evolução natural é transformar monitoramento em operação cada vez mais autônoma.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B1A73-58B9-4ABA-870D-D0407ADD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O roadmap organiza a expansão por valor operacional, segurança e capacidade de escala.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754DB-1D9B-4673-ABD5-AF6DC839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07A81-64A8-410E-8797-B17C6F70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43200"/>
            <a:ext cx="19050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AGORA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EAE25-9281-42EF-9B6B-8F1D8797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2190750" cy="523875"/>
          </a:xfrm>
          <a:prstGeom xmlns:a="http://schemas.openxmlformats.org/drawingml/2006/main" prst="roundRect">
            <a:avLst>
              <a:gd name="adj" fmla="val 2181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4F8FB"/>
                </a:solidFill>
              </a:defRPr>
            </a:pPr>
            <a:r>
              <a:rPr sz="1575" b="1">
                <a:solidFill>
                  <a:srgbClr val="F4F8FB"/>
                </a:solidFill>
              </a:rPr>
              <a:t>Consolidar o centro operacional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B8281-8B9F-46FC-9A5A-747AD18E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19075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Mapa e indicadores conectados aos estados reais; alertas, auditoria e relatórios.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4B3F7D-00E6-44F0-B3C5-F39F5BB7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914650"/>
            <a:ext cx="3524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8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EAC38-92DA-48EC-8470-5F7BA255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857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E5687-4895-4965-AD7C-04DA9EFB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43200"/>
            <a:ext cx="19050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6B95B"/>
                </a:solidFill>
              </a:defRPr>
            </a:pPr>
            <a:r>
              <a:rPr sz="975" b="1">
                <a:solidFill>
                  <a:srgbClr val="F6B95B"/>
                </a:solidFill>
              </a:rPr>
              <a:t>PRÓXIMA FASE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18CDB5-8ACE-4370-99CC-B6C40748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286125"/>
            <a:ext cx="2190750" cy="523875"/>
          </a:xfrm>
          <a:prstGeom xmlns:a="http://schemas.openxmlformats.org/drawingml/2006/main" prst="roundRect">
            <a:avLst>
              <a:gd name="adj" fmla="val 2181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4F8FB"/>
                </a:solidFill>
              </a:defRPr>
            </a:pPr>
            <a:r>
              <a:rPr sz="1575" b="1">
                <a:solidFill>
                  <a:srgbClr val="F4F8FB"/>
                </a:solidFill>
              </a:rPr>
              <a:t>Comandos remotos seguros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4F4C6-3D5E-4E5B-82A6-40D64CBA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000500"/>
            <a:ext cx="219075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Reinício, gestão de Wi‑Fi e configurações Starlink com autorização, confirmação e trilha.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1F6408-9751-4742-8EE6-18A7AC8E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14650"/>
            <a:ext cx="3524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8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3AF24A-FB83-465A-9DD5-1AA74825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57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B6C023-F314-43A3-AB1E-C3417682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43200"/>
            <a:ext cx="19050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9D49A"/>
                </a:solidFill>
              </a:defRPr>
            </a:pPr>
            <a:r>
              <a:rPr sz="975" b="1">
                <a:solidFill>
                  <a:srgbClr val="59D49A"/>
                </a:solidFill>
              </a:rPr>
              <a:t>ESCALA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2460B0-FFAF-400F-9845-8657C368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86125"/>
            <a:ext cx="2190750" cy="523875"/>
          </a:xfrm>
          <a:prstGeom xmlns:a="http://schemas.openxmlformats.org/drawingml/2006/main" prst="roundRect">
            <a:avLst>
              <a:gd name="adj" fmla="val 2181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4F8FB"/>
                </a:solidFill>
              </a:defRPr>
            </a:pPr>
            <a:r>
              <a:rPr sz="1575" b="1">
                <a:solidFill>
                  <a:srgbClr val="F4F8FB"/>
                </a:solidFill>
              </a:rPr>
              <a:t>Operação multiunidade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813F46-F4BB-4C57-9F35-5E3DAD13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00500"/>
            <a:ext cx="219075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Provisionamento remoto do agente, atualização de versão, políticas por grupo e saúde da frota.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D886BD-912F-445D-B55E-369C0B64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914650"/>
            <a:ext cx="3524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85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D11A34-5CE5-4FEB-94FB-C01298C5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857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E81231-5F4D-45EB-9F6B-B2626177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43200"/>
            <a:ext cx="19050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D78"/>
                </a:solidFill>
              </a:defRPr>
            </a:pPr>
            <a:r>
              <a:rPr sz="975" b="1">
                <a:solidFill>
                  <a:srgbClr val="F06D78"/>
                </a:solidFill>
              </a:rPr>
              <a:t>VISÃO FUTURA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5661B2-9A4C-4E38-972D-403AFCA0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286125"/>
            <a:ext cx="2190750" cy="523875"/>
          </a:xfrm>
          <a:prstGeom xmlns:a="http://schemas.openxmlformats.org/drawingml/2006/main" prst="roundRect">
            <a:avLst>
              <a:gd name="adj" fmla="val 2181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4F8FB"/>
                </a:solidFill>
              </a:defRPr>
            </a:pPr>
            <a:r>
              <a:rPr sz="1575" b="1">
                <a:solidFill>
                  <a:srgbClr val="F4F8FB"/>
                </a:solidFill>
              </a:rPr>
              <a:t>Inteligência operacional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753F0F-BB70-42BC-922E-E34B0B23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000500"/>
            <a:ext cx="219075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Correlação de incidentes, previsão de degradação, recomendações de ação e indicadores executivos.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0BD422-E060-49FC-8C45-1BA81F58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209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C6D8"/>
                </a:solidFill>
              </a:defRPr>
            </a:pPr>
            <a:r>
              <a:rPr sz="1275" b="1">
                <a:solidFill>
                  <a:srgbClr val="39C6D8"/>
                </a:solidFill>
              </a:rPr>
              <a:t>Critério de evolução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F517AF-BE03-45D2-BA3C-841FF4BE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429250"/>
            <a:ext cx="8096250" cy="304800"/>
          </a:xfrm>
          <a:prstGeom xmlns:a="http://schemas.openxmlformats.org/drawingml/2006/main" prst="roundRect">
            <a:avLst>
              <a:gd name="adj" fmla="val 37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Cada nova capacidade deve reduzir tempo de diagnóstico, preservar segurança e deixar evidência auditável.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7D11D2-4B0A-4C49-A6C8-1462A56C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C250FA-888A-4904-82C8-18D828A8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415323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2026-08-18T14:00:31.1560000Z</dcterms:created>
  <dcterms:modified xsi:type="dcterms:W3CDTF">2026-08-18T14:00:31.1560000Z</dcterms:modified>
</coreProperties>
</file>