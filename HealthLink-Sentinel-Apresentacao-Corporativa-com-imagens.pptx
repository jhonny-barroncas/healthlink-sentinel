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8d6d2f602a4ea1" /><Relationship Type="http://schemas.openxmlformats.org/officeDocument/2006/relationships/extended-properties" Target="/docProps/app.xml" Id="Rb4276f01baf9467a" /><Relationship Type="http://schemas.openxmlformats.org/officeDocument/2006/relationships/officeDocument" Target="/ppt/presentation.xml" Id="R6b5fb8275b5547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c0b85c4a934c65"/>
  </p:sldMasterIdLst>
  <p:notesMasterIdLst>
    <p:notesMasterId xmlns:r="http://schemas.openxmlformats.org/officeDocument/2006/relationships" r:id="R76dd1155a9394e44"/>
  </p:notesMasterIdLst>
  <p:sldIdLst>
    <p:sldId xmlns:r="http://schemas.openxmlformats.org/officeDocument/2006/relationships" id="256" r:id="Re292c23d95b74221"/>
    <p:sldId xmlns:r="http://schemas.openxmlformats.org/officeDocument/2006/relationships" id="257" r:id="R270ede59e4134cf3"/>
    <p:sldId xmlns:r="http://schemas.openxmlformats.org/officeDocument/2006/relationships" id="258" r:id="Rfa50b599ab74402c"/>
    <p:sldId xmlns:r="http://schemas.openxmlformats.org/officeDocument/2006/relationships" id="259" r:id="R8ea4c88b3c9d4ced"/>
    <p:sldId xmlns:r="http://schemas.openxmlformats.org/officeDocument/2006/relationships" id="260" r:id="Re4e4d8e2924742f9"/>
    <p:sldId xmlns:r="http://schemas.openxmlformats.org/officeDocument/2006/relationships" id="261" r:id="R7efae126a7fc4eac"/>
    <p:sldId xmlns:r="http://schemas.openxmlformats.org/officeDocument/2006/relationships" id="262" r:id="R367930d9f3cc4c6e"/>
    <p:sldId xmlns:r="http://schemas.openxmlformats.org/officeDocument/2006/relationships" id="263" r:id="R6035638b448d4d20"/>
    <p:sldId xmlns:r="http://schemas.openxmlformats.org/officeDocument/2006/relationships" id="264" r:id="R7dcb0626c4434112"/>
    <p:sldId xmlns:r="http://schemas.openxmlformats.org/officeDocument/2006/relationships" id="265" r:id="R89f137f554c04d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8f43c503c4dec" /><Relationship Type="http://schemas.openxmlformats.org/officeDocument/2006/relationships/slideMaster" Target="/ppt/slideMasters/slideMaster1.xml" Id="R00c0b85c4a934c65" /><Relationship Type="http://schemas.openxmlformats.org/officeDocument/2006/relationships/notesMaster" Target="/ppt/notesMasters/notesMaster1.xml" Id="R76dd1155a9394e44" /><Relationship Type="http://schemas.openxmlformats.org/officeDocument/2006/relationships/presProps" Target="/ppt/presProps.xml" Id="Re077c6ef9fea4288" /><Relationship Type="http://schemas.openxmlformats.org/officeDocument/2006/relationships/tableStyles" Target="/ppt/tableStyles.xml" Id="Rcdf54fd9f6f3411e" /><Relationship Type="http://schemas.openxmlformats.org/officeDocument/2006/relationships/slide" Target="/ppt/slides/slide1.xml" Id="Re292c23d95b74221" /><Relationship Type="http://schemas.openxmlformats.org/officeDocument/2006/relationships/slide" Target="/ppt/slides/slide2.xml" Id="R270ede59e4134cf3" /><Relationship Type="http://schemas.openxmlformats.org/officeDocument/2006/relationships/slide" Target="/ppt/slides/slide3.xml" Id="Rfa50b599ab74402c" /><Relationship Type="http://schemas.openxmlformats.org/officeDocument/2006/relationships/slide" Target="/ppt/slides/slide4.xml" Id="R8ea4c88b3c9d4ced" /><Relationship Type="http://schemas.openxmlformats.org/officeDocument/2006/relationships/slide" Target="/ppt/slides/slide5.xml" Id="Re4e4d8e2924742f9" /><Relationship Type="http://schemas.openxmlformats.org/officeDocument/2006/relationships/slide" Target="/ppt/slides/slide6.xml" Id="R7efae126a7fc4eac" /><Relationship Type="http://schemas.openxmlformats.org/officeDocument/2006/relationships/slide" Target="/ppt/slides/slide7.xml" Id="R367930d9f3cc4c6e" /><Relationship Type="http://schemas.openxmlformats.org/officeDocument/2006/relationships/slide" Target="/ppt/slides/slide8.xml" Id="R6035638b448d4d20" /><Relationship Type="http://schemas.openxmlformats.org/officeDocument/2006/relationships/slide" Target="/ppt/slides/slide9.xml" Id="R7dcb0626c4434112" /><Relationship Type="http://schemas.openxmlformats.org/officeDocument/2006/relationships/slide" Target="/ppt/slides/slide10.xml" Id="R89f137f554c04d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3bbb4d505442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b20378431a462a" /><Relationship Type="http://schemas.openxmlformats.org/officeDocument/2006/relationships/notesMaster" Target="/ppt/notesMasters/notesMaster1.xml" Id="Ra19a666686a94b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d14c7d43645e1" /><Relationship Type="http://schemas.openxmlformats.org/officeDocument/2006/relationships/notesMaster" Target="/ppt/notesMasters/notesMaster1.xml" Id="Rba5ce8f0316743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1f980186184331" /><Relationship Type="http://schemas.openxmlformats.org/officeDocument/2006/relationships/notesMaster" Target="/ppt/notesMasters/notesMaster1.xml" Id="Re7e500c7349d4a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77231da72f4c13" /><Relationship Type="http://schemas.openxmlformats.org/officeDocument/2006/relationships/notesMaster" Target="/ppt/notesMasters/notesMaster1.xml" Id="R282dc942c8af43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36f47f935c4ccc" /><Relationship Type="http://schemas.openxmlformats.org/officeDocument/2006/relationships/notesMaster" Target="/ppt/notesMasters/notesMaster1.xml" Id="Rd75ad5d74ead45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239d761fcd411a" /><Relationship Type="http://schemas.openxmlformats.org/officeDocument/2006/relationships/notesMaster" Target="/ppt/notesMasters/notesMaster1.xml" Id="R850fb947429449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5917f98fad4c9a" /><Relationship Type="http://schemas.openxmlformats.org/officeDocument/2006/relationships/notesMaster" Target="/ppt/notesMasters/notesMaster1.xml" Id="Rd47b88142d6a40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2b50292c134818" /><Relationship Type="http://schemas.openxmlformats.org/officeDocument/2006/relationships/notesMaster" Target="/ppt/notesMasters/notesMaster1.xml" Id="R0b8fde5d933843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038419d7cc40d0" /><Relationship Type="http://schemas.openxmlformats.org/officeDocument/2006/relationships/notesMaster" Target="/ppt/notesMasters/notesMaster1.xml" Id="R2a1672e796b84a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85d54c31d54828" /><Relationship Type="http://schemas.openxmlformats.org/officeDocument/2006/relationships/notesMaster" Target="/ppt/notesMasters/notesMaster1.xml" Id="Re65a3a5a8fdd43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2c7a7467e41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505fbf5317406b" /><Relationship Type="http://schemas.openxmlformats.org/officeDocument/2006/relationships/slideLayout" Target="/ppt/slideLayouts/slideLayout1.xml" Id="R35b3c490908d49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b3c490908d49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db2f9502d4692" /><Relationship Type="http://schemas.openxmlformats.org/officeDocument/2006/relationships/notesSlide" Target="/ppt/notesSlides/notesSlide1.xml" Id="Rd05918e331234e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76b154c074e1f" /><Relationship Type="http://schemas.openxmlformats.org/officeDocument/2006/relationships/image" Target="/ppt/media/image.jpeg" Id="R23df0b274e7944c4" /><Relationship Type="http://schemas.openxmlformats.org/officeDocument/2006/relationships/image" Target="/ppt/media/image2.jpeg" Id="Ra737ede92f314401" /><Relationship Type="http://schemas.openxmlformats.org/officeDocument/2006/relationships/notesSlide" Target="/ppt/notesSlides/notesSlide2.xml" Id="R3f6e10b331f742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1d411f165493e" /><Relationship Type="http://schemas.openxmlformats.org/officeDocument/2006/relationships/notesSlide" Target="/ppt/notesSlides/notesSlide3.xml" Id="R095f9d20f9fe42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cdd45de9f4a74" /><Relationship Type="http://schemas.openxmlformats.org/officeDocument/2006/relationships/image" Target="/ppt/media/image3.jpeg" Id="R068b48e27d32418a" /><Relationship Type="http://schemas.openxmlformats.org/officeDocument/2006/relationships/image" Target="/ppt/media/image4.jpeg" Id="R55fa221a11b641d4" /><Relationship Type="http://schemas.openxmlformats.org/officeDocument/2006/relationships/notesSlide" Target="/ppt/notesSlides/notesSlide4.xml" Id="R425b96f28d3a46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ce6a72d9c4e7d" /><Relationship Type="http://schemas.openxmlformats.org/officeDocument/2006/relationships/notesSlide" Target="/ppt/notesSlides/notesSlide5.xml" Id="R73b22f2c213e48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68b2b40284136" /><Relationship Type="http://schemas.openxmlformats.org/officeDocument/2006/relationships/image" Target="/ppt/media/image5.jpeg" Id="Rb582508e60da466f" /><Relationship Type="http://schemas.openxmlformats.org/officeDocument/2006/relationships/notesSlide" Target="/ppt/notesSlides/notesSlide6.xml" Id="R3bc04bbc1ce54c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90675440e404e" /><Relationship Type="http://schemas.openxmlformats.org/officeDocument/2006/relationships/notesSlide" Target="/ppt/notesSlides/notesSlide7.xml" Id="R482590a7868a40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c35cf2ffa48b7" /><Relationship Type="http://schemas.openxmlformats.org/officeDocument/2006/relationships/notesSlide" Target="/ppt/notesSlides/notesSlide8.xml" Id="R30371853e4b347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fc047026240a3" /><Relationship Type="http://schemas.openxmlformats.org/officeDocument/2006/relationships/notesSlide" Target="/ppt/notesSlides/notesSlide9.xml" Id="R6c2ba05c580249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ea4ab92954467" /><Relationship Type="http://schemas.openxmlformats.org/officeDocument/2006/relationships/notesSlide" Target="/ppt/notesSlides/notesSlide10.xml" Id="Rf9e628c86f3f41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7C1F1-1391-430A-BEB9-1A1D576F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F9184-0E96-4D47-8615-C11EF6AD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FC1F0-ECFB-4DB5-9D0F-3E53CE6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905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8FB"/>
                </a:solidFill>
              </a:defRPr>
            </a:pPr>
            <a:r>
              <a:rPr sz="4050" b="1">
                <a:solidFill>
                  <a:srgbClr val="F4F8FB"/>
                </a:solidFill>
              </a:rPr>
              <a:t>HEALTHLINK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3AB45-7337-49E6-BA43-4A4259B6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905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9C6D8"/>
                </a:solidFill>
              </a:defRPr>
            </a:pPr>
            <a:r>
              <a:rPr sz="4050" b="1">
                <a:solidFill>
                  <a:srgbClr val="39C6D8"/>
                </a:solidFill>
              </a:rPr>
              <a:t>SENTINEL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B297D-911A-4B64-9BF0-112378CC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7239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8BAC7"/>
                </a:solidFill>
              </a:defRPr>
            </a:pPr>
            <a:r>
              <a:rPr sz="1800" b="0">
                <a:solidFill>
                  <a:srgbClr val="A8BAC7"/>
                </a:solidFill>
              </a:rPr>
              <a:t>Uma camada operacional para transformar telemetria em decisão.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56284-2022-401F-8FAB-3B8FC3F5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57250"/>
            <a:ext cx="3429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B9151-FC32-4C7B-A1C5-113B6C2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38250"/>
            <a:ext cx="2381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9C6D8"/>
                </a:solidFill>
              </a:defRPr>
            </a:pPr>
            <a:r>
              <a:rPr sz="1125" b="1">
                <a:solidFill>
                  <a:srgbClr val="39C6D8"/>
                </a:solidFill>
              </a:rPr>
              <a:t>DOIS MÓDULOS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F2323-7618-43F0-BD3F-22471CB5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762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9D49A"/>
                </a:solidFill>
              </a:defRPr>
            </a:pPr>
            <a:r>
              <a:rPr sz="2550" b="1">
                <a:solidFill>
                  <a:srgbClr val="59D49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6432D-32FD-4098-958B-79BA83EB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Monitoramento</a:t>
            </a:r>
          </a:p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de infraestrutura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C3E6E-8574-43B3-9778-9DA880C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2609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FB3F9-450C-4C13-9F8D-5AACA8DC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76625"/>
            <a:ext cx="762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B95B"/>
                </a:solidFill>
              </a:defRPr>
            </a:pPr>
            <a:r>
              <a:rPr sz="2550" b="1">
                <a:solidFill>
                  <a:srgbClr val="F6B95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58524-5B29-41F6-92A8-CA5609FE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71925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Links de unidades</a:t>
            </a:r>
          </a:p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móveis + suporte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12046-FE95-4C77-93E9-BAAFD0AD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38100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AC7"/>
                </a:solidFill>
              </a:defRPr>
            </a:pPr>
            <a:r>
              <a:rPr sz="1125" b="0">
                <a:solidFill>
                  <a:srgbClr val="A8BAC7"/>
                </a:solidFill>
              </a:rPr>
              <a:t>Apresentação executiva  |  2026</a:t>
            </a:r>
          </a:p>
        </p:txBody>
      </p:sp>
    </p:spTree>
    <p:extLst>
      <p:ext uri="{BB962C8B-B14F-4D97-AF65-F5344CB8AC3E}">
        <p14:creationId xmlns:p14="http://schemas.microsoft.com/office/powerpoint/2010/main" val="886885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FFA57-583B-4476-8743-1A8A707C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A OPORTUNIDADE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5DAF4-1CB2-4793-8AD2-529FF3B9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Zabbix coleta muito. A operação precisa entender rápido.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F7921-B1AC-4BC8-8108-AC35C9DF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HealthLink Sentinel organiza o dado técnico no contexto da unidade, do link e da missão.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E4551-F858-41E4-A96E-FBAE30E5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3514F-7B8A-4CCD-AE1D-D64074AB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B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A759B-DAD7-44BF-A76C-65A3878C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existe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FCB9B-F467-4A8F-9AF6-CB96968B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Métricas, hosts, itens, triggers e eventos distribuídos em uma camada técnica.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ADD89-C846-416B-9127-6BBB3588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40582-8D3F-4767-8FE2-7A190BD4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7B41D-7080-4C8D-8305-C4DD5540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falta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C9121-8433-4844-AD36-C0151491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Contexto operacional: qual unidade está comprometida, por quê e qual ação vem agora.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42363-744A-4C2E-BEDD-F72A0525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F37C7-F196-434A-AD4C-DF72D77E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9014B-A391-481D-A5ED-71B4D5D1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 que muda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FD401-CB8F-4FFA-A685-0ECCEE4E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Uma visão executiva e operacional, com estado consolidado, mapa, alerta e histórico.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CA2C7-7550-4031-A860-E8AA43D8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Zabbix permanece como motor de coleta. A inteligência operacional pertence ao HealthLink.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f0b274e7944c4"/>
          <a:srcRect xmlns:a="http://schemas.openxmlformats.org/drawingml/2006/main" l="0" t="25324" r="0" b="25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7ede92f314401"/>
          <a:srcRect xmlns:a="http://schemas.openxmlformats.org/drawingml/2006/main" l="0" t="25309" r="0" b="25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409D5-EF45-4482-9112-69A6C992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A6A70-C4C5-490A-A185-268A122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7861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2EE4B-3051-4910-A8ED-1901F1E6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POSICIONAMENTO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F6F81-32D8-46CD-9713-0C0918B9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HealthLink Sentinel é a camada de operação acima do Zabbix.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8FFC8-88EB-46BC-875D-8A046760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Preserva o investimento existente e acrescenta contexto, governança e fluidez para quem decide.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88894-4CDA-4641-8F90-D72F0D0D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8BEAB-5B64-479A-8A83-029E96F1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A2285-D265-4924-9603-D31AE55B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171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85746-514A-4AD8-97FF-8B1B5665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142875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FONTES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92F85-AF7E-471C-AA1E-A8344C38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Zabbix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MikroTik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C22D9-ED86-4609-8C0A-8E4C1E1C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DFEF6-3CAF-46A1-90E0-7CC3A257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31F"/>
                </a:solidFill>
              </a:defRPr>
            </a:pPr>
            <a:r>
              <a:rPr sz="2025" b="1">
                <a:solidFill>
                  <a:srgbClr val="07131F"/>
                </a:solidFill>
              </a:rPr>
              <a:t>HEALTHLINK</a:t>
            </a:r>
          </a:p>
          <a:p xmlns:a="http://schemas.openxmlformats.org/drawingml/2006/main">
            <a:pPr>
              <a:defRPr sz="2025" b="1">
                <a:solidFill>
                  <a:srgbClr val="07131F"/>
                </a:solidFill>
              </a:defRPr>
            </a:pPr>
            <a:r>
              <a:rPr sz="2025" b="1">
                <a:solidFill>
                  <a:srgbClr val="07131F"/>
                </a:solidFill>
              </a:rPr>
              <a:t>SENTINEL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C1A93-8E55-4DE7-861D-C6B03BDE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67125"/>
            <a:ext cx="18097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31F"/>
                </a:solidFill>
              </a:defRPr>
            </a:pPr>
            <a:r>
              <a:rPr sz="1200" b="1">
                <a:solidFill>
                  <a:srgbClr val="07131F"/>
                </a:solidFill>
              </a:rPr>
              <a:t>normaliza • correlaciona</a:t>
            </a:r>
          </a:p>
          <a:p xmlns:a="http://schemas.openxmlformats.org/drawingml/2006/main">
            <a:pPr>
              <a:defRPr sz="1200" b="1">
                <a:solidFill>
                  <a:srgbClr val="07131F"/>
                </a:solidFill>
              </a:defRPr>
            </a:pPr>
            <a:r>
              <a:rPr sz="1200" b="1">
                <a:solidFill>
                  <a:srgbClr val="07131F"/>
                </a:solidFill>
              </a:rPr>
              <a:t>projeta • audita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A5473-8772-47C9-B7BD-DEE2B6D4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171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8CE65-04DF-43E2-ADD2-BE58AAC9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5240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RESULTADO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FBE45-E5BD-448D-BEC1-3F38B985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NOC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Gestão</a:t>
            </a:r>
          </a:p>
          <a:p xmlns:a="http://schemas.openxmlformats.org/drawingml/2006/main">
            <a:pPr>
              <a:defRPr sz="1800" b="1">
                <a:solidFill>
                  <a:srgbClr val="F4F8FB"/>
                </a:solidFill>
              </a:defRPr>
            </a:pPr>
            <a:r>
              <a:rPr sz="1800" b="1">
                <a:solidFill>
                  <a:srgbClr val="F4F8FB"/>
                </a:solidFill>
              </a:rPr>
              <a:t>Suporte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C501F-6783-48F8-8F0D-72832E54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A integração é evolutiva: o motor existente continua; a experiência e a governança avançam.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21F0F-5FBD-4065-BD43-98343546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A4FA2-9AD2-4F99-A7D6-78A3B934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5232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95717-8DF0-45A7-B1F2-FF5E36BE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81E2E-59DF-45B4-BBB7-0EB3B593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Monitoramento de infraestrutura com contexto operacional.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FC882-DC00-4560-B4FF-9F8288FC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Uma visão consolidada para servidores, rede, VPN, equipamentos e disponibilidade das unidades.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1F169-8A24-41B6-AC76-905F9CF7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96056-4E4C-4986-97EF-ED0BC625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8ADEC-7E87-404E-9D79-8DF5421A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Mapa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3DB97-7FE2-4BA5-A8CF-4F2ED162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Brasil por estado, unidades e pior estado herdado entre equipamentos ativos.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5664D-3E57-437B-BE04-5BA3498F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3E1D9-6BCF-489D-AE8D-CAE34032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C2126-85D1-43E8-B630-A26332F3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Central de alertas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1C0CB-5F77-450A-A9C3-C95115B4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Incidentes ativos, reconhecimento, severidade, histórico e ciclo de vida.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06437-6073-4169-AABF-A2ACFC99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3DFDE-1168-4AD7-96EA-EEDD5EB5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3EE5D-DFDF-432A-9023-93976599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Integração governada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B7D1B-0168-4302-A490-F2B2E61F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Hosts autorizados, sugestões de vínculo, sincronização, saúde e auditoria.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A1572-FAB0-4443-9151-8CFE7512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668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O operador deixa de procurar “qual host falhou?” e passa a responder “qual unidade está em risco?”.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b48e27d32418a"/>
          <a:srcRect xmlns:a="http://schemas.openxmlformats.org/drawingml/2006/main" l="0" t="25324" r="0" b="25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a221a11b641d4"/>
          <a:srcRect xmlns:a="http://schemas.openxmlformats.org/drawingml/2006/main" l="0" t="25309" r="0" b="25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4714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8B0F4-9DA8-4661-BB79-D1E7F965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EAB13-6D1C-48A0-9A43-33AD406F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20408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5F837A-A9E7-4EB4-A362-3B62B86E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58657-422F-425F-AB73-401CBA7E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Diferenciais sobre o Zabbix para a operação.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3578D-9E6E-4017-9949-F7804538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valor está na tradução do evento técnico para uma decisão rastreável.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0B69B-C7B3-4C5E-806D-294B07E3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095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AC7"/>
                </a:solidFill>
              </a:defRPr>
            </a:pPr>
            <a:r>
              <a:rPr sz="1125" b="1">
                <a:solidFill>
                  <a:srgbClr val="A8BAC7"/>
                </a:solidFill>
              </a:rPr>
              <a:t>ZABBIX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9D9A6-C32A-440A-AE0A-1EEC77D2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2857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9C6D8"/>
                </a:solidFill>
              </a:defRPr>
            </a:pPr>
            <a:r>
              <a:rPr sz="1125" b="1">
                <a:solidFill>
                  <a:srgbClr val="39C6D8"/>
                </a:solidFill>
              </a:rPr>
              <a:t>HEALTHLINK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D170A-9BD9-4038-898D-F44486DD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8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F68FB-B127-4B4B-AF29-4145B2B6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5E4EB-5D54-4F1F-AEE0-961AF4A1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Host / 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C4CDE-E3BC-4ACB-B758-61B3CD8E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Unidade / equipamento / impacto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F4816-4B3C-49DA-A79C-C1D3DC69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A36AD-C762-4655-A63E-138D280B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Visão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55D61-7AE3-4F9D-B1E3-90A1E36E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81375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Telas técnicas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3B6FE-EE0D-4CC7-A662-89FE190C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Mapa + estado consolidado + detalhe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53BAA-AE0B-459A-BFBA-FB9F4711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8FA05-520A-4B72-917A-79C76A1C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AE0AF-0BB8-4AB0-895C-2693C50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Reconhecer problema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BBFFC-FF74-4670-8508-8305FC10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Diagnosticar, registrar e acompanhar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90BBE-D502-4342-B29D-AF50830D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AF285-CAC4-453E-8121-6180D5A7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Governança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6A56A-85D8-4721-BE7C-7853F59D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Configuração distribuída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753CA-9617-4893-88B3-9FABCA06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9625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RBAC, multi-tenant, auditoria e histórico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D41E6-5A15-4619-AEAC-CFD9CE81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4FA9F-8979-4290-A391-F008D4B9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F8FB"/>
                </a:solidFill>
              </a:defRPr>
            </a:pPr>
            <a:r>
              <a:rPr sz="1425" b="1">
                <a:solidFill>
                  <a:srgbClr val="F4F8FB"/>
                </a:solidFill>
              </a:rPr>
              <a:t>Confiabilidade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0884FF-C0A9-42E0-9E9B-67343DF7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3524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Último valor disponível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4E648-EDC3-401B-BEDE-E4B812B7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Telemetria stale vira unknown; histórico preservado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326A7E-0F6F-403D-8CD9-D77931A1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CBC79-E742-411D-B78E-BD6EE0C9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0EC70-A89E-4B9F-B7A6-09E0FE01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82371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08F01D-B258-4917-A78C-D3337A8F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C1B1A-017D-4670-80A9-EE53BF5D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Gestão de links das unidades móveis + suporte.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5B953-E70B-4571-A34C-AC243970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Uma visão específica para conectividade em campo: link, antena, caminho, agente e atendimento.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25210-083F-40D0-B366-F418E98D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840F3-35FD-41E7-BD1D-7A5896A3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C1C72-16DA-447A-90E0-2561A4D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Link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A586B-167D-4533-996E-7A90012F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Plano contratado x tráfego atual; latência, perda e disponibilidade.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DEFFC-79D5-4D60-B4E5-F1884BE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CFF52-CEA1-44AA-8A03-856F82A9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37FBE-E30A-4377-933F-EE5D689D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Unidade móvel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BBA0C-FE33-4788-B502-3F1680A4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Starlink como fonte primária; MikroTik como caminho e interfaces.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F6D05-EFD0-4C94-9921-56052E1C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2571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C3400-9C02-426E-B0E4-41A89D39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1E1B7-AC5D-493A-99C8-14627523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Suporte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480FE-3BFE-4E33-96A8-6E1D6805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62275"/>
            <a:ext cx="2114550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Diagnóstico de ping/tracert, origem da métrica e evidência para o chamado.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FE067-8B55-45AA-81E6-5ED986CE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2219325" cy="2238375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2AC2E-05AD-495A-BF1C-8ACD253B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8D998-285A-4C56-B791-98CBFEF4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24125"/>
            <a:ext cx="1552575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Continuidade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66601-386A-4DE0-A343-81544765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62275"/>
            <a:ext cx="1762125" cy="1457325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Fila local, retry, envio idempotente e telemetria stale explícita.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093D3-FC67-4F77-9B4C-8CD967FE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B"/>
                </a:solidFill>
              </a:defRPr>
            </a:pPr>
            <a:r>
              <a:rPr sz="1350" b="1">
                <a:solidFill>
                  <a:srgbClr val="F4F8FB"/>
                </a:solidFill>
              </a:rPr>
              <a:t>A conectividade deixa de ser apenas “online/offline” e passa a ser gerenciável.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2508e60da466f"/>
          <a:srcRect xmlns:a="http://schemas.openxmlformats.org/drawingml/2006/main" l="0" t="43920" r="0" b="43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714875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21C1B-03EF-4B6A-BBBD-118692EB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95948-A8AC-4E36-94FA-A0BF27C3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95162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EFFA4-7FAE-4F88-9704-8851B4C8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MÓDULO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94C28-655C-4488-A1BB-E28C4BB7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Arquitetura híbrida para operar onde o servidor central não alcança.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E445D-D4B7-474C-82A3-FE25F13F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O servidor local da unidade coleta, normaliza e entrega telemetria com segurança.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00B71-B736-4B51-A03D-60D0C60A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9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0C7D8-ECE2-43C1-8958-BB1935E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9D4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9F70F-19DA-418B-AA00-D2A1B2B7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6B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26476-C133-497D-9535-38B841EE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39C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9319C-0064-4E54-BBE6-FC7CCB7B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HEALTHLINK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API + jobs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0D5C4-8EEB-41EE-8A55-5E09671D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59D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8F455-BC01-42E7-B8C9-795D4288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SERVIDOR LOCAL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agente + fila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0C181-6E3A-49D1-A340-79949F0E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F6B9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29321-C605-4E5D-8ED6-9A037F69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STARLINK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gRPC 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DFA7E-9FBC-4312-AB43-BFC6F72F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39C6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46DBA-DF51-425D-8FC1-103D4479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05150"/>
            <a:ext cx="1381125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MIKROTIK</a:t>
            </a:r>
          </a:p>
          <a:p xmlns:a="http://schemas.openxmlformats.org/drawingml/2006/main">
            <a:pPr>
              <a:defRPr sz="1500" b="1">
                <a:solidFill>
                  <a:srgbClr val="F4F8FB"/>
                </a:solidFill>
              </a:defRPr>
            </a:pPr>
            <a:r>
              <a:rPr sz="1500" b="1">
                <a:solidFill>
                  <a:srgbClr val="F4F8FB"/>
                </a:solidFill>
              </a:rPr>
              <a:t>SNMP/API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4B5A9-DF74-402E-BB54-7683271A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05250"/>
            <a:ext cx="1714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HTTPS/VPN autenticada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7CBFC-A5CE-46E4-9E39-6492E99A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238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LAN da unidade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795A8-495A-4562-9ABE-4A752931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952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AC7"/>
                </a:solidFill>
              </a:defRPr>
            </a:pPr>
            <a:r>
              <a:rPr sz="1050" b="0">
                <a:solidFill>
                  <a:srgbClr val="A8BAC7"/>
                </a:solidFill>
              </a:rPr>
              <a:t>opcional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95C96-0533-4059-94EF-EF6A30A4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O frontend consulta apenas projeções da API — nunca acessa diretamente a rede da unidade.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C0423-3FBA-48C8-9823-CDB0B66F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F8269-CE15-43C9-B477-23C21427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3143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ED201-FC1A-4552-BBBA-2684A76C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CONFIABILIDADE E SEGURANÇA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638CC-D1CA-46DF-9D0C-21B35307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O sistema evita decisões baseadas em telemetria velha ou contexto incompleto.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94FCE-B526-41B3-B662-600512BC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As regras de confiança são parte do produto, não apenas da infraestrutura.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F8AB0-0BCD-4552-B432-5C5290D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6C50C-B9A6-48A3-A790-C5A07A71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C87EF-C4F3-4889-8C33-C331127E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Telemetria stale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BA76D-6965-4BF3-8B4A-2EC016B5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Após 30s sem amostra: estado unknown, indicadores atuais zerados e histórico preservado.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782FC-F3EE-4823-9742-91DC1A8D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D2DD5-3DB9-41F6-8640-36AF728D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6189D-DADB-4AA0-8DBB-5E9C8026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Fonte explícita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9E2A1-33FB-4405-9659-860BF60D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Cada métrica preserva origem, timestamp e qualidade; campo ausente aparece como N/D.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3ECF6-FB0C-4A6A-95FE-769C78DD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59CB2-A8CD-421C-AAA7-DF556F5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29F8E-835B-42EE-8B99-20913C3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667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Acesso controlado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CD1ED-994A-4E46-A7DD-720E987F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8765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Multi-tenant desde o MVP, RLS, RBAC, agente com identidade própria e auditoria.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4B05A-1FC9-47CD-AE01-A1613C8D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77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Resultado: menos “verde falso”, menos ambiguidade e mais confiança na 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F7B49-84F2-418D-A0F6-7DD436EA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A8030-D480-417B-9EA5-066203A6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3532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2D449-A43A-49C1-AA6F-46254724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VALOR PARA A EQUIPE DE DESENVOLVIMENTO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37D83-F4C9-43CF-9E0A-FA208271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Uma plataforma que organiza evolução, integração e operação em torno do domínio.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654A7-DF78-4328-8A81-21ADD054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arquitetura permite ampliar fontes e módulos sem reescrever a experiência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CFD8D-D355-4357-9944-F636FE3A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21D05-FBBF-4149-A849-44EE9B40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5D0F8-1393-4391-A1FE-0C175CB1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Zabbix continua sendo aproveitado como coletor e fonte de problemas.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DC756-6A6C-448E-ABAF-4E9D8821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B7183-A25A-4C8F-AFDE-B10543F3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Evolução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F07A5-4708-4533-B8CB-5017263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Starlink, MikroTik e novos adaptadores entram por contratos normalizados.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A61CA-334A-4FBB-88EE-67B2E92C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5E1B0-78A1-4255-828F-2DFE3E6E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Operabilidade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9D771-C5F1-4FEA-9B84-4F6FA645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Diagnóstico, saúde do agente, fila e sincronização são visíveis.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E7C51-1A72-4A1C-8D9C-075D2F73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914E6-18A3-4429-8EF4-4D1FBB6E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190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Produto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15FF6-A11A-44D6-92FA-7733C496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AC7"/>
                </a:solidFill>
              </a:defRPr>
            </a:pPr>
            <a:r>
              <a:rPr sz="1275" b="0">
                <a:solidFill>
                  <a:srgbClr val="A8BAC7"/>
                </a:solidFill>
              </a:rPr>
              <a:t>O dado técnico ganha unidade, impacto, histórico e responsabilidade.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A685C-AAE6-40F7-B43B-1B899FD3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B"/>
                </a:solidFill>
              </a:defRPr>
            </a:pPr>
            <a:r>
              <a:rPr sz="1725" b="1">
                <a:solidFill>
                  <a:srgbClr val="F4F8FB"/>
                </a:solidFill>
              </a:rPr>
              <a:t>É uma camada de produto: menor dependência de leitura manual e maior capacidade de escalar 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9A68D-D57C-410A-979B-094AFC55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2355B-981B-42C1-8677-BFFC155D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5893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C786F-722E-46BD-BB8F-34C7709C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6D8"/>
                </a:solidFill>
              </a:defRPr>
            </a:pPr>
            <a:r>
              <a:rPr sz="975" b="1">
                <a:solidFill>
                  <a:srgbClr val="39C6D8"/>
                </a:solidFill>
              </a:rPr>
              <a:t>PROPOSTA DE ENCAMINHAMENTO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1A6EE-F5F0-48B3-8AEB-BD6708AA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Validar o HealthLink Sentinel como plataforma operacional em dois módulos.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B808E-E593-4437-9731-9B388FAF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AC7"/>
                </a:solidFill>
              </a:defRPr>
            </a:pPr>
            <a:r>
              <a:rPr sz="1350" b="0">
                <a:solidFill>
                  <a:srgbClr val="A8BAC7"/>
                </a:solidFill>
              </a:rPr>
              <a:t>A decisão recomendada é evoluir sobre o Zabbix, com foco em contexto, links móveis e suporte.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DBA44-9DEB-4B2B-AC7B-31D107D9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8C9EA-AAF1-4922-9771-1AF3D9E0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4DE9F-F6DE-4D1D-B21B-1E414F28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1. Demonstrar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86B95-0521-4EED-ACE7-64EE71F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Fluxo completo: mapa → alerta → unidade → diagnóstico → histórico.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CD9F4-0C2F-4399-AE33-B83C0A3C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33A5A-2EE7-4702-AEC6-2788FA30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6E71F-71FA-4854-94E7-C4CB7DB6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2. Priorizar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770C0-C6D3-4FA7-9068-361EFA19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Fechar Fase 4 do centro operacional e consolidar gestão de usuários, auditoria e relatórios.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3067F-D0CC-40DC-A24F-0E5B6910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2848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7F071-BF91-4FC8-BE97-325F6EA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736A6-EEF9-4439-97E1-8091AB61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3. Pilotar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6090F-E973-4E8C-8677-0FFA7E34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62275"/>
            <a:ext cx="2686050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AC7"/>
                </a:solidFill>
              </a:defRPr>
            </a:pPr>
            <a:r>
              <a:rPr sz="1200" b="0">
                <a:solidFill>
                  <a:srgbClr val="A8BAC7"/>
                </a:solidFill>
              </a:rPr>
              <a:t>Selecionar unidades móveis e medir tempo de descoberta, diagnóstico e resolução.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E2F85-B790-4F4E-A877-836B97B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C6D8"/>
                </a:solidFill>
              </a:defRPr>
            </a:pPr>
            <a:r>
              <a:rPr sz="1275" b="1">
                <a:solidFill>
                  <a:srgbClr val="39C6D8"/>
                </a:solidFill>
              </a:rPr>
              <a:t>Mensagem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CB493-508C-4909-B7D3-DAA51507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762000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B"/>
                </a:solidFill>
              </a:defRPr>
            </a:pPr>
            <a:r>
              <a:rPr sz="2250" b="1">
                <a:solidFill>
                  <a:srgbClr val="F4F8FB"/>
                </a:solidFill>
              </a:rPr>
              <a:t>Zabbix coleta.</a:t>
            </a:r>
          </a:p>
          <a:p xmlns:a="http://schemas.openxmlformats.org/drawingml/2006/main">
            <a:pPr>
              <a:defRPr sz="2250" b="1">
                <a:solidFill>
                  <a:srgbClr val="F4F8FB"/>
                </a:solidFill>
              </a:defRPr>
            </a:pPr>
            <a:r>
              <a:rPr sz="2250" b="1">
                <a:solidFill>
                  <a:srgbClr val="F4F8FB"/>
                </a:solidFill>
              </a:rPr>
              <a:t>HealthLink Sentinel orienta a operação.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FE901-80F5-4772-90A3-E76B7EE0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HEALTHLINK SENTINEL  /  VISÃO CORPORATIVA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78AC6-462B-4BE5-9ACD-1D7E7319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AC7"/>
                </a:solidFill>
              </a:defRPr>
            </a:pPr>
            <a:r>
              <a:rPr sz="900" b="1">
                <a:solidFill>
                  <a:srgbClr val="A8BAC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9916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2026-08-18T13:40:09.8910000Z</dcterms:created>
  <dcterms:modified xsi:type="dcterms:W3CDTF">2026-08-18T13:40:09.8910000Z</dcterms:modified>
</coreProperties>
</file>