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0d42c58ec4419d" /><Relationship Type="http://schemas.openxmlformats.org/officeDocument/2006/relationships/extended-properties" Target="/docProps/app.xml" Id="Rec168eabded546cf" /><Relationship Type="http://schemas.openxmlformats.org/officeDocument/2006/relationships/officeDocument" Target="/ppt/presentation.xml" Id="Rbd265de034df4b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aa92fbe92746fd"/>
  </p:sldMasterIdLst>
  <p:notesMasterIdLst>
    <p:notesMasterId xmlns:r="http://schemas.openxmlformats.org/officeDocument/2006/relationships" r:id="Recd99177c4714973"/>
  </p:notesMasterIdLst>
  <p:sldIdLst>
    <p:sldId xmlns:r="http://schemas.openxmlformats.org/officeDocument/2006/relationships" id="256" r:id="Rb6c3b6830d4249f1"/>
    <p:sldId xmlns:r="http://schemas.openxmlformats.org/officeDocument/2006/relationships" id="257" r:id="R0e7db2b500424d97"/>
    <p:sldId xmlns:r="http://schemas.openxmlformats.org/officeDocument/2006/relationships" id="258" r:id="R9cdb8f765a034e42"/>
    <p:sldId xmlns:r="http://schemas.openxmlformats.org/officeDocument/2006/relationships" id="259" r:id="R7bd041bfb3b04e97"/>
    <p:sldId xmlns:r="http://schemas.openxmlformats.org/officeDocument/2006/relationships" id="260" r:id="R724caa4916494478"/>
    <p:sldId xmlns:r="http://schemas.openxmlformats.org/officeDocument/2006/relationships" id="261" r:id="R5576f0a178fe4861"/>
    <p:sldId xmlns:r="http://schemas.openxmlformats.org/officeDocument/2006/relationships" id="262" r:id="Rc1ff1bb4b71743c6"/>
    <p:sldId xmlns:r="http://schemas.openxmlformats.org/officeDocument/2006/relationships" id="263" r:id="R393243be7e9b41df"/>
    <p:sldId xmlns:r="http://schemas.openxmlformats.org/officeDocument/2006/relationships" id="264" r:id="Rda7841e4cfca4eaf"/>
    <p:sldId xmlns:r="http://schemas.openxmlformats.org/officeDocument/2006/relationships" id="265" r:id="Rb499e006374d4325"/>
    <p:sldId xmlns:r="http://schemas.openxmlformats.org/officeDocument/2006/relationships" id="266" r:id="R5be9392a01aa4df8"/>
    <p:sldId xmlns:r="http://schemas.openxmlformats.org/officeDocument/2006/relationships" id="267" r:id="R04a7e473028242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8ac4920aad43fa" /><Relationship Type="http://schemas.openxmlformats.org/officeDocument/2006/relationships/slideMaster" Target="/ppt/slideMasters/slideMaster1.xml" Id="R12aa92fbe92746fd" /><Relationship Type="http://schemas.openxmlformats.org/officeDocument/2006/relationships/notesMaster" Target="/ppt/notesMasters/notesMaster1.xml" Id="Recd99177c4714973" /><Relationship Type="http://schemas.openxmlformats.org/officeDocument/2006/relationships/presProps" Target="/ppt/presProps.xml" Id="R51b0441f32d7448a" /><Relationship Type="http://schemas.openxmlformats.org/officeDocument/2006/relationships/tableStyles" Target="/ppt/tableStyles.xml" Id="Ra59045fc68464090" /><Relationship Type="http://schemas.openxmlformats.org/officeDocument/2006/relationships/slide" Target="/ppt/slides/slide1.xml" Id="Rb6c3b6830d4249f1" /><Relationship Type="http://schemas.openxmlformats.org/officeDocument/2006/relationships/slide" Target="/ppt/slides/slide2.xml" Id="R0e7db2b500424d97" /><Relationship Type="http://schemas.openxmlformats.org/officeDocument/2006/relationships/slide" Target="/ppt/slides/slide3.xml" Id="R9cdb8f765a034e42" /><Relationship Type="http://schemas.openxmlformats.org/officeDocument/2006/relationships/slide" Target="/ppt/slides/slide4.xml" Id="R7bd041bfb3b04e97" /><Relationship Type="http://schemas.openxmlformats.org/officeDocument/2006/relationships/slide" Target="/ppt/slides/slide5.xml" Id="R724caa4916494478" /><Relationship Type="http://schemas.openxmlformats.org/officeDocument/2006/relationships/slide" Target="/ppt/slides/slide6.xml" Id="R5576f0a178fe4861" /><Relationship Type="http://schemas.openxmlformats.org/officeDocument/2006/relationships/slide" Target="/ppt/slides/slide7.xml" Id="Rc1ff1bb4b71743c6" /><Relationship Type="http://schemas.openxmlformats.org/officeDocument/2006/relationships/slide" Target="/ppt/slides/slide8.xml" Id="R393243be7e9b41df" /><Relationship Type="http://schemas.openxmlformats.org/officeDocument/2006/relationships/slide" Target="/ppt/slides/slide9.xml" Id="Rda7841e4cfca4eaf" /><Relationship Type="http://schemas.openxmlformats.org/officeDocument/2006/relationships/slide" Target="/ppt/slides/slide10.xml" Id="Rb499e006374d4325" /><Relationship Type="http://schemas.openxmlformats.org/officeDocument/2006/relationships/slide" Target="/ppt/slides/slide11.xml" Id="R5be9392a01aa4df8" /><Relationship Type="http://schemas.openxmlformats.org/officeDocument/2006/relationships/slide" Target="/ppt/slides/slide12.xml" Id="R04a7e473028242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94c57058044c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c2df39694f452a" /><Relationship Type="http://schemas.openxmlformats.org/officeDocument/2006/relationships/notesMaster" Target="/ppt/notesMasters/notesMaster1.xml" Id="Rba1b556798d04d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6702dc2c204c62" /><Relationship Type="http://schemas.openxmlformats.org/officeDocument/2006/relationships/notesMaster" Target="/ppt/notesMasters/notesMaster1.xml" Id="R328b220fc75b43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76d0176f4f4c2a" /><Relationship Type="http://schemas.openxmlformats.org/officeDocument/2006/relationships/notesMaster" Target="/ppt/notesMasters/notesMaster1.xml" Id="R62383685210a45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e87a443b024eff" /><Relationship Type="http://schemas.openxmlformats.org/officeDocument/2006/relationships/notesMaster" Target="/ppt/notesMasters/notesMaster1.xml" Id="Rb572f8dca15344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2e7c03cff94880" /><Relationship Type="http://schemas.openxmlformats.org/officeDocument/2006/relationships/notesMaster" Target="/ppt/notesMasters/notesMaster1.xml" Id="R965a55c88ed841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260eeff20f4c8f" /><Relationship Type="http://schemas.openxmlformats.org/officeDocument/2006/relationships/notesMaster" Target="/ppt/notesMasters/notesMaster1.xml" Id="R6bd99c45408f4b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eb0426e473409f" /><Relationship Type="http://schemas.openxmlformats.org/officeDocument/2006/relationships/notesMaster" Target="/ppt/notesMasters/notesMaster1.xml" Id="R8173fe6aa58347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bf09911d514e3a" /><Relationship Type="http://schemas.openxmlformats.org/officeDocument/2006/relationships/notesMaster" Target="/ppt/notesMasters/notesMaster1.xml" Id="R38c74ddc2f9047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48146acaf446f1" /><Relationship Type="http://schemas.openxmlformats.org/officeDocument/2006/relationships/notesMaster" Target="/ppt/notesMasters/notesMaster1.xml" Id="R0db8b14d223341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4cbd0978e8472f" /><Relationship Type="http://schemas.openxmlformats.org/officeDocument/2006/relationships/notesMaster" Target="/ppt/notesMasters/notesMaster1.xml" Id="R08ec4dc4e95f42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c0664947e9449a" /><Relationship Type="http://schemas.openxmlformats.org/officeDocument/2006/relationships/notesMaster" Target="/ppt/notesMasters/notesMaster1.xml" Id="Rbeedddf3c0fa46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fc67203e014c57" /><Relationship Type="http://schemas.openxmlformats.org/officeDocument/2006/relationships/notesMaster" Target="/ppt/notesMasters/notesMaster1.xml" Id="R3894128ba31149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6549a98b9145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60bdd14f4e48ba" /><Relationship Type="http://schemas.openxmlformats.org/officeDocument/2006/relationships/slideLayout" Target="/ppt/slideLayouts/slideLayout1.xml" Id="Rc4421a76af354e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421a76af354e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0e47f4a4a497b" /><Relationship Type="http://schemas.openxmlformats.org/officeDocument/2006/relationships/notesSlide" Target="/ppt/notesSlides/notesSlide1.xml" Id="Rdaa6060ea9af43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4d9eee91e4676" /><Relationship Type="http://schemas.openxmlformats.org/officeDocument/2006/relationships/notesSlide" Target="/ppt/notesSlides/notesSlide2.xml" Id="R650102322c2d47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cdc4b86b84ee5" /><Relationship Type="http://schemas.openxmlformats.org/officeDocument/2006/relationships/notesSlide" Target="/ppt/notesSlides/notesSlide3.xml" Id="Re5d077a3063248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946bdcf6b4468" /><Relationship Type="http://schemas.openxmlformats.org/officeDocument/2006/relationships/notesSlide" Target="/ppt/notesSlides/notesSlide4.xml" Id="R52d889d088a946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021cb9c6a45c8" /><Relationship Type="http://schemas.openxmlformats.org/officeDocument/2006/relationships/image" Target="/ppt/media/image.jpeg" Id="R00927ec2a71d4694" /><Relationship Type="http://schemas.openxmlformats.org/officeDocument/2006/relationships/notesSlide" Target="/ppt/notesSlides/notesSlide5.xml" Id="R92419045b0934e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70948d1be4623" /><Relationship Type="http://schemas.openxmlformats.org/officeDocument/2006/relationships/image" Target="/ppt/media/image2.jpeg" Id="Ree72834152f04959" /><Relationship Type="http://schemas.openxmlformats.org/officeDocument/2006/relationships/notesSlide" Target="/ppt/notesSlides/notesSlide6.xml" Id="R41f17f9d0a2748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b9220cfb74b24" /><Relationship Type="http://schemas.openxmlformats.org/officeDocument/2006/relationships/notesSlide" Target="/ppt/notesSlides/notesSlide7.xml" Id="R832082fb8a204a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2489f3da44134" /><Relationship Type="http://schemas.openxmlformats.org/officeDocument/2006/relationships/notesSlide" Target="/ppt/notesSlides/notesSlide8.xml" Id="Re1362c479e224a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8ef163efd4504" /><Relationship Type="http://schemas.openxmlformats.org/officeDocument/2006/relationships/notesSlide" Target="/ppt/notesSlides/notesSlide9.xml" Id="Rfcfbc9ce638548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5ca7b84d841bc" /><Relationship Type="http://schemas.openxmlformats.org/officeDocument/2006/relationships/notesSlide" Target="/ppt/notesSlides/notesSlide10.xml" Id="R8fa4fb56a80540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440c384b041b2" /><Relationship Type="http://schemas.openxmlformats.org/officeDocument/2006/relationships/notesSlide" Target="/ppt/notesSlides/notesSlide11.xml" Id="R856b8cddcf404e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e82913443450d" /><Relationship Type="http://schemas.openxmlformats.org/officeDocument/2006/relationships/notesSlide" Target="/ppt/notesSlides/notesSlide12.xml" Id="R77198941433647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B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96F36A-C4A2-4E64-BB94-D1A73D99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80B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29030-BEA8-464E-9486-B8A328D7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6A60D-9308-41F0-A160-0D0E8B5E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59055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7F9FC"/>
                </a:solidFill>
              </a:defRPr>
            </a:pPr>
            <a:r>
              <a:rPr sz="3900" b="1">
                <a:solidFill>
                  <a:srgbClr val="F7F9FC"/>
                </a:solidFill>
              </a:rPr>
              <a:t>HEALTHLINK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594D2-448E-4209-AE83-6D4D0957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59055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B6F36B"/>
                </a:solidFill>
              </a:defRPr>
            </a:pPr>
            <a:r>
              <a:rPr sz="3900" b="1">
                <a:solidFill>
                  <a:srgbClr val="B6F36B"/>
                </a:solidFill>
              </a:rPr>
              <a:t>SENTINEL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26EBF-228F-4A34-BA82-DC2F7B96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28875"/>
            <a:ext cx="6953250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F9FC"/>
                </a:solidFill>
              </a:defRPr>
            </a:pPr>
            <a:r>
              <a:rPr sz="2100" b="1">
                <a:solidFill>
                  <a:srgbClr val="F7F9FC"/>
                </a:solidFill>
              </a:rPr>
              <a:t>A operação de conectividade das unidades móveis</a:t>
            </a:r>
          </a:p>
          <a:p xmlns:a="http://schemas.openxmlformats.org/drawingml/2006/main">
            <a:pPr>
              <a:defRPr sz="2100" b="1">
                <a:solidFill>
                  <a:srgbClr val="F7F9FC"/>
                </a:solidFill>
              </a:defRPr>
            </a:pPr>
            <a:r>
              <a:rPr sz="2100" b="1">
                <a:solidFill>
                  <a:srgbClr val="F7F9FC"/>
                </a:solidFill>
              </a:rPr>
              <a:t>precisa ser tão inteligente quanto a missão.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F9CCA-D5B5-4E9A-9502-7F91F9F8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5716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D09D8-9A19-4788-AC28-75EC1FB4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81425"/>
            <a:ext cx="1304925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0B13"/>
                </a:solidFill>
              </a:defRPr>
            </a:pPr>
            <a:r>
              <a:rPr sz="975" b="1">
                <a:solidFill>
                  <a:srgbClr val="080B13"/>
                </a:solidFill>
              </a:rPr>
              <a:t>PITCH DE PRODUTO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83E808-2D1B-4CD6-A2D3-20ECEFA3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619125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4ADBD"/>
                </a:solidFill>
              </a:defRPr>
            </a:pPr>
            <a:r>
              <a:rPr sz="1500" b="0">
                <a:solidFill>
                  <a:srgbClr val="A4ADBD"/>
                </a:solidFill>
              </a:rPr>
              <a:t>Monitoramento operacional + gestão de links + suporte em uma única camada.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401F1-6D92-45E3-A7C6-82253079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14400"/>
            <a:ext cx="2857500" cy="4000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51A27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C2361F-5026-4634-833D-8B3462CB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257300"/>
            <a:ext cx="1333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F36B"/>
                </a:solidFill>
              </a:defRPr>
            </a:pPr>
            <a:r>
              <a:rPr sz="1050" b="1">
                <a:solidFill>
                  <a:srgbClr val="B6F36B"/>
                </a:solidFill>
              </a:rPr>
              <a:t>A TESE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34AA9C-EFA1-43C6-9649-763EA385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000250" cy="21907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7F9FC"/>
                </a:solidFill>
              </a:defRPr>
            </a:pPr>
            <a:r>
              <a:rPr sz="2700" b="1">
                <a:solidFill>
                  <a:srgbClr val="F7F9FC"/>
                </a:solidFill>
              </a:rPr>
              <a:t>Zabbix</a:t>
            </a:r>
          </a:p>
          <a:p xmlns:a="http://schemas.openxmlformats.org/drawingml/2006/main">
            <a:pPr>
              <a:defRPr sz="2700" b="1">
                <a:solidFill>
                  <a:srgbClr val="F7F9FC"/>
                </a:solidFill>
              </a:defRPr>
            </a:pPr>
            <a:r>
              <a:rPr sz="2700" b="1">
                <a:solidFill>
                  <a:srgbClr val="F7F9FC"/>
                </a:solidFill>
              </a:rPr>
              <a:t>coleta.</a:t>
            </a:r>
          </a:p>
          <a:p xmlns:a="http://schemas.openxmlformats.org/drawingml/2006/main">
            <a:pPr>
              <a:defRPr sz="2700" b="1">
                <a:solidFill>
                  <a:srgbClr val="F7F9FC"/>
                </a:solidFill>
              </a:defRPr>
            </a:pPr>
            <a:r>
              <a:rPr sz="2700" b="1">
                <a:solidFill>
                  <a:srgbClr val="F7F9FC"/>
                </a:solidFill>
              </a:rPr>
              <a:t>HealthLink</a:t>
            </a:r>
          </a:p>
          <a:p xmlns:a="http://schemas.openxmlformats.org/drawingml/2006/main">
            <a:pPr>
              <a:defRPr sz="2700" b="1">
                <a:solidFill>
                  <a:srgbClr val="F7F9FC"/>
                </a:solidFill>
              </a:defRPr>
            </a:pPr>
            <a:r>
              <a:rPr sz="2700" b="1">
                <a:solidFill>
                  <a:srgbClr val="F7F9FC"/>
                </a:solidFill>
              </a:rPr>
              <a:t>interpreta</a:t>
            </a:r>
          </a:p>
          <a:p xmlns:a="http://schemas.openxmlformats.org/drawingml/2006/main">
            <a:pPr>
              <a:defRPr sz="2700" b="1">
                <a:solidFill>
                  <a:srgbClr val="F7F9FC"/>
                </a:solidFill>
              </a:defRPr>
            </a:pPr>
            <a:r>
              <a:rPr sz="2700" b="1">
                <a:solidFill>
                  <a:srgbClr val="F7F9FC"/>
                </a:solidFill>
              </a:rPr>
              <a:t>e 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725B7-2D39-4352-8E33-819CBEF1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3810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4ADBD"/>
                </a:solidFill>
              </a:defRPr>
            </a:pPr>
            <a:r>
              <a:rPr sz="1125" b="0">
                <a:solidFill>
                  <a:srgbClr val="A4ADBD"/>
                </a:solidFill>
              </a:rPr>
              <a:t>Apresentação para decisão</a:t>
            </a:r>
          </a:p>
        </p:txBody>
      </p:sp>
    </p:spTree>
    <p:extLst>
      <p:ext uri="{BB962C8B-B14F-4D97-AF65-F5344CB8AC3E}">
        <p14:creationId xmlns:p14="http://schemas.microsoft.com/office/powerpoint/2010/main" val="5351910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B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67BB1B-39EC-44ED-AF50-9CAF715E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O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8C0C8-6BB3-4744-96E9-F58A9A13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723900"/>
          </a:xfrm>
          <a:prstGeom xmlns:a="http://schemas.openxmlformats.org/drawingml/2006/main" prst="roundRect">
            <a:avLst>
              <a:gd name="adj" fmla="val 1578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7F9FC"/>
                </a:solidFill>
              </a:defRPr>
            </a:pPr>
            <a:r>
              <a:rPr sz="2700" b="1">
                <a:solidFill>
                  <a:srgbClr val="F7F9FC"/>
                </a:solidFill>
              </a:rPr>
              <a:t>Quando uma unidade móvel para, o custo aparece antes do alerta.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DBB4E-4698-4E69-B310-7F8A1C0A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4ADBD"/>
                </a:solidFill>
              </a:defRPr>
            </a:pPr>
            <a:r>
              <a:rPr sz="1350" b="0">
                <a:solidFill>
                  <a:srgbClr val="A4ADBD"/>
                </a:solidFill>
              </a:rPr>
              <a:t>O time precisa descobrir rápido: qual unidade, qual link, qual causa e qual 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A0971-6CD3-416D-90F3-605C65B8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238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51A27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E318C-9A72-4C49-B425-CFCA6D2E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17D04-FDC3-4A47-B206-A3111B07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43200"/>
            <a:ext cx="25908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Dado demais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04405-5B8D-49B6-81F9-58954153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2781300" cy="971550"/>
          </a:xfrm>
          <a:prstGeom xmlns:a="http://schemas.openxmlformats.org/drawingml/2006/main" prst="roundRect">
            <a:avLst>
              <a:gd name="adj" fmla="val 1176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Hosts, itens, triggers e eventos em camadas técnicas.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4D7B2-3429-4168-9AC6-C51910D8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3238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51A27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4004B-EA56-4311-A895-8483D17C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E8C6F-3C8F-4879-AE83-86833BB6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43200"/>
            <a:ext cx="25908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Contexto de menos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4E5D5-5F86-4EED-A4E9-8649022B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81350"/>
            <a:ext cx="2781300" cy="971550"/>
          </a:xfrm>
          <a:prstGeom xmlns:a="http://schemas.openxmlformats.org/drawingml/2006/main" prst="roundRect">
            <a:avLst>
              <a:gd name="adj" fmla="val 1176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O alerta não nasce com unidade, missão, rota e impacto.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660D3-4822-40A9-9872-C0471BD9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71750"/>
            <a:ext cx="3238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51A27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0E7089-1FD7-4BCF-994B-C1D27FD0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00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5C8ED-2543-4CBA-98EE-4302C692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43200"/>
            <a:ext cx="25908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Ação fragmentada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4DA79-7706-4E8D-805C-ACDDCE60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81350"/>
            <a:ext cx="2781300" cy="971550"/>
          </a:xfrm>
          <a:prstGeom xmlns:a="http://schemas.openxmlformats.org/drawingml/2006/main" prst="roundRect">
            <a:avLst>
              <a:gd name="adj" fmla="val 1176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Diagnóstico, inventário e suporte vivem em fluxos separados.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4A3F3E-040D-4813-8D70-81D26B35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952500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6F36B"/>
                </a:solidFill>
              </a:defRPr>
            </a:pPr>
            <a:r>
              <a:rPr sz="1950" b="1">
                <a:solidFill>
                  <a:srgbClr val="B6F36B"/>
                </a:solidFill>
              </a:rPr>
              <a:t>A oportunidade: transformar telemetria em decisão operacional.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B499A0-AE21-4831-954E-9027EFBC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PROBLEMA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DB8427-B5ED-47FE-88F4-0231519B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E089E6-8385-4E9F-8731-5C34C365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HEALTHLINK SENTINEL  /  PITCH 2026</a:t>
            </a:r>
          </a:p>
        </p:txBody>
      </p:sp>
    </p:spTree>
    <p:extLst>
      <p:ext uri="{BB962C8B-B14F-4D97-AF65-F5344CB8AC3E}">
        <p14:creationId xmlns:p14="http://schemas.microsoft.com/office/powerpoint/2010/main" val="6293413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B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98A12-7CD3-413F-BCBB-7B60FC42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A SOLUÇÃO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B5729-E2F2-4DBF-8A2E-F88D8E79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723900"/>
          </a:xfrm>
          <a:prstGeom xmlns:a="http://schemas.openxmlformats.org/drawingml/2006/main" prst="roundRect">
            <a:avLst>
              <a:gd name="adj" fmla="val 1578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7F9FC"/>
                </a:solidFill>
              </a:defRPr>
            </a:pPr>
            <a:r>
              <a:rPr sz="2700" b="1">
                <a:solidFill>
                  <a:srgbClr val="F7F9FC"/>
                </a:solidFill>
              </a:rPr>
              <a:t>Uma camada operacional construída sobre o investimento que já existe.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1DC8B-21F8-4738-AB79-9C987A8B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4ADBD"/>
                </a:solidFill>
              </a:defRPr>
            </a:pPr>
            <a:r>
              <a:rPr sz="1350" b="0">
                <a:solidFill>
                  <a:srgbClr val="A4ADBD"/>
                </a:solidFill>
              </a:rPr>
              <a:t>O Zabbix continua coletando. O HealthLink conecta dados, pessoas e ações.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80783-9D9B-4D75-8A19-B9EAD255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29000"/>
            <a:ext cx="18097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65E7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1C53A-0A43-4282-BFBD-B25A1D51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16192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B6F36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D122F-CEBC-4B59-9E4D-171877DC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0764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A27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64792-E714-4270-BB97-0D32E4CD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1333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4ADBD"/>
                </a:solidFill>
              </a:defRPr>
            </a:pPr>
            <a:r>
              <a:rPr sz="1050" b="1">
                <a:solidFill>
                  <a:srgbClr val="A4ADBD"/>
                </a:solidFill>
              </a:rPr>
              <a:t>FONTES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A9D08-179D-4501-B30A-10C639FC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81375"/>
            <a:ext cx="1524000" cy="781050"/>
          </a:xfrm>
          <a:prstGeom xmlns:a="http://schemas.openxmlformats.org/drawingml/2006/main" prst="roundRect">
            <a:avLst>
              <a:gd name="adj" fmla="val 1463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Zabbix</a:t>
            </a:r>
          </a:p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Starlink</a:t>
            </a:r>
          </a:p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MikroTik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30FCC-DC4A-4E15-9FDE-EC019900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304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B6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24E3F-6DF3-460E-A92B-75876FAD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57500"/>
            <a:ext cx="2190750" cy="647700"/>
          </a:xfrm>
          <a:prstGeom xmlns:a="http://schemas.openxmlformats.org/drawingml/2006/main" prst="roundRect">
            <a:avLst>
              <a:gd name="adj" fmla="val 1764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0B13"/>
                </a:solidFill>
              </a:defRPr>
            </a:pPr>
            <a:r>
              <a:rPr sz="2250" b="1">
                <a:solidFill>
                  <a:srgbClr val="080B13"/>
                </a:solidFill>
              </a:rPr>
              <a:t>HEALTHLINK</a:t>
            </a:r>
          </a:p>
          <a:p xmlns:a="http://schemas.openxmlformats.org/drawingml/2006/main">
            <a:pPr>
              <a:defRPr sz="2250" b="1">
                <a:solidFill>
                  <a:srgbClr val="080B13"/>
                </a:solidFill>
              </a:defRPr>
            </a:pPr>
            <a:r>
              <a:rPr sz="2250" b="1">
                <a:solidFill>
                  <a:srgbClr val="080B13"/>
                </a:solidFill>
              </a:rPr>
              <a:t>SENTINEL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18995-527C-4002-8D81-34CF6BD5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14750"/>
            <a:ext cx="228600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0B13"/>
                </a:solidFill>
              </a:defRPr>
            </a:pPr>
            <a:r>
              <a:rPr sz="1200" b="1">
                <a:solidFill>
                  <a:srgbClr val="080B13"/>
                </a:solidFill>
              </a:rPr>
              <a:t>normaliza • correlaciona</a:t>
            </a:r>
          </a:p>
          <a:p xmlns:a="http://schemas.openxmlformats.org/drawingml/2006/main">
            <a:pPr>
              <a:defRPr sz="1200" b="1">
                <a:solidFill>
                  <a:srgbClr val="080B13"/>
                </a:solidFill>
              </a:defRPr>
            </a:pPr>
            <a:r>
              <a:rPr sz="1200" b="1">
                <a:solidFill>
                  <a:srgbClr val="080B13"/>
                </a:solidFill>
              </a:rPr>
              <a:t>projeta • audita • orienta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6E395E-7A40-4ED1-ABA3-D6CF73CF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14625"/>
            <a:ext cx="22669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A27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0F7E0-9CAB-4F83-88AD-CE53C10C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48000"/>
            <a:ext cx="14287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4ADBD"/>
                </a:solidFill>
              </a:defRPr>
            </a:pPr>
            <a:r>
              <a:rPr sz="1050" b="1">
                <a:solidFill>
                  <a:srgbClr val="A4ADBD"/>
                </a:solidFill>
              </a:rPr>
              <a:t>RESULTADO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5D3FC8-4E7B-4C8A-98A7-136CA0D4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81375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NOC</a:t>
            </a:r>
          </a:p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Suporte</a:t>
            </a:r>
          </a:p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Gestão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6822BC-1D2D-41BF-A5A9-5CFFE1B4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SOLUÇÃO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B1917E-4BFD-42CF-9B28-AFCAE228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F3B2D7-7E1B-40F8-9990-947584D3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HEALTHLINK SENTINEL  /  PITCH 2026</a:t>
            </a:r>
          </a:p>
        </p:txBody>
      </p:sp>
    </p:spTree>
    <p:extLst>
      <p:ext uri="{BB962C8B-B14F-4D97-AF65-F5344CB8AC3E}">
        <p14:creationId xmlns:p14="http://schemas.microsoft.com/office/powerpoint/2010/main" val="7161416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B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CD255B-811E-47E0-BFF8-CD639FC3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O PRODUTO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D19C2-2666-412E-8DF7-D49E452C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723900"/>
          </a:xfrm>
          <a:prstGeom xmlns:a="http://schemas.openxmlformats.org/drawingml/2006/main" prst="roundRect">
            <a:avLst>
              <a:gd name="adj" fmla="val 1578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7F9FC"/>
                </a:solidFill>
              </a:defRPr>
            </a:pPr>
            <a:r>
              <a:rPr sz="2700" b="1">
                <a:solidFill>
                  <a:srgbClr val="F7F9FC"/>
                </a:solidFill>
              </a:rPr>
              <a:t>Dois módulos, uma visão de operação.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F8722-8372-4B3B-83A4-DFAF276D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4ADBD"/>
                </a:solidFill>
              </a:defRPr>
            </a:pPr>
            <a:r>
              <a:rPr sz="1350" b="0">
                <a:solidFill>
                  <a:srgbClr val="A4ADBD"/>
                </a:solidFill>
              </a:rPr>
              <a:t>A arquitetura atende tanto a infraestrutura corporativa quanto a conectividade em campo.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38790-3C0C-46FD-9E0A-D9A3BFB2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51A27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1DD18-F30A-4781-80EF-6E4D03EA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E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D453C-85BA-4141-A175-6F3524A6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47950"/>
            <a:ext cx="43053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01  Infraestrutura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A0E11-3485-4237-9F63-51DBC0DB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4495800" cy="163830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NOC, mapa, filtros por tipo/situação/UF, alertas, inventário, relatórios, RBAC, auditoria e histórico.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9AD9B-9AA5-4296-87D8-5ACD382A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76500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51A27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1B7D9-F9FD-4251-AFC3-DB6927C7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05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2FFE7-9A23-46A1-AFBC-A636B537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47950"/>
            <a:ext cx="43053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02  Unidades móveis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BF6BF-76EF-492E-86F8-0FEB3208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86100"/>
            <a:ext cx="4495800" cy="163830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Links, Starlink, agente local, localização, cobertura/obstrução, diagnóstico e saúde do coletor.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201E54-4448-43E1-9C17-49C34E2E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66800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7F9FC"/>
                </a:solidFill>
              </a:defRPr>
            </a:pPr>
            <a:r>
              <a:rPr sz="1725" b="1">
                <a:solidFill>
                  <a:srgbClr val="F7F9FC"/>
                </a:solidFill>
              </a:rPr>
              <a:t>Um produto com dois pontos de entrada para o mesmo objetivo: manter a missão operacional.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BC3DC0-68DC-4334-AA25-D9BD8066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PRODUTO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D67F8D-A664-4B12-ABF5-EE9B455D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EE920B-FBD8-4A7E-B75E-E7DD8E5E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HEALTHLINK SENTINEL  /  PITCH 2026</a:t>
            </a:r>
          </a:p>
        </p:txBody>
      </p:sp>
    </p:spTree>
    <p:extLst>
      <p:ext uri="{BB962C8B-B14F-4D97-AF65-F5344CB8AC3E}">
        <p14:creationId xmlns:p14="http://schemas.microsoft.com/office/powerpoint/2010/main" val="12210848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B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161D77-7409-4268-943D-ECEF9A2F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MÓDULO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0173C-2783-4EC7-9079-9A6EABE0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723900"/>
          </a:xfrm>
          <a:prstGeom xmlns:a="http://schemas.openxmlformats.org/drawingml/2006/main" prst="roundRect">
            <a:avLst>
              <a:gd name="adj" fmla="val 1578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7F9FC"/>
                </a:solidFill>
              </a:defRPr>
            </a:pPr>
            <a:r>
              <a:rPr sz="2700" b="1">
                <a:solidFill>
                  <a:srgbClr val="F7F9FC"/>
                </a:solidFill>
              </a:rPr>
              <a:t>Infraestrutura que fala a linguagem do negócio.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B19FA-D52F-4873-8D4D-738AF910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4ADBD"/>
                </a:solidFill>
              </a:defRPr>
            </a:pPr>
            <a:r>
              <a:rPr sz="1350" b="0">
                <a:solidFill>
                  <a:srgbClr val="A4ADBD"/>
                </a:solidFill>
              </a:rPr>
              <a:t>A equipe não precisa mais começar pelo host: começa pela unidade e pelo impacto.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27ec2a71d4694"/>
          <a:srcRect xmlns:a="http://schemas.openxmlformats.org/drawingml/2006/main" l="0" t="31" r="0" b="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381250"/>
            <a:ext cx="5334000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3A2A0-39F9-445B-BA3B-415FA296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50292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151A27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023C4-8A4F-445A-BDCA-F912F661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09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E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A696E-82B4-430A-A22D-D88E51F9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52700"/>
            <a:ext cx="4381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Mapa operacional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05850-4998-48B4-B3BF-918A51A5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90850"/>
            <a:ext cx="4572000" cy="352425"/>
          </a:xfrm>
          <a:prstGeom xmlns:a="http://schemas.openxmlformats.org/drawingml/2006/main" prst="roundRect">
            <a:avLst>
              <a:gd name="adj" fmla="val 3243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Brasil, UF, unidade e pior estado consolidado entre equipamentos.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DB9248-7163-4CFD-B9A2-1B868BBE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67125"/>
            <a:ext cx="50292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151A27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73458-3CCA-4987-BA4B-7B6969DE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95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C59E60-0D0F-4726-8CDF-51BD0F2E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38575"/>
            <a:ext cx="4381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Alertas e relatórios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B6DE9B-E978-435E-8B5C-618C2C7A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76725"/>
            <a:ext cx="4572000" cy="352425"/>
          </a:xfrm>
          <a:prstGeom xmlns:a="http://schemas.openxmlformats.org/drawingml/2006/main" prst="roundRect">
            <a:avLst>
              <a:gd name="adj" fmla="val 3243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Incidentes ativos/resolvidos, severidade, reconhecimento, tempo médio e impressão.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442704-0657-48F2-83C0-817A3E13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50292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151A27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A17F3-5751-48EC-A7EF-C4334CFC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81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85844-DDB3-4A37-B04A-EB08BFDE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24450"/>
            <a:ext cx="4381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Governança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36B46-F2AE-4CD3-B2A4-3BAAFC00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62600"/>
            <a:ext cx="4572000" cy="352425"/>
          </a:xfrm>
          <a:prstGeom xmlns:a="http://schemas.openxmlformats.org/drawingml/2006/main" prst="roundRect">
            <a:avLst>
              <a:gd name="adj" fmla="val 3243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RBAC, isolamento por cliente, auditoria e histórico preservado.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D2868-5EDC-4A25-A5D7-1F353BA5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MÓDULO 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ED92B4-9BD0-4938-BD8A-23500794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45AEB1-17D8-44CA-A448-27C88E07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HEALTHLINK SENTINEL  /  PITCH 2026</a:t>
            </a:r>
          </a:p>
        </p:txBody>
      </p:sp>
    </p:spTree>
    <p:extLst>
      <p:ext uri="{BB962C8B-B14F-4D97-AF65-F5344CB8AC3E}">
        <p14:creationId xmlns:p14="http://schemas.microsoft.com/office/powerpoint/2010/main" val="10579258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B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6E9E5F-4677-4599-8E0F-F3F7EC03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MÓDULO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C8A50-998F-413F-A238-D0C7F600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723900"/>
          </a:xfrm>
          <a:prstGeom xmlns:a="http://schemas.openxmlformats.org/drawingml/2006/main" prst="roundRect">
            <a:avLst>
              <a:gd name="adj" fmla="val 1578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7F9FC"/>
                </a:solidFill>
              </a:defRPr>
            </a:pPr>
            <a:r>
              <a:rPr sz="2700" b="1">
                <a:solidFill>
                  <a:srgbClr val="F7F9FC"/>
                </a:solidFill>
              </a:rPr>
              <a:t>Unidades móveis com um agente dentro da rede.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78A99-9784-4EAD-B6D9-70C0DDA5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4ADBD"/>
                </a:solidFill>
              </a:defRPr>
            </a:pPr>
            <a:r>
              <a:rPr sz="1350" b="0">
                <a:solidFill>
                  <a:srgbClr val="A4ADBD"/>
                </a:solidFill>
              </a:rPr>
              <a:t>A operação central enxerga a unidade sem precisar acessar diretamente a antena ou o MikroTik.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2834152f04959"/>
          <a:srcRect xmlns:a="http://schemas.openxmlformats.org/drawingml/2006/main" l="0" t="24101" r="0" b="241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428875"/>
            <a:ext cx="5334000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1BB39-9792-4569-990C-E485D9D9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28875"/>
            <a:ext cx="50292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151A27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338FD-89D3-4CCB-BE8B-14976321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57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6E625-4826-41B3-B236-C66B0BF4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00325"/>
            <a:ext cx="4381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Agente local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61518-FA34-423B-A273-EE719680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38475"/>
            <a:ext cx="4572000" cy="352425"/>
          </a:xfrm>
          <a:prstGeom xmlns:a="http://schemas.openxmlformats.org/drawingml/2006/main" prst="roundRect">
            <a:avLst>
              <a:gd name="adj" fmla="val 3243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Heartbeat, versão, última coleta, fila local, retry e atualização por SHA-256.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D3CB4-ADA9-400C-84BA-0C5BEC58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50292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151A27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03D2E-42A5-4F94-8C91-1D75ECB7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43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7B326-B945-4C82-8A62-FA588B32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86200"/>
            <a:ext cx="4381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Starlink + MikroTik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E9F05-0F23-4840-98F4-DD9E9C47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24350"/>
            <a:ext cx="4572000" cy="352425"/>
          </a:xfrm>
          <a:prstGeom xmlns:a="http://schemas.openxmlformats.org/drawingml/2006/main" prst="roundRect">
            <a:avLst>
              <a:gd name="adj" fmla="val 3243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Telemetria específica da antena, caminho WAN e interfaces sem misturar fontes.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50C941-0B13-4002-8A7D-100B99CF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00625"/>
            <a:ext cx="50292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151A27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06E04-3666-4F03-B0FA-28F9C3BC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29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E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5A0F67-9EB9-442C-B404-2AD96A51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72075"/>
            <a:ext cx="4381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Suporte orientado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D19453-1F16-4BD2-90ED-5C88C745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10225"/>
            <a:ext cx="4572000" cy="352425"/>
          </a:xfrm>
          <a:prstGeom xmlns:a="http://schemas.openxmlformats.org/drawingml/2006/main" prst="roundRect">
            <a:avLst>
              <a:gd name="adj" fmla="val 3243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Ping, tracert, origem da métrica e evidência para o atendimento.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F8A6AD-06FC-4A9B-8FC1-E6AFA39B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MÓDULO 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ADDB7D-16F9-4482-B6EB-AEFD941A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C31338-D2AF-4A89-A5FE-6CD798DD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HEALTHLINK SENTINEL  /  PITCH 2026</a:t>
            </a:r>
          </a:p>
        </p:txBody>
      </p:sp>
    </p:spTree>
    <p:extLst>
      <p:ext uri="{BB962C8B-B14F-4D97-AF65-F5344CB8AC3E}">
        <p14:creationId xmlns:p14="http://schemas.microsoft.com/office/powerpoint/2010/main" val="14944799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B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1466BD-E111-4A56-B0B5-560D90BD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INTEGRAÇÃO STARLINK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08A76-2499-4953-9901-F7FA5CD7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723900"/>
          </a:xfrm>
          <a:prstGeom xmlns:a="http://schemas.openxmlformats.org/drawingml/2006/main" prst="roundRect">
            <a:avLst>
              <a:gd name="adj" fmla="val 1578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7F9FC"/>
                </a:solidFill>
              </a:defRPr>
            </a:pPr>
            <a:r>
              <a:rPr sz="2700" b="1">
                <a:solidFill>
                  <a:srgbClr val="F7F9FC"/>
                </a:solidFill>
              </a:rPr>
              <a:t>A antena deixa de ser uma caixa-preta.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F3983-0B5C-4CEA-8B66-FEE85ED1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4ADBD"/>
                </a:solidFill>
              </a:defRPr>
            </a:pPr>
            <a:r>
              <a:rPr sz="1350" b="0">
                <a:solidFill>
                  <a:srgbClr val="A4ADBD"/>
                </a:solidFill>
              </a:rPr>
              <a:t>O HealthLink transforma sinais específicos da constelação em informação operacional.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E3EDD-0480-4C17-B828-8A909BB0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953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51A27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04C754-ED3B-451D-8E74-7068475C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E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B3BDC-18AC-409E-9E12-72AC6F06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47950"/>
            <a:ext cx="43053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Visibilidade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7F5BC-B4E7-471B-81B5-9E4D99EE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4495800" cy="495300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Latência, perda, download, upload e uptime.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C5109-01DF-4A5E-B1B0-42176741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76500"/>
            <a:ext cx="4953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51A27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CE66D-7E44-40DE-96A9-21286614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05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3AEE9-6677-4F42-9F98-2DB38728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43053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Condição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701EFD-2DE5-47E2-B42D-4159593B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86100"/>
            <a:ext cx="4495800" cy="495300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Disponibilidade/cobertura, obstrução, SNR e temperatura.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B1C865-7AEA-4747-B7CB-15E9BF0E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4953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51A27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7332F-8E3D-45E2-A7A7-B279FCE3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9B667E-FCAD-4913-B05D-30532C57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9575"/>
            <a:ext cx="43053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Localização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8022B-A437-495A-8DE0-B07D2F31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57725"/>
            <a:ext cx="4495800" cy="495300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Latitude/longitude da antena e associação à unidade.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1EA13-1DC2-4226-B9BB-EE074797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48125"/>
            <a:ext cx="4953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51A27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93C968-34B8-472C-9609-DBA7425E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76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8B45B2-878B-4049-831A-20A023A4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19575"/>
            <a:ext cx="43053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Confiabilidade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39D80C-6CA7-48ED-AD77-A7EA1E6C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57725"/>
            <a:ext cx="4495800" cy="495300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Fonte, idade da amostra, N/D e estado unknown quando stale.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7B936F-A1BB-4347-AFBB-F613E77F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668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6F36B"/>
                </a:solidFill>
              </a:defRPr>
            </a:pPr>
            <a:r>
              <a:rPr sz="1350" b="1">
                <a:solidFill>
                  <a:srgbClr val="B6F36B"/>
                </a:solidFill>
              </a:rPr>
              <a:t>Já validado: agente autenticou, coletou métricas reais e enviou lote à API com fila pendente zerada.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91C7A2-77A3-42A7-9831-C4215F50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STARLINK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5EF496-AD50-42F2-ABDB-6E22B376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07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E6366D-480B-41C1-8EF0-3CB982C8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HEALTHLINK SENTINEL  /  PITCH 2026</a:t>
            </a:r>
          </a:p>
        </p:txBody>
      </p:sp>
    </p:spTree>
    <p:extLst>
      <p:ext uri="{BB962C8B-B14F-4D97-AF65-F5344CB8AC3E}">
        <p14:creationId xmlns:p14="http://schemas.microsoft.com/office/powerpoint/2010/main" val="19788938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B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55DD34-7163-48B4-9813-D48F043F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FUNCIONALIDADES NOVAS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D8F07-4C81-40C6-938F-446F1C7B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723900"/>
          </a:xfrm>
          <a:prstGeom xmlns:a="http://schemas.openxmlformats.org/drawingml/2006/main" prst="roundRect">
            <a:avLst>
              <a:gd name="adj" fmla="val 1578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7F9FC"/>
                </a:solidFill>
              </a:defRPr>
            </a:pPr>
            <a:r>
              <a:rPr sz="2700" b="1">
                <a:solidFill>
                  <a:srgbClr val="F7F9FC"/>
                </a:solidFill>
              </a:rPr>
              <a:t>O produto já saiu do conceito e ganhou operação real.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38B68-65DC-4EDB-8E13-8979AA71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4ADBD"/>
                </a:solidFill>
              </a:defRPr>
            </a:pPr>
            <a:r>
              <a:rPr sz="1350" b="0">
                <a:solidFill>
                  <a:srgbClr val="A4ADBD"/>
                </a:solidFill>
              </a:rPr>
              <a:t>As entregas recentes aumentam capacidade, escala e evidência de execução.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1AC63-90D6-46A3-9432-828AF1A2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238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51A27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D0BEB-1499-4C9D-ADA3-C36D06B8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E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02F77-911D-4D52-B746-BECDED92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52700"/>
            <a:ext cx="25908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Filtros operacionais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62420-D174-44FA-997E-BD31953B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2781300" cy="542925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Tipo de unidade, situação e UF alimentam indicadores, mapa e visão.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C670C-1494-4E8B-A823-4E113194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3238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51A27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0E4BF-448C-40EB-A6F0-8749CCD3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09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7FB64-701E-4AA7-80F4-2A087F79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52700"/>
            <a:ext cx="25908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Relatórios de incidentes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E382B-922E-49E5-8338-D5068B0C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90850"/>
            <a:ext cx="2781300" cy="542925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Filtros, indicadores, tabela auditável, atualização e impressão.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0C335-EEDA-4224-8F83-8F7ACA17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81250"/>
            <a:ext cx="3238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51A27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88FC8-32F5-4D78-840E-2EF86320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497523-9090-4779-B64D-F9E7253C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52700"/>
            <a:ext cx="25908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Visão de agentes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2A2947-AACE-4DD8-8910-817C0E05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90850"/>
            <a:ext cx="2781300" cy="542925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Agente em execução, parado, sem vínculo, versão e última coleta.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01CF94-6BBB-492E-B4E2-65C920C8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238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51A27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340A7B-635D-487F-B7E1-768D34AC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D6DB36-DEAA-454C-88FD-AC2026E1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71950"/>
            <a:ext cx="25908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Repositório do agente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8FFB73-8976-4156-A4EA-9FEFCE72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2781300" cy="542925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Publicação Windows/Linux, SHA-256, versão patch e download autenticado.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4BB7BC-0362-4B29-8B95-8AD4F476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00500"/>
            <a:ext cx="3238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51A27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CCD661-F228-4EC7-B5BA-3C1A820B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29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3896EA-B1F4-4B14-9B43-A9765B50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71950"/>
            <a:ext cx="25908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Provisionamento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AA0E76-16FC-4D5F-B1C3-EFA3669B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10100"/>
            <a:ext cx="2781300" cy="542925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Gerar agente por unidade/servidor, enrollment e fonte Starlink local.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72F497-F4FF-474C-BC20-3578F788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00500"/>
            <a:ext cx="3238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51A27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FA630E-75E4-42EA-9BF9-6303251B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29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E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234592-EECD-4B4A-80B2-3D5A5B54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71950"/>
            <a:ext cx="25908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Histórico e retenção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4D5356-48D0-4FD6-B1F3-0F52F913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10100"/>
            <a:ext cx="2781300" cy="542925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Estados preservados, telemetria stale controlada e limpeza por política.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9B65C0-E2F7-409D-8C86-82D5A16A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PROGRESSO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60F6D0-19F2-4C79-800B-8740CEC7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64FE6F-18EC-4765-9246-908751D6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HEALTHLINK SENTINEL  /  PITCH 2026</a:t>
            </a:r>
          </a:p>
        </p:txBody>
      </p:sp>
    </p:spTree>
    <p:extLst>
      <p:ext uri="{BB962C8B-B14F-4D97-AF65-F5344CB8AC3E}">
        <p14:creationId xmlns:p14="http://schemas.microsoft.com/office/powerpoint/2010/main" val="2018737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B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CB169B-9253-42E8-BED4-B3078742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DIFERENCIAL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35F19-6B8A-4B12-8116-1BAED45B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723900"/>
          </a:xfrm>
          <a:prstGeom xmlns:a="http://schemas.openxmlformats.org/drawingml/2006/main" prst="roundRect">
            <a:avLst>
              <a:gd name="adj" fmla="val 1578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7F9FC"/>
                </a:solidFill>
              </a:defRPr>
            </a:pPr>
            <a:r>
              <a:rPr sz="2700" b="1">
                <a:solidFill>
                  <a:srgbClr val="F7F9FC"/>
                </a:solidFill>
              </a:rPr>
              <a:t>O Zabbix mostra o evento. O HealthLink fecha o ciclo operacional.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51F95-66C1-4D99-9F08-280B5486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4ADBD"/>
                </a:solidFill>
              </a:defRPr>
            </a:pPr>
            <a:r>
              <a:rPr sz="1350" b="0">
                <a:solidFill>
                  <a:srgbClr val="A4ADBD"/>
                </a:solidFill>
              </a:rPr>
              <a:t>A proposta não é substituir o Zabbix: é capturar o valor que fica depois da coleta.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2DC62-4E02-4970-8434-79B82B50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43125"/>
            <a:ext cx="190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4ADBD"/>
                </a:solidFill>
              </a:defRPr>
            </a:pPr>
            <a:r>
              <a:rPr sz="1050" b="1">
                <a:solidFill>
                  <a:srgbClr val="A4ADBD"/>
                </a:solidFill>
              </a:rPr>
              <a:t>ZABBIX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B7891-4715-4DD8-9410-B22BC21F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43125"/>
            <a:ext cx="2857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F36B"/>
                </a:solidFill>
              </a:defRPr>
            </a:pPr>
            <a:r>
              <a:rPr sz="1050" b="1">
                <a:solidFill>
                  <a:srgbClr val="B6F36B"/>
                </a:solidFill>
              </a:rPr>
              <a:t>HEALTHLINK SENTINEL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0FBFD-705E-47A2-8B1E-E9152072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039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AC67B-BDAC-4F8C-BF5C-0213B500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7F9FC"/>
                </a:solidFill>
              </a:defRPr>
            </a:pPr>
            <a:r>
              <a:rPr sz="1425" b="1">
                <a:solidFill>
                  <a:srgbClr val="F7F9FC"/>
                </a:solidFill>
              </a:rPr>
              <a:t>Contexto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4DAAF-8D10-48AC-A898-1571A5D5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67000"/>
            <a:ext cx="3714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4ADBD"/>
                </a:solidFill>
              </a:defRPr>
            </a:pPr>
            <a:r>
              <a:rPr sz="1350" b="0">
                <a:solidFill>
                  <a:srgbClr val="A4ADBD"/>
                </a:solidFill>
              </a:rPr>
              <a:t>Host / trigger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D2D45-4B12-4176-8E26-E13D744A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4095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9FC"/>
                </a:solidFill>
              </a:defRPr>
            </a:pPr>
            <a:r>
              <a:rPr sz="1350" b="1">
                <a:solidFill>
                  <a:srgbClr val="F7F9FC"/>
                </a:solidFill>
              </a:rPr>
              <a:t>Unidade / impacto / missão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55E24-C23A-47DE-8DFB-C814C8FE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F5732-F948-40DD-94D9-D296A9D9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7F9FC"/>
                </a:solidFill>
              </a:defRPr>
            </a:pPr>
            <a:r>
              <a:rPr sz="1425" b="1">
                <a:solidFill>
                  <a:srgbClr val="F7F9FC"/>
                </a:solidFill>
              </a:rPr>
              <a:t>Experiência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02F344-791B-407C-9E49-20F6079A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86125"/>
            <a:ext cx="3714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4ADBD"/>
                </a:solidFill>
              </a:defRPr>
            </a:pPr>
            <a:r>
              <a:rPr sz="1350" b="0">
                <a:solidFill>
                  <a:srgbClr val="A4ADBD"/>
                </a:solidFill>
              </a:rPr>
              <a:t>Tela técnica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1A660F-CA65-413D-8366-51B9B3C4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4095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9FC"/>
                </a:solidFill>
              </a:defRPr>
            </a:pPr>
            <a:r>
              <a:rPr sz="1350" b="1">
                <a:solidFill>
                  <a:srgbClr val="F7F9FC"/>
                </a:solidFill>
              </a:rPr>
              <a:t>Mapa / detalhe / alerta / relatório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1B2CD-52A0-46A1-AC2C-418FDC2D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0C1270-EF9F-4FB5-AB24-B8F448D2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7F9FC"/>
                </a:solidFill>
              </a:defRPr>
            </a:pPr>
            <a:r>
              <a:rPr sz="1425" b="1">
                <a:solidFill>
                  <a:srgbClr val="F7F9FC"/>
                </a:solidFill>
              </a:rPr>
              <a:t>Suporte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FFA841-71A0-41BD-8635-AB6905E3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05250"/>
            <a:ext cx="3714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4ADBD"/>
                </a:solidFill>
              </a:defRPr>
            </a:pPr>
            <a:r>
              <a:rPr sz="1350" b="0">
                <a:solidFill>
                  <a:srgbClr val="A4ADBD"/>
                </a:solidFill>
              </a:rPr>
              <a:t>Leitura manual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29E0EE-D56E-40DD-BBC1-10C97F68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4095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9FC"/>
                </a:solidFill>
              </a:defRPr>
            </a:pPr>
            <a:r>
              <a:rPr sz="1350" b="1">
                <a:solidFill>
                  <a:srgbClr val="F7F9FC"/>
                </a:solidFill>
              </a:rPr>
              <a:t>Diagnóstico e evidência no mesmo fluxo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CC3319-1B45-4998-A54D-6DE0997F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D057EF-3F3D-476A-9E08-E441F254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7F9FC"/>
                </a:solidFill>
              </a:defRPr>
            </a:pPr>
            <a:r>
              <a:rPr sz="1425" b="1">
                <a:solidFill>
                  <a:srgbClr val="F7F9FC"/>
                </a:solidFill>
              </a:rPr>
              <a:t>Governança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D9CAE4-E153-4631-B1D0-205310CC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24375"/>
            <a:ext cx="3714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4ADBD"/>
                </a:solidFill>
              </a:defRPr>
            </a:pPr>
            <a:r>
              <a:rPr sz="1350" b="0">
                <a:solidFill>
                  <a:srgbClr val="A4ADBD"/>
                </a:solidFill>
              </a:rPr>
              <a:t>Configuração espalhada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DD9E51-51B1-4138-84F0-551DE55D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24375"/>
            <a:ext cx="4095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9FC"/>
                </a:solidFill>
              </a:defRPr>
            </a:pPr>
            <a:r>
              <a:rPr sz="1350" b="1">
                <a:solidFill>
                  <a:srgbClr val="F7F9FC"/>
                </a:solidFill>
              </a:rPr>
              <a:t>RBAC / multi-tenant / auditoria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F631AF-5653-405D-AD13-C5A602D1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6B5329-D967-4EB1-B1CC-42754C31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7F9FC"/>
                </a:solidFill>
              </a:defRPr>
            </a:pPr>
            <a:r>
              <a:rPr sz="1425" b="1">
                <a:solidFill>
                  <a:srgbClr val="F7F9FC"/>
                </a:solidFill>
              </a:rPr>
              <a:t>Escala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BCC762-0C0A-40ED-9919-B799BDFB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3714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4ADBD"/>
                </a:solidFill>
              </a:defRPr>
            </a:pPr>
            <a:r>
              <a:rPr sz="1350" b="0">
                <a:solidFill>
                  <a:srgbClr val="A4ADBD"/>
                </a:solidFill>
              </a:rPr>
              <a:t>Agente por unidade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55590F-E29E-417A-8937-4CA8F9DD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4095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9FC"/>
                </a:solidFill>
              </a:defRPr>
            </a:pPr>
            <a:r>
              <a:rPr sz="1350" b="1">
                <a:solidFill>
                  <a:srgbClr val="F7F9FC"/>
                </a:solidFill>
              </a:rPr>
              <a:t>Repositório / provisionamento / versões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C2FC65-A61E-4C07-97D4-E640EEE5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0F8914-1460-4D51-9875-2280A6DD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477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F36B"/>
                </a:solidFill>
              </a:defRPr>
            </a:pPr>
            <a:r>
              <a:rPr sz="1650" b="1">
                <a:solidFill>
                  <a:srgbClr val="B6F36B"/>
                </a:solidFill>
              </a:rPr>
              <a:t>O diferencial está na última milha: da informação técnica para a decisão.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658320-91E7-4EEC-9460-5D0D0D48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DIFERENCIAL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3BC9CE-F1D6-4F95-BB58-AA36610D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09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4E2A3F-DEA1-4692-BE10-3E016884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HEALTHLINK SENTINEL  /  PITCH 2026</a:t>
            </a:r>
          </a:p>
        </p:txBody>
      </p:sp>
    </p:spTree>
    <p:extLst>
      <p:ext uri="{BB962C8B-B14F-4D97-AF65-F5344CB8AC3E}">
        <p14:creationId xmlns:p14="http://schemas.microsoft.com/office/powerpoint/2010/main" val="20306227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B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702615-9A36-4DB7-B07A-249AAB2C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SEGURANÇA E GOVERNANÇA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7777F-A090-4B84-B664-84ACDE14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723900"/>
          </a:xfrm>
          <a:prstGeom xmlns:a="http://schemas.openxmlformats.org/drawingml/2006/main" prst="roundRect">
            <a:avLst>
              <a:gd name="adj" fmla="val 1578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7F9FC"/>
                </a:solidFill>
              </a:defRPr>
            </a:pPr>
            <a:r>
              <a:rPr sz="2700" b="1">
                <a:solidFill>
                  <a:srgbClr val="F7F9FC"/>
                </a:solidFill>
              </a:rPr>
              <a:t>Escalar sem perder controle.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46EF4-F6FC-4092-947F-7A769727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4ADBD"/>
                </a:solidFill>
              </a:defRPr>
            </a:pPr>
            <a:r>
              <a:rPr sz="1350" b="0">
                <a:solidFill>
                  <a:srgbClr val="A4ADBD"/>
                </a:solidFill>
              </a:rPr>
              <a:t>A plataforma foi pensada para operar dados críticos com limites claros.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5752A-7F9D-4ED5-A7AF-1A885601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476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51A27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8285D-1DA1-4469-8C2E-6B5CD961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E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BE6EC-BEDC-47C9-AB5C-F817C68A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43200"/>
            <a:ext cx="18288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RBAC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DBA23-6D9F-481E-86D6-9F4D8C63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2019300" cy="1352550"/>
          </a:xfrm>
          <a:prstGeom xmlns:a="http://schemas.openxmlformats.org/drawingml/2006/main" prst="roundRect">
            <a:avLst>
              <a:gd name="adj" fmla="val 845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Cada perfil acessa e executa apenas o necessário.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AAB54-B260-4B32-AD48-762D839D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2476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51A27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54F7F-7A6D-45F3-AB21-AA282F05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00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13338-E282-48F9-A839-299E872B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43200"/>
            <a:ext cx="18288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Multi-tenant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0C6E25-A192-4B89-81E0-4FA22F98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81350"/>
            <a:ext cx="2019300" cy="1352550"/>
          </a:xfrm>
          <a:prstGeom xmlns:a="http://schemas.openxmlformats.org/drawingml/2006/main" prst="roundRect">
            <a:avLst>
              <a:gd name="adj" fmla="val 845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Clientes e operações isolados por tenant e RLS.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F3FD8E-DBE2-440B-91D8-52DAED51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2476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51A27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E7AAF1-1F8C-40A5-A533-DCBB92E7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00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4875B0-DB71-428A-8B4C-119BB716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43200"/>
            <a:ext cx="18288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Auditoria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13DD33-F961-4C7D-99AE-3DF278BB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2019300" cy="1352550"/>
          </a:xfrm>
          <a:prstGeom xmlns:a="http://schemas.openxmlformats.org/drawingml/2006/main" prst="roundRect">
            <a:avLst>
              <a:gd name="adj" fmla="val 845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Ações, vínculos, alterações e comandos deixam evidência.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EA076E-C056-4568-9688-F650CBBB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71750"/>
            <a:ext cx="25336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51A27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452AEA-AF72-42A6-86B7-7A460C88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00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8247D7-19E0-4864-B801-F890D4AB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43200"/>
            <a:ext cx="18859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Histórico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AEAC29-1B91-4C34-A8EE-D8B0C5F6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81350"/>
            <a:ext cx="2076450" cy="1352550"/>
          </a:xfrm>
          <a:prstGeom xmlns:a="http://schemas.openxmlformats.org/drawingml/2006/main" prst="roundRect">
            <a:avLst>
              <a:gd name="adj" fmla="val 845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Incidentes, estados e telemetria preservam contexto.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678658-BAEA-4ADD-9EEA-FE9A03B6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47750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7F9FC"/>
                </a:solidFill>
              </a:defRPr>
            </a:pPr>
            <a:r>
              <a:rPr sz="1725" b="1">
                <a:solidFill>
                  <a:srgbClr val="F7F9FC"/>
                </a:solidFill>
              </a:rPr>
              <a:t>Segurança não é uma camada posterior: é parte do produto desde o MVP.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0DB957-4125-405C-BF5F-CD4B8167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GOVERNANÇA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2FD3CC-5A7D-4926-9D08-00C3069F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625ECD-2CDC-4CCC-8637-7BAF8FD7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HEALTHLINK SENTINEL  /  PITCH 2026</a:t>
            </a:r>
          </a:p>
        </p:txBody>
      </p:sp>
    </p:spTree>
    <p:extLst>
      <p:ext uri="{BB962C8B-B14F-4D97-AF65-F5344CB8AC3E}">
        <p14:creationId xmlns:p14="http://schemas.microsoft.com/office/powerpoint/2010/main" val="9526439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0B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EB2569-5F3E-433C-AA23-D2F383FD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FC5DA-20B7-4ACE-80E4-A29C8AFF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723900"/>
          </a:xfrm>
          <a:prstGeom xmlns:a="http://schemas.openxmlformats.org/drawingml/2006/main" prst="roundRect">
            <a:avLst>
              <a:gd name="adj" fmla="val 1578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7F9FC"/>
                </a:solidFill>
              </a:defRPr>
            </a:pPr>
            <a:r>
              <a:rPr sz="2700" b="1">
                <a:solidFill>
                  <a:srgbClr val="F7F9FC"/>
                </a:solidFill>
              </a:rPr>
              <a:t>A próxima vantagem é agir — com segurança e escala.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0352D-A6E9-4C85-AC6E-3637CFFF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4ADBD"/>
                </a:solidFill>
              </a:defRPr>
            </a:pPr>
            <a:r>
              <a:rPr sz="1350" b="0">
                <a:solidFill>
                  <a:srgbClr val="A4ADBD"/>
                </a:solidFill>
              </a:rPr>
              <a:t>A evolução segue o valor operacional, não uma lista de features desconectadas.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ABA45-704F-4058-BACE-C09B7FEF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E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D199C-3FFA-417E-B193-23F5624C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714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E7E0"/>
                </a:solidFill>
              </a:defRPr>
            </a:pPr>
            <a:r>
              <a:rPr sz="975" b="1">
                <a:solidFill>
                  <a:srgbClr val="65E7E0"/>
                </a:solidFill>
              </a:rPr>
              <a:t>AGORA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EFE02-3ADC-4C7D-84AA-407D088A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190750" cy="1238250"/>
          </a:xfrm>
          <a:prstGeom xmlns:a="http://schemas.openxmlformats.org/drawingml/2006/main" prst="roundRect">
            <a:avLst>
              <a:gd name="adj" fmla="val 923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7F9FC"/>
                </a:solidFill>
              </a:defRPr>
            </a:pPr>
            <a:r>
              <a:rPr sz="1425" b="1">
                <a:solidFill>
                  <a:srgbClr val="F7F9FC"/>
                </a:solidFill>
              </a:rPr>
              <a:t>Homologar agente como serviço Windows/Linux; coleta contínua, reinício e rollback.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DDDD3-F31C-49CF-8009-01ABC1B2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914650"/>
            <a:ext cx="3333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039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FDB51-F836-418C-9390-4EC2D4ED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57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9F85B-A100-448B-89D5-FE37F700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62250"/>
            <a:ext cx="1714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B454"/>
                </a:solidFill>
              </a:defRPr>
            </a:pPr>
            <a:r>
              <a:rPr sz="975" b="1">
                <a:solidFill>
                  <a:srgbClr val="FFB454"/>
                </a:solidFill>
              </a:rPr>
              <a:t>PRÓXIMO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F7633C-D087-4473-A386-34B913C6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333750"/>
            <a:ext cx="2190750" cy="1238250"/>
          </a:xfrm>
          <a:prstGeom xmlns:a="http://schemas.openxmlformats.org/drawingml/2006/main" prst="roundRect">
            <a:avLst>
              <a:gd name="adj" fmla="val 923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7F9FC"/>
                </a:solidFill>
              </a:defRPr>
            </a:pPr>
            <a:r>
              <a:rPr sz="1425" b="1">
                <a:solidFill>
                  <a:srgbClr val="F7F9FC"/>
                </a:solidFill>
              </a:rPr>
              <a:t>Comandos remotos autorizados: reiniciar, ajustar Wi‑Fi e aplicar configurações Starlink.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AABFC8-F63A-4307-A747-5742D7B2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14650"/>
            <a:ext cx="3333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039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D469C0-A83F-4CEE-AAC8-A7CA3D7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57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B998F3-E2EB-459B-B99A-054E1640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1714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ESCALA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DC5EE4-1688-4A93-9E32-144316E1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2190750" cy="1238250"/>
          </a:xfrm>
          <a:prstGeom xmlns:a="http://schemas.openxmlformats.org/drawingml/2006/main" prst="roundRect">
            <a:avLst>
              <a:gd name="adj" fmla="val 923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7F9FC"/>
                </a:solidFill>
              </a:defRPr>
            </a:pPr>
            <a:r>
              <a:rPr sz="1425" b="1">
                <a:solidFill>
                  <a:srgbClr val="F7F9FC"/>
                </a:solidFill>
              </a:rPr>
              <a:t>Políticas por grupo, atualização remota, SLA, multi-clientes e integrações.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B97F20-A180-47C6-A231-D52A36FB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914650"/>
            <a:ext cx="3333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039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DDCB41-3786-4F62-90DD-A96115FE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857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A2A00C-B84E-4C05-8CB9-06567F22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62250"/>
            <a:ext cx="1714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A8CFF"/>
                </a:solidFill>
              </a:defRPr>
            </a:pPr>
            <a:r>
              <a:rPr sz="975" b="1">
                <a:solidFill>
                  <a:srgbClr val="9A8CFF"/>
                </a:solidFill>
              </a:rPr>
              <a:t>FUTURO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12B417-E8E4-48A9-A294-950A3C1C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333750"/>
            <a:ext cx="2190750" cy="1238250"/>
          </a:xfrm>
          <a:prstGeom xmlns:a="http://schemas.openxmlformats.org/drawingml/2006/main" prst="roundRect">
            <a:avLst>
              <a:gd name="adj" fmla="val 923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7F9FC"/>
                </a:solidFill>
              </a:defRPr>
            </a:pPr>
            <a:r>
              <a:rPr sz="1425" b="1">
                <a:solidFill>
                  <a:srgbClr val="F7F9FC"/>
                </a:solidFill>
              </a:rPr>
              <a:t>IA operacional, previsão de degradação, recomendações e canais WhatsApp/Telegram.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7450C2-A043-42C3-A76C-672BE623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477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4ADBD"/>
                </a:solidFill>
              </a:defRPr>
            </a:pPr>
            <a:r>
              <a:rPr sz="1500" b="0">
                <a:solidFill>
                  <a:srgbClr val="A4ADBD"/>
                </a:solidFill>
              </a:rPr>
              <a:t>Cada etapa precisa reduzir tempo de diagnóstico, manter rastreabilidade e ampliar a capacidade de atendimento.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9B360F-0A15-4009-B4CF-A6967C40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ROADMAP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2C82F4-DB34-442D-A53E-71303CF8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11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FD10FD-0A20-4282-BA89-208FF71B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HEALTHLINK SENTINEL  /  PITCH 2026</a:t>
            </a:r>
          </a:p>
        </p:txBody>
      </p:sp>
    </p:spTree>
    <p:extLst>
      <p:ext uri="{BB962C8B-B14F-4D97-AF65-F5344CB8AC3E}">
        <p14:creationId xmlns:p14="http://schemas.microsoft.com/office/powerpoint/2010/main" val="1344725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0B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002C7-5BAD-4A2D-AF54-22DEA71C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80B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1AEC8-1D44-4516-A0B0-A033F16A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CEF6E-F135-404C-BC7C-492D8519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3810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F36B"/>
                </a:solidFill>
              </a:defRPr>
            </a:pPr>
            <a:r>
              <a:rPr sz="1050" b="1">
                <a:solidFill>
                  <a:srgbClr val="B6F36B"/>
                </a:solidFill>
              </a:rPr>
              <a:t>POR QUE AGORA?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AE9D2-FE9E-4979-AF72-FADB7EDF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572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7F9FC"/>
                </a:solidFill>
              </a:defRPr>
            </a:pPr>
            <a:r>
              <a:rPr sz="3375" b="1">
                <a:solidFill>
                  <a:srgbClr val="F7F9FC"/>
                </a:solidFill>
              </a:rPr>
              <a:t>Porque já existe produto,</a:t>
            </a:r>
          </a:p>
          <a:p xmlns:a="http://schemas.openxmlformats.org/drawingml/2006/main">
            <a:pPr>
              <a:defRPr sz="3375" b="1">
                <a:solidFill>
                  <a:srgbClr val="F7F9FC"/>
                </a:solidFill>
              </a:defRPr>
            </a:pPr>
            <a:r>
              <a:rPr sz="3375" b="1">
                <a:solidFill>
                  <a:srgbClr val="F7F9FC"/>
                </a:solidFill>
              </a:rPr>
              <a:t>integração e caminho de escala.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2B937-0866-4F54-A4C6-8DBBBD1B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6858000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4ADBD"/>
                </a:solidFill>
              </a:defRPr>
            </a:pPr>
            <a:r>
              <a:rPr sz="1875" b="0">
                <a:solidFill>
                  <a:srgbClr val="A4ADBD"/>
                </a:solidFill>
              </a:rPr>
              <a:t>A próxima decisão não é “se é pertinente”.</a:t>
            </a:r>
          </a:p>
          <a:p xmlns:a="http://schemas.openxmlformats.org/drawingml/2006/main">
            <a:pPr>
              <a:defRPr sz="1875" b="0">
                <a:solidFill>
                  <a:srgbClr val="A4ADBD"/>
                </a:solidFill>
              </a:defRPr>
            </a:pPr>
            <a:r>
              <a:rPr sz="1875" b="0">
                <a:solidFill>
                  <a:srgbClr val="A4ADBD"/>
                </a:solidFill>
              </a:rPr>
              <a:t>É onde validar primeiro.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AA67D-4590-471E-BB27-2B2403DC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1809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6C5FE-F1A8-4AB2-8F81-25D2D45D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43425"/>
            <a:ext cx="15430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0B13"/>
                </a:solidFill>
              </a:defRPr>
            </a:pPr>
            <a:r>
              <a:rPr sz="975" b="1">
                <a:solidFill>
                  <a:srgbClr val="080B13"/>
                </a:solidFill>
              </a:rPr>
              <a:t>PILOTO CONTROLADO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B5C96-FBC3-4A35-AE86-A490D009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7239000" cy="428625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9FC"/>
                </a:solidFill>
              </a:defRPr>
            </a:pPr>
            <a:r>
              <a:rPr sz="1650" b="1">
                <a:solidFill>
                  <a:srgbClr val="F7F9FC"/>
                </a:solidFill>
              </a:rPr>
              <a:t>Selecionar unidades móveis, medir tempo de diagnóstico e validar a operação de ponta a ponta.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6F677-56BF-429B-820D-797E6720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57750"/>
            <a:ext cx="219075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6F36B"/>
                </a:solidFill>
              </a:defRPr>
            </a:pPr>
            <a:r>
              <a:rPr sz="2250" b="1">
                <a:solidFill>
                  <a:srgbClr val="B6F36B"/>
                </a:solidFill>
              </a:rPr>
              <a:t>HEALTHLINK</a:t>
            </a:r>
          </a:p>
          <a:p xmlns:a="http://schemas.openxmlformats.org/drawingml/2006/main">
            <a:pPr>
              <a:defRPr sz="2250" b="1">
                <a:solidFill>
                  <a:srgbClr val="B6F36B"/>
                </a:solidFill>
              </a:defRPr>
            </a:pPr>
            <a:r>
              <a:rPr sz="2250" b="1">
                <a:solidFill>
                  <a:srgbClr val="B6F36B"/>
                </a:solidFill>
              </a:rPr>
              <a:t>SENTINEL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64E544-D5A4-470D-8982-E063A456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FECHAMENTO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3F7C69-67EB-4904-A25F-C8C03B08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BEE7B-D0CC-43C4-A9AD-6BA3F3A7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HEALTHLINK SENTINEL  /  PITCH 2026</a:t>
            </a:r>
          </a:p>
        </p:txBody>
      </p:sp>
    </p:spTree>
    <p:extLst>
      <p:ext uri="{BB962C8B-B14F-4D97-AF65-F5344CB8AC3E}">
        <p14:creationId xmlns:p14="http://schemas.microsoft.com/office/powerpoint/2010/main" val="2907538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2026-08-24T20:34:58.6660000Z</dcterms:created>
  <dcterms:modified xsi:type="dcterms:W3CDTF">2026-08-24T20:34:58.6660000Z</dcterms:modified>
</coreProperties>
</file>