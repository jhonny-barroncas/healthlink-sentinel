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2c2f273ce4213" /><Relationship Type="http://schemas.openxmlformats.org/officeDocument/2006/relationships/extended-properties" Target="/docProps/app.xml" Id="R6d4b0fcca01a495e" /><Relationship Type="http://schemas.openxmlformats.org/officeDocument/2006/relationships/officeDocument" Target="/ppt/presentation.xml" Id="Rf4723395dbfc4a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f757413cc5417f"/>
  </p:sldMasterIdLst>
  <p:notesMasterIdLst>
    <p:notesMasterId xmlns:r="http://schemas.openxmlformats.org/officeDocument/2006/relationships" r:id="R96abf00993a948d9"/>
  </p:notesMasterIdLst>
  <p:sldIdLst>
    <p:sldId xmlns:r="http://schemas.openxmlformats.org/officeDocument/2006/relationships" id="256" r:id="R28b947cb8088433b"/>
    <p:sldId xmlns:r="http://schemas.openxmlformats.org/officeDocument/2006/relationships" id="257" r:id="R9e770d55d2104cc7"/>
    <p:sldId xmlns:r="http://schemas.openxmlformats.org/officeDocument/2006/relationships" id="258" r:id="R23b3182a13b04662"/>
    <p:sldId xmlns:r="http://schemas.openxmlformats.org/officeDocument/2006/relationships" id="259" r:id="R0698b26dc485480d"/>
    <p:sldId xmlns:r="http://schemas.openxmlformats.org/officeDocument/2006/relationships" id="260" r:id="R6c0cf6d509da40aa"/>
    <p:sldId xmlns:r="http://schemas.openxmlformats.org/officeDocument/2006/relationships" id="261" r:id="Rdf18126810e442eb"/>
    <p:sldId xmlns:r="http://schemas.openxmlformats.org/officeDocument/2006/relationships" id="262" r:id="R895c570ebeb543d8"/>
    <p:sldId xmlns:r="http://schemas.openxmlformats.org/officeDocument/2006/relationships" id="263" r:id="R447679c951eb474c"/>
    <p:sldId xmlns:r="http://schemas.openxmlformats.org/officeDocument/2006/relationships" id="264" r:id="Ra48cf3f843644033"/>
    <p:sldId xmlns:r="http://schemas.openxmlformats.org/officeDocument/2006/relationships" id="265" r:id="R9a7db9bdfd114df1"/>
    <p:sldId xmlns:r="http://schemas.openxmlformats.org/officeDocument/2006/relationships" id="266" r:id="R51574dc89a544e71"/>
    <p:sldId xmlns:r="http://schemas.openxmlformats.org/officeDocument/2006/relationships" id="267" r:id="R563fa80d1da845ec"/>
    <p:sldId xmlns:r="http://schemas.openxmlformats.org/officeDocument/2006/relationships" id="268" r:id="R19a3f07fb6cd48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e84c7331244ef" /><Relationship Type="http://schemas.openxmlformats.org/officeDocument/2006/relationships/slideMaster" Target="/ppt/slideMasters/slideMaster1.xml" Id="R9cf757413cc5417f" /><Relationship Type="http://schemas.openxmlformats.org/officeDocument/2006/relationships/notesMaster" Target="/ppt/notesMasters/notesMaster1.xml" Id="R96abf00993a948d9" /><Relationship Type="http://schemas.openxmlformats.org/officeDocument/2006/relationships/presProps" Target="/ppt/presProps.xml" Id="Re33aa3cfb96c4543" /><Relationship Type="http://schemas.openxmlformats.org/officeDocument/2006/relationships/tableStyles" Target="/ppt/tableStyles.xml" Id="R501526dad3044906" /><Relationship Type="http://schemas.openxmlformats.org/officeDocument/2006/relationships/slide" Target="/ppt/slides/slide1.xml" Id="R28b947cb8088433b" /><Relationship Type="http://schemas.openxmlformats.org/officeDocument/2006/relationships/slide" Target="/ppt/slides/slide2.xml" Id="R9e770d55d2104cc7" /><Relationship Type="http://schemas.openxmlformats.org/officeDocument/2006/relationships/slide" Target="/ppt/slides/slide3.xml" Id="R23b3182a13b04662" /><Relationship Type="http://schemas.openxmlformats.org/officeDocument/2006/relationships/slide" Target="/ppt/slides/slide4.xml" Id="R0698b26dc485480d" /><Relationship Type="http://schemas.openxmlformats.org/officeDocument/2006/relationships/slide" Target="/ppt/slides/slide5.xml" Id="R6c0cf6d509da40aa" /><Relationship Type="http://schemas.openxmlformats.org/officeDocument/2006/relationships/slide" Target="/ppt/slides/slide6.xml" Id="Rdf18126810e442eb" /><Relationship Type="http://schemas.openxmlformats.org/officeDocument/2006/relationships/slide" Target="/ppt/slides/slide7.xml" Id="R895c570ebeb543d8" /><Relationship Type="http://schemas.openxmlformats.org/officeDocument/2006/relationships/slide" Target="/ppt/slides/slide8.xml" Id="R447679c951eb474c" /><Relationship Type="http://schemas.openxmlformats.org/officeDocument/2006/relationships/slide" Target="/ppt/slides/slide9.xml" Id="Ra48cf3f843644033" /><Relationship Type="http://schemas.openxmlformats.org/officeDocument/2006/relationships/slide" Target="/ppt/slides/slide10.xml" Id="R9a7db9bdfd114df1" /><Relationship Type="http://schemas.openxmlformats.org/officeDocument/2006/relationships/slide" Target="/ppt/slides/slide11.xml" Id="R51574dc89a544e71" /><Relationship Type="http://schemas.openxmlformats.org/officeDocument/2006/relationships/slide" Target="/ppt/slides/slide12.xml" Id="R563fa80d1da845ec" /><Relationship Type="http://schemas.openxmlformats.org/officeDocument/2006/relationships/slide" Target="/ppt/slides/slide13.xml" Id="R19a3f07fb6cd48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255969d1b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b6ca6fdc77406a" /><Relationship Type="http://schemas.openxmlformats.org/officeDocument/2006/relationships/notesMaster" Target="/ppt/notesMasters/notesMaster1.xml" Id="R169118426758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97a64ae01b4fef" /><Relationship Type="http://schemas.openxmlformats.org/officeDocument/2006/relationships/notesMaster" Target="/ppt/notesMasters/notesMaster1.xml" Id="R6cbed510967348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facba3556442b1" /><Relationship Type="http://schemas.openxmlformats.org/officeDocument/2006/relationships/notesMaster" Target="/ppt/notesMasters/notesMaster1.xml" Id="Rb3d23cc2b55345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a3c42b2c0f4249" /><Relationship Type="http://schemas.openxmlformats.org/officeDocument/2006/relationships/notesMaster" Target="/ppt/notesMasters/notesMaster1.xml" Id="R37e2d301afc8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496b0aef74fba" /><Relationship Type="http://schemas.openxmlformats.org/officeDocument/2006/relationships/notesMaster" Target="/ppt/notesMasters/notesMaster1.xml" Id="R71f43e25e87f41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0cdf570f745cf" /><Relationship Type="http://schemas.openxmlformats.org/officeDocument/2006/relationships/notesMaster" Target="/ppt/notesMasters/notesMaster1.xml" Id="R4fa5a05f7c1a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059819898e41c8" /><Relationship Type="http://schemas.openxmlformats.org/officeDocument/2006/relationships/notesMaster" Target="/ppt/notesMasters/notesMaster1.xml" Id="Recb5a727853f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1870fab77d4989" /><Relationship Type="http://schemas.openxmlformats.org/officeDocument/2006/relationships/notesMaster" Target="/ppt/notesMasters/notesMaster1.xml" Id="R7916cac9bbb445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657e4e7c44463b" /><Relationship Type="http://schemas.openxmlformats.org/officeDocument/2006/relationships/notesMaster" Target="/ppt/notesMasters/notesMaster1.xml" Id="Rc694944c4d1d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4b89b3e0104c1a" /><Relationship Type="http://schemas.openxmlformats.org/officeDocument/2006/relationships/notesMaster" Target="/ppt/notesMasters/notesMaster1.xml" Id="R7847e253ed0349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bc2f8506c4030" /><Relationship Type="http://schemas.openxmlformats.org/officeDocument/2006/relationships/notesMaster" Target="/ppt/notesMasters/notesMaster1.xml" Id="R21e28419fc0748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e25d6883524b02" /><Relationship Type="http://schemas.openxmlformats.org/officeDocument/2006/relationships/notesMaster" Target="/ppt/notesMasters/notesMaster1.xml" Id="Rcafde3b1ae1c4c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c7205436c9496c" /><Relationship Type="http://schemas.openxmlformats.org/officeDocument/2006/relationships/notesMaster" Target="/ppt/notesMasters/notesMaster1.xml" Id="Rbde0c012ebf049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7fec4fff94c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976a973794c09" /><Relationship Type="http://schemas.openxmlformats.org/officeDocument/2006/relationships/slideLayout" Target="/ppt/slideLayouts/slideLayout1.xml" Id="Rcc40f6adb79b41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0f6adb79b41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81587fb6c4407" /><Relationship Type="http://schemas.openxmlformats.org/officeDocument/2006/relationships/notesSlide" Target="/ppt/notesSlides/notesSlide1.xml" Id="R374e11f2913242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ef4b6af324e55" /><Relationship Type="http://schemas.openxmlformats.org/officeDocument/2006/relationships/image" Target="/ppt/media/image.jpeg" Id="Rd3227dbaa3b5414f" /><Relationship Type="http://schemas.openxmlformats.org/officeDocument/2006/relationships/image" Target="/ppt/media/image2.jpeg" Id="Rc130a34a472044d1" /><Relationship Type="http://schemas.openxmlformats.org/officeDocument/2006/relationships/notesSlide" Target="/ppt/notesSlides/notesSlide2.xml" Id="R66ab68e89bfd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2cb73fcc94ec0" /><Relationship Type="http://schemas.openxmlformats.org/officeDocument/2006/relationships/notesSlide" Target="/ppt/notesSlides/notesSlide3.xml" Id="Ra6c622864b4040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03ef54b6c43b0" /><Relationship Type="http://schemas.openxmlformats.org/officeDocument/2006/relationships/image" Target="/ppt/media/image3.jpeg" Id="R528e1fe339084958" /><Relationship Type="http://schemas.openxmlformats.org/officeDocument/2006/relationships/image" Target="/ppt/media/image4.jpeg" Id="R0019d801ac004543" /><Relationship Type="http://schemas.openxmlformats.org/officeDocument/2006/relationships/notesSlide" Target="/ppt/notesSlides/notesSlide4.xml" Id="R20c0d314dff0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e86b37e704873" /><Relationship Type="http://schemas.openxmlformats.org/officeDocument/2006/relationships/notesSlide" Target="/ppt/notesSlides/notesSlide5.xml" Id="R93443523bde7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9518d338b4e14" /><Relationship Type="http://schemas.openxmlformats.org/officeDocument/2006/relationships/image" Target="/ppt/media/image5.jpeg" Id="R20092f4366bd42df" /><Relationship Type="http://schemas.openxmlformats.org/officeDocument/2006/relationships/notesSlide" Target="/ppt/notesSlides/notesSlide6.xml" Id="R992464c44f7c42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30bca7b4a42b0" /><Relationship Type="http://schemas.openxmlformats.org/officeDocument/2006/relationships/notesSlide" Target="/ppt/notesSlides/notesSlide7.xml" Id="R1daa2dbb2cf147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dbd74d0d3490c" /><Relationship Type="http://schemas.openxmlformats.org/officeDocument/2006/relationships/notesSlide" Target="/ppt/notesSlides/notesSlide8.xml" Id="Ra2fbc1dd3caa4f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dfaaad2a3465b" /><Relationship Type="http://schemas.openxmlformats.org/officeDocument/2006/relationships/notesSlide" Target="/ppt/notesSlides/notesSlide9.xml" Id="R754aa93e28104b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16133e32f4993" /><Relationship Type="http://schemas.openxmlformats.org/officeDocument/2006/relationships/notesSlide" Target="/ppt/notesSlides/notesSlide10.xml" Id="Rffb14deb3c114c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44df5457b4bb4" /><Relationship Type="http://schemas.openxmlformats.org/officeDocument/2006/relationships/notesSlide" Target="/ppt/notesSlides/notesSlide11.xml" Id="R7697eb3da65048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9defcc69f4c9b" /><Relationship Type="http://schemas.openxmlformats.org/officeDocument/2006/relationships/notesSlide" Target="/ppt/notesSlides/notesSlide12.xml" Id="R8dde65195fc040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51dfc20f443c7" /><Relationship Type="http://schemas.openxmlformats.org/officeDocument/2006/relationships/notesSlide" Target="/ppt/notesSlides/notesSlide13.xml" Id="R35bb088a073b46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785E6-37CD-45A9-B199-1092204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00C2C-3330-41FF-9D58-30D4BF54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C0E8B-1D5B-4FBA-AF82-3B3A73F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B"/>
                </a:solidFill>
              </a:defRPr>
            </a:pPr>
            <a:r>
              <a:rPr sz="4050" b="1">
                <a:solidFill>
                  <a:srgbClr val="F4F8FB"/>
                </a:solidFill>
              </a:rPr>
              <a:t>HEALTHLINK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99670-D7F5-4172-9913-4C5A42FD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9C6D8"/>
                </a:solidFill>
              </a:defRPr>
            </a:pPr>
            <a:r>
              <a:rPr sz="4050" b="1">
                <a:solidFill>
                  <a:srgbClr val="39C6D8"/>
                </a:solidFill>
              </a:rPr>
              <a:t>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BD3CC-A39B-4717-9621-D21D53C5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239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8BAC7"/>
                </a:solidFill>
              </a:defRPr>
            </a:pPr>
            <a:r>
              <a:rPr sz="1800" b="0">
                <a:solidFill>
                  <a:srgbClr val="A8BAC7"/>
                </a:solidFill>
              </a:rPr>
              <a:t>Uma camada operacional para transformar telemetria em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A0C8B-86AC-4240-99DD-5351A9AD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57250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76B58-9C1D-4511-BCA7-59A5049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38250"/>
            <a:ext cx="2381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DOIS MÓDULOS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D940E-3566-4E26-B737-0A58DC4F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9D49A"/>
                </a:solidFill>
              </a:defRPr>
            </a:pPr>
            <a:r>
              <a:rPr sz="2550" b="1">
                <a:solidFill>
                  <a:srgbClr val="59D4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0FC57-27AE-4994-B329-42D1CAC8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Monitoramento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de infraestrutura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BDD4-5366-453D-B354-66BAF81C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2609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A9F0B-C786-4D28-AF13-E6095977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B95B"/>
                </a:solidFill>
              </a:defRPr>
            </a:pPr>
            <a:r>
              <a:rPr sz="2550" b="1">
                <a:solidFill>
                  <a:srgbClr val="F6B9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8CF38-1C42-4685-83E7-54CFBC0C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71925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Links de unidades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móveis + suporte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67DA6-9503-4912-AA76-BC07827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810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AC7"/>
                </a:solidFill>
              </a:defRPr>
            </a:pPr>
            <a:r>
              <a:rPr sz="1125" b="0">
                <a:solidFill>
                  <a:srgbClr val="A8BAC7"/>
                </a:solidFill>
              </a:rPr>
              <a:t>Apresentação executiva  |  2026</a:t>
            </a:r>
          </a:p>
        </p:txBody>
      </p:sp>
    </p:spTree>
    <p:extLst>
      <p:ext uri="{BB962C8B-B14F-4D97-AF65-F5344CB8AC3E}">
        <p14:creationId xmlns:p14="http://schemas.microsoft.com/office/powerpoint/2010/main" val="2094078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6A92B-3D40-49AF-9D49-6698B71E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 OPORTUNIDADE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4F9-4FEE-42A0-8C40-B055F2CA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Zabbix coleta muito. A operação precisa entender rápido.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E690E-781A-4972-A8EF-46256737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HealthLink Sentinel organiza o dado técnico no contexto da unidade, do link e da missão.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F4DBC-3025-4D5E-BE82-B57DC3F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9F474-12BD-4C85-AFB3-9AFA8CCB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5D415-1CD7-437C-AE9E-F67EA62F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existe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FB940-7B7C-4FAD-865F-B59EBE0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Métricas, hosts, itens, triggers e eventos distribuídos em uma camada técnica.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96F3E-08D5-449A-9699-5CBC14E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3F1D0-63E3-41C1-A5E9-62989760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71B46-9387-4C36-89D0-AF07925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falta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95D2F-4860-4792-AA95-7477A9CD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Contexto operacional: qual unidade está comprometida, por quê e qual ação vem agora.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E67A1-3733-4258-A3A5-5BED7E27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EB586-C786-40ED-B036-6E29F9E3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AA321-8CC2-4AB2-8C0F-6A6FC730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muda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9ABF9-107A-4553-9E2D-2EE7FB65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Uma visão executiva e operacional, com estado consolidado, mapa, alerta e histórico.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698EB-5282-453E-90B2-779C3DE6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Zabbix permanece como motor de coleta. A inteligência operacional pertence ao HealthLink.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27dbaa3b5414f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0a34a472044d1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2C1BA-45DF-4CBE-9EF9-02FDDB9B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E8ED7-EBFC-490F-98ED-AA3BD13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4685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FF047-6021-407E-8828-9D753AA1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POSICIONAMENTO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9AB6A-C4B3-4EB9-8865-88D40E09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HealthLink Sentinel é a camada de operação acima do Zabbix.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C2A3B-88BB-4CE7-AE77-93D3BFC1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Preserva o investimento existente e acrescenta contexto, governança e fluidez para quem decide.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259ED-9B76-4E86-896B-07692D3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23A4A-9F41-4C23-BD03-48FFBFD8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16BED-3706-4346-96C1-82AACF05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2E411-0642-423B-9A19-E81C7BF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4287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FONTES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601A5-3E05-4D6D-A33C-4166E0E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Zabbix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MikroTik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434EA-E70C-4570-B563-FB8E1B73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6843A-04F7-4B70-B764-79D54A1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HEALTHLINK</a:t>
            </a:r>
          </a:p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SENTINEL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765A0-9FF0-4B61-8688-E2F81F9D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normaliza • correlaciona</a:t>
            </a:r>
          </a:p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projeta • audita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BF1F1-D6A4-423B-BF14-1D823B7D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1BE69-2DB0-4CCF-B5C9-253FBAA0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524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E8332-B80A-4F79-937C-C32E3A23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NOC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Gestão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880B0-E611-4D24-BC18-421D1852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A integração é evolutiva: o motor existente continua; a experiência e a governança avançam.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39B84-C0B1-4961-BF65-D51D272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9538B-9774-4C2B-8C43-893C430D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9696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06AAE-5A21-442B-A03E-FE55D9F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18943-2AA1-4CF1-B21F-49204216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Monitoramento de infraestrutura com contexto operacional.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956DE-88E8-4EB2-A36E-A6D5E39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consolidada para servidores, rede, VPN, equipamentos e disponibilidade das 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B644F-A29D-44BB-A1DB-A226C1A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0FB96-E089-4982-BBD3-07818EC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6FCA-053C-498D-A473-FE87CA6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Mapa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5C892-1DA8-47E8-9C4F-85182F83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Brasil por estado, unidades e pior estado herdado entre equipamentos ativos.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71116-060A-4B19-8FA4-B117E6E5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ACFEF-6B57-4FC5-A312-F5BFED68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0F2EF-FB61-4718-9E53-E99843E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Central de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537E5-A833-48B7-BD66-048C5758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Incidentes ativos, reconhecimento, severidade, histórico e ciclo de vida.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205B5-FAF0-4532-9FC2-689891CE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CB858-0D23-47C0-B4DC-E82D7406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B254A-B05B-4CF4-AAC4-43710375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Integração governada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5E5D5-64F4-46E3-8E44-F54AA651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Hosts autorizados, sugestões de vínculo, sincronização, saúde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37E56-8A46-4FDD-96B4-1F6A5AAF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68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O operador deixa de procurar “qual host falhou?” e passa a responder “qual unidade está em risco?”.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e1fe339084958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9d801ac004543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870A8-C00A-44F6-BAE5-50148BA0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E5AE2-D988-4B71-8C1B-684A3A54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531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702EF-7946-4045-84F7-E04A364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25276-987F-4DEE-A618-FF0E2625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Diferenciais sobre o Zabbix para a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9431C-2DE9-491F-A05F-2A2F4CB9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valor está na tradução do evento técnico para uma decisão rastreável.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A7DF7-7D1D-4307-801B-0CEC84A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ZABBIX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65030-999C-4B2F-AB42-4E68423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HEALTHLINK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014E3-F310-4F6A-A98D-D3D4B845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945CF-8FFD-416F-B78F-EDDE7352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2E640-820A-47D0-97CC-E0E588C9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Host /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FB046-8FCA-4C15-AB70-F5023651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Unidade / equipamento / impacto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1A094-6A63-40AF-BEA4-D217AC74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C71E6-543D-424B-BE1E-7F654BB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Visão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7E93C-8B5E-4E81-B35A-33E42117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Telas técnicas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5AC6C-B950-4780-8754-89318D0C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Mapa + estado consolidado + detalhe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12C6B-0281-4DB4-8623-9816936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F3B92-B902-4108-AAA5-CAE18A7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EA729-240C-455C-9715-46C30063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Reconhecer problema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C2858-B84D-4713-ADBD-C6CD4F69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Diagnosticar, registrar e acompanhar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DECBB-EFC6-46BE-B55D-AD883094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57B56-4382-4F1A-9625-3F47F80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Governança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201B1-563D-434E-8000-A23BF5C7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Configuração distribuída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3C345-4196-4FB2-863F-180BBB8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RBAC, multi-tenant, auditoria e histórico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D13E8-B0CC-4450-996C-5288F1A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CE2E2-8DCD-4392-92D3-A335BDBA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Confiabilidade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82797-4D94-4A38-9284-38070AE4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Último valor disponível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9DDC7-0CC6-4FD4-984C-D6631B7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Telemetria stale vira unknown; histórico preservado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F7290-E774-481A-B606-74191FC1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E8A19-1C6C-4320-A39F-0B2A2EC1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F302A-3C94-4E10-A9E2-32C2C5C0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7919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4C2C1-B0B7-42EB-8B6A-F69899E7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DB4AB-B8AD-4175-A9C5-47009566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Gestão de links das unidades móveis + suporte.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8FE2B-BF4D-4C59-9972-D22BEDBA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específica para conectividade em campo: link, antena, caminho, agente e atendimento.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CE970-D0B1-40E6-95CB-DFA9FC4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65055-F51B-44FC-ACCB-1A61E3A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71C1-0F52-45AF-A83F-603C2B9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1D36B-367F-477D-A97E-760EC574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Plano contratado x tráfego atual; latência, perda e disponibilidade.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C594A-C7F0-4E0C-B1F4-8B97EBE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D79FD-BAC5-444B-BD3B-BE7888C3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8370F-D8F5-40E9-9B27-A346B5BA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Unidade móvel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9F9C3-BD4A-459A-9F7D-917E8CF2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Starlink como fonte primária; MikroTik como caminho e interfaces.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C68A9-9D83-446A-88EF-C3DBF58B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1E993-DBDB-414C-95AB-9243E939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B2999-6478-4A7E-93D1-EFBC8979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7BFD6-3AE6-40F4-8409-87704475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Diagnóstico de ping/tracert, origem da métrica e evidência para o chamado.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30AED-06CF-4B8E-86BB-397005AD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219325" cy="2238375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5BB9B-4390-4552-BDAF-E2EB889C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D153C-D08B-4846-8AED-DD7B9511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24125"/>
            <a:ext cx="1552575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Continuidade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F4B1D-BD26-4F96-9A45-83BFFF0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62275"/>
            <a:ext cx="1762125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local, retry, envio idempotente e telemetria stale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DB4EE-D6DC-48AC-9C3D-B1576291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A conectividade deixa de ser apenas “online/offline” e passa a ser gerenciável.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92f4366bd42df"/>
          <a:srcRect xmlns:a="http://schemas.openxmlformats.org/drawingml/2006/main" l="0" t="43920" r="0" b="43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A075C-5987-47D8-B1D5-3B06A732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6E3F9-760C-4F3A-B97E-7341DC2E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5080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A3DA3-EFB8-4865-B9C1-DB7E753D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F4537-C0BA-4AC3-A0E4-F5A8D848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Arquitetura híbrida para operar onde o servidor central não alcança.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9F8B2-42CB-4EB8-B64F-A571C753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servidor local da unidade coleta, normaliza e entrega telemetria com segurança.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5E870-10D8-4054-8450-A316C226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02378-E859-46C1-AB97-2A3805C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8D532-B4C9-4E63-B142-26915BA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6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1F601-F8E5-4F3A-8F3E-A1F083FE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1C444-4611-47E4-949E-FD66F98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HEALTHLINK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API +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723F7-C0BC-45F4-9E47-16AB574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59D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34282-5770-43FA-9E06-4B1D91E6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SERVIDOR LOCAL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agente + fila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2358A-11D1-4A82-BBB5-591FDA4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F6B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3F287-E311-4B86-8207-DCB1DB9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gRPC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7C10D-AEE7-4DCC-BDDD-EE8B3AF9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CE4E9-85EF-494B-816E-E9D0FB45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SNMP/API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EA6BE-C7CD-434E-BAD6-874EB86F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HTTPS/VPN autenticada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823EF-F3AC-4149-9B71-A0BE3485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23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LAN da unidade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B7AE1-800D-41A4-88D0-A38F1177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952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opcional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14F66-810C-455A-9681-B4FE01A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O frontend consulta apenas projeções da API — nunca acessa diretamente a rede da unidade.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A6CF5-E055-4A9D-B114-D07A0EFB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25030-45B1-4795-893D-BED44431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2608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DEF4C-CD2C-4ABD-AE39-330E3013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CONFIABILIDADE E 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CEE33-79F1-4298-8569-9334F52F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sistema evita decisões baseadas em telemetria velha ou contexto incompleto.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39E08-D50E-4579-8A99-D4262E6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As regras de confiança são parte do produto, não apenas da infraestrutura.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08DA4-DFC9-40EF-BF0E-8BE430E6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6DDB7-12AA-451C-8003-F8208A03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82A0F-016B-40AD-B725-72C80BD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 stale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52397-CE6D-47E3-B714-1AC02B26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Após 30s sem amostra: estado unknown, indicadores atuais zerados e histórico preservado.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5D2A9-E816-49A0-A553-8B51627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4A14-2F68-466C-BFFC-9AEA0D9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07477-F8DB-4C45-9A91-57DC000B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Fonte explícita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5753B-36BE-4812-AF41-01C250B7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Cada métrica preserva origem, timestamp e qualidade; campo ausente aparece como N/D.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ADF68-2846-4988-B1C2-49A15083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3462E-3B05-4FBD-AC57-280591AC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C24DC-AE37-4199-9F96-8E427752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Acesso controlado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56278-203C-44EA-9D94-41833DA7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Multi-tenant desde o MVP, RLS, RBAC, agente com identidade própria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6592D-8DBF-4F33-B1F2-FCDC929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Resultado: menos “verde falso”, menos ambiguidade e mais confiança na 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EA909-0DD9-45A7-AD08-BBB94EDB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A2DA9-02CE-4FEC-A682-CA178ADE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977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0DA72-4140-4B08-918D-51CB660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VALOR PARA A EQUIPE DE DESENVOLVIMENTO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436FB-AFFC-44F9-A495-6975C1E8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Uma plataforma que organiza evolução, integração e operação em torno do domínio.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09A0C-C145-41ED-B0C0-687A3C64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arquitetura permite ampliar fontes e módulos sem reescrever a experiência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728E7-F21A-41ED-B22A-2EC0B887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7E538-C901-4A88-A47D-8E73EFB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1F248-52CE-421F-B077-E6AC9D3B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Zabbix continua sendo aproveitado como coletor e fonte de problemas.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5529E-0097-45DE-A4B5-0BA73D6B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DCE3D-E0CD-43FC-BB2E-342D5B24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E5039-1AC2-4ABD-BF5E-A99F9BDB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Starlink, MikroTik e novos adaptadores entram por contratos normalizados.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E2F72-783A-4A63-B0B1-7DF81BCF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92EE4-3478-434D-995A-FA910C1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781A2-EB9A-4649-B593-F964163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Diagnóstico, saúde do agente, fila e sincronização são visíveis.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64D69-1567-46BB-8D4A-E125456E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CF423-BA42-4514-90AF-F6F7B60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Produto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9778F-7B5D-405B-BF3F-08F90AF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 dado técnico ganha unidade, impacto, histórico e responsabilidade.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237EC-DA9D-4DF1-A4DD-DF6E1AF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É uma camada de produto: menor dependência de leitura manual e maior capacidade de escalar 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51FE9-07D6-4C23-AE09-03426007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5C216-3D7F-4F29-AEFC-EF71DF1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8297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1F1C9-D4D4-4B11-9E5A-3855F8A8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PROPOSTA DE ENCAMINHAMENTO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F49AB-9A72-449F-B7E5-733649A1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Validar o HealthLink Sentinel como plataforma operacional em dois módulos.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0B5EC-E2B0-4301-A4D6-333A675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decisão recomendada é evoluir sobre o Zabbix, com foco em contexto, links móveis e suporte.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66554-4942-4898-A1E9-9BF46D60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6FF49-4C73-4065-863F-16423DCD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40414-D570-4045-B92A-7E55E8D8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1. Demonstrar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3C676-15B7-4456-AECB-4A85CCAB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Fluxo completo: mapa → alerta → unidade → diagnóstico →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38528-6479-4455-85E0-2899B82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1B2A2-7010-4A60-9807-C4F00DB5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2805A-D602-4DDF-909B-FF6B46BD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2. Priorizar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245DD-D232-49F8-A5B4-4B0132AB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Fechar Fase 4 do centro operacional e consolidar gestão de usuários, auditoria e relatórios.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9316A-8DBC-40CE-8B80-CBEA3B47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BBBB6-99B6-449E-8517-C73D81EB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D725F-F712-4545-83E9-62C9CDAB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3. Pilotar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B2F01-D6AF-47B4-99E3-6142AB79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Selecionar unidades móveis e medir tempo de descoberta, diagnóstico e resolução.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5839F-9806-46B6-B7A7-D5F19B10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6D8"/>
                </a:solidFill>
              </a:defRPr>
            </a:pPr>
            <a:r>
              <a:rPr sz="1275" b="1">
                <a:solidFill>
                  <a:srgbClr val="39C6D8"/>
                </a:solidFill>
              </a:rPr>
              <a:t>Mensagem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BADC1-CCAD-4DE6-81D7-D650707B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6200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Zabbix coleta.</a:t>
            </a:r>
          </a:p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HealthLink Sentinel orienta a operação.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58C2E-4240-4C31-9109-20E03424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E1C55-2200-48DC-9FCF-A06FED90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4744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784F3-B7AE-4E94-976B-B41FF49A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AGENTE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E1192-88D8-4AEF-8E1F-513D0A4C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agente é a ponte segura entre a unidade móvel e o centro de comando.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3357B-A9D0-42D8-B19E-87CF91B7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Ele coleta dentro da rede local, normaliza os dados e mantém a operação resiliente mesmo com oscilações de conectividade.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1E048-E35D-4421-B519-20C74780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A34A3-E1D1-4AD4-A923-A9B5CEA9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DB599-B55A-475E-957C-750FA24F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12041-DE7A-4553-BDC4-F06F7547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REDE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5CC3E-2704-4077-B4F0-34468AA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Servidor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A128C-EADC-45B5-8D2E-420415F2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762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A7D42-0FE2-4B39-A17B-6F27A895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F"/>
                </a:solidFill>
              </a:defRPr>
            </a:pPr>
            <a:r>
              <a:rPr sz="1350" b="1">
                <a:solidFill>
                  <a:srgbClr val="07131F"/>
                </a:solidFill>
              </a:rPr>
              <a:t>AGENTE HEALTHLINK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C0688-87CD-47E7-97BB-1E20EA9B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2095500" cy="809625"/>
          </a:xfrm>
          <a:prstGeom xmlns:a="http://schemas.openxmlformats.org/drawingml/2006/main" prst="roundRect">
            <a:avLst>
              <a:gd name="adj" fmla="val 141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consulta • valida</a:t>
            </a:r>
          </a:p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normaliza • enfileira</a:t>
            </a:r>
          </a:p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envia • confirma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84BE3-58CB-484A-B33B-201CE6A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45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D2B6E-E177-4662-8A9F-360EA07A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CENTRO DE COMANDO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7A0B9-AEBE-4863-8AA1-6C20495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estado • alerta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diagnóstico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8C451-4521-4B85-AFAD-00D9E24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E6F4-BB40-4F08-87FD-9EA00A0F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B8263-FFAF-45D8-9BE5-ED24FAE1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Resiliência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D5C65-6072-47FE-84F0-BA2940CD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87655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 e retry para não perder amostras quando a conexão oscila.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1F1C7-57F0-4EF9-9DC6-F67C78D8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8EE3C-632D-4524-B407-8CDDE45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C8202-DD2C-4823-8F35-5EF74904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300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Segurança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4B636-2768-4751-8570-2573B82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91150"/>
            <a:ext cx="287655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Identidade própria do agente, HTTPS/VPN e permissão mínima.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B9AD7-0242-4D33-98B5-A09C963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333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6D591-FCAE-4A3E-AB75-2D2D382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28218-1B68-4873-9865-75EF0AC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8EF6D-75CB-46BB-A6AB-FE6D6500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91150"/>
            <a:ext cx="287655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Saúde do coletor, última coleta e erro visíveis para o suporte.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72B471-7294-4FA6-9C18-3709658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1402C-D2B0-4694-A791-57FC859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91827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6219A-070F-43D7-B7B1-B7E37F13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INTEGRAÇÃO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35E67-65E8-4C0F-822F-7FB190D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 unidade passa a ter visibilidade de conectividade, localização e condição da antena.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5B9C3-7FBF-4D4D-B22C-72F1F6F2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integração usa o agente local e a API gRPC da Starlink para trazer dados específicos que o monitoramento tradicional não explica sozinho.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61652-B64F-40CB-AA36-F763FA17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31577-370E-41E6-88D7-5E97B4C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4C3EB-008A-4623-971E-2C21C18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Já validado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DCF98-44B4-48AF-AE8C-B2F61590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Latência, perda, tráfego, uptime, estado da antena, localização, cobertura/serviço e obstrução quando expostos pelo equipamento.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42E4B-FA50-482A-9F47-62D7B002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3B90A-561D-45C9-8074-632D2FFF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B5179-8967-4180-8AC4-72C0CEE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No suporte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6E7F4-6E18-4386-BE2E-062EC6B9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Ver origem e idade da amostra, identificar agente sem comunicação, diferenciar antena, rota, MikroTik e Zabbix.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922A-873D-4DED-B3C0-CF7D35C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6F19E-DE45-4240-BAFC-EAD27CA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8ED3A-053D-4E74-8A35-0AFEE606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Próxima evolução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5B5BE-1D84-456D-910D-1D5DADEA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Ações remotas com autorização e auditoria: reiniciar equipamento, ajustar Wi‑Fi e aplicar configurações operacionais.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9756F-FCBA-4F01-8DD9-F005E805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6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BAC7"/>
                </a:solidFill>
              </a:defRPr>
            </a:pPr>
            <a:r>
              <a:rPr sz="1425" b="1">
                <a:solidFill>
                  <a:srgbClr val="A8BAC7"/>
                </a:solidFill>
              </a:rPr>
              <a:t>Comandos remotos devem ser habilitados por escopo, confirmação e trilha de auditoria; a disponibilidade depende dos métodos expostos pelo firmware.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6CDE0-6EE5-47E1-B50D-96EDAFA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9704D-3931-4816-BB1D-9241116E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19500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AD2B8-0406-4FCA-A62B-267AB2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BENEFÍCIOS PARA 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C0B2C-12B4-4780-BDE2-15C46E5E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ganho não é apenas enxergar o link: é reduzir o tempo entre o sintoma e a 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1A781-33E2-4ADF-9A95-9F7E3C3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plataforma conecta monitoramento, diagnóstico e suporte em um fluxo único.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74560-299B-47C2-B434-8DD4F14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85E5D-737C-4129-BA57-1F7FFB0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C6D8"/>
                </a:solidFill>
              </a:defRPr>
            </a:pPr>
            <a:r>
              <a:rPr sz="1350" b="1">
                <a:solidFill>
                  <a:srgbClr val="39C6D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B6158-7B49-44DF-BB96-9EF035A4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Detectar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BE49D-B06E-4CE3-82F3-D763820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Queda, degradação, obstrução ou ausência de telemetria.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F633-9978-4738-BC41-B24569D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176D-04E2-4CB8-A23A-7EC9BD0D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CC9D3-8D1C-4617-B15D-1AB1DFF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D49A"/>
                </a:solidFill>
              </a:defRPr>
            </a:pPr>
            <a:r>
              <a:rPr sz="1350" b="1">
                <a:solidFill>
                  <a:srgbClr val="59D49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C3B4C-EF34-47E3-8E43-87A6420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Localizar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A150C-ED4A-42D8-9101-8EBAC36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Unidade, antena, rota e equipamento afetado no mapa.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9197C-3660-4FB7-85BA-B4CE2D4D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E4C1A-1620-409D-A66C-A0643911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57D63-BE71-4C2A-BF94-C8416D6C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B95B"/>
                </a:solidFill>
              </a:defRPr>
            </a:pPr>
            <a:r>
              <a:rPr sz="1350" b="1">
                <a:solidFill>
                  <a:srgbClr val="F6B95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51085-03A0-47F6-9DA5-F6EC7E9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Diagnosticar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6ADB5-F2B9-43C5-BFEB-DEF4A7A5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Ping, tracert, origem da métrica e histórico do link.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941F7-C1FD-4782-A4CB-841315C3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43FAB-9646-4A71-95C9-8B3C2613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20469-4FD3-4C32-9365-5BC0B7D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D78"/>
                </a:solidFill>
              </a:defRPr>
            </a:pPr>
            <a:r>
              <a:rPr sz="1350" b="1">
                <a:solidFill>
                  <a:srgbClr val="F06D7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94A8B-08E1-4884-883A-A082A29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518A6-3A44-4AA3-B6C1-F4B5AED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Orientar o suporte e, na evolução remota, executar comandos autorizados.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670BA-B1A4-44AD-A70E-3DC5C04A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C6D8"/>
                </a:solidFill>
              </a:defRPr>
            </a:pPr>
            <a:r>
              <a:rPr sz="1350" b="1">
                <a:solidFill>
                  <a:srgbClr val="39C6D8"/>
                </a:solidFill>
              </a:rPr>
              <a:t>Benefícios esperados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E463A-8B8E-46D5-8B43-474FDA7D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Menos deslocamentos e tentativas manuais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Diagnóstico mais rápido e baseado em evidência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Histórico completo para suporte e gestão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Escala para múltiplas unidades móveis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79EFA5-1015-4571-B998-CAD9DDED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128E3-C46F-47D6-8760-02A4FB0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6285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2026-08-18T13:59:45.4160000Z</dcterms:created>
  <dcterms:modified xsi:type="dcterms:W3CDTF">2026-08-18T13:59:45.4160000Z</dcterms:modified>
</coreProperties>
</file>