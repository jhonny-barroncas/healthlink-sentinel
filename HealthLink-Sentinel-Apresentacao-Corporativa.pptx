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EF4C6095-80D5-4D38-ACAF-3CD38DD6F2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667"/>
            </a:avLst>
          </a:prstGeom>
          <a:solidFill>
            <a:srgbClr val="07131F"/>
          </a:solidFill>
          <a:ln w="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92969DD6-BB8A-4DD5-BE1F-4011553F94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oundRect">
            <a:avLst>
              <a:gd name="adj" fmla="val 50000"/>
            </a:avLst>
          </a:prstGeom>
          <a:solidFill>
            <a:srgbClr val="39C6D8"/>
          </a:solidFill>
          <a:ln w="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5BDD1A69-9829-4C10-AD5A-2FEA89CCD512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5905500" cy="6858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050" b="1">
                <a:solidFill>
                  <a:srgbClr val="F4F8FB"/>
                </a:solidFill>
              </a:defRPr>
            </a:pPr>
            <a:r>
              <a:rPr lang="pt-BR" sz="4050" b="1" noProof="0" dirty="0">
                <a:solidFill>
                  <a:srgbClr val="F4F8FB"/>
                </a:solidFill>
              </a:rPr>
              <a:t>HEALTHLINK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0D0ED6F-7659-4DA2-B28C-8F53899E1183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5905500" cy="6858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050" b="1">
                <a:solidFill>
                  <a:srgbClr val="39C6D8"/>
                </a:solidFill>
              </a:defRPr>
            </a:pPr>
            <a:r>
              <a:rPr lang="pt-BR" sz="4050" b="1" noProof="0" dirty="0">
                <a:solidFill>
                  <a:srgbClr val="39C6D8"/>
                </a:solidFill>
              </a:rPr>
              <a:t>SENTINEL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6E8A7A91-05FA-42BC-A138-9ADD32C4D092}"/>
              </a:ext>
            </a:extLst>
          </p:cNvPr>
          <p:cNvSpPr>
            <a:spLocks noGrp="1"/>
          </p:cNvSpPr>
          <p:nvPr/>
        </p:nvSpPr>
        <p:spPr>
          <a:xfrm>
            <a:off x="723900" y="2381250"/>
            <a:ext cx="7239000" cy="40005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0">
                <a:solidFill>
                  <a:srgbClr val="A8BAC7"/>
                </a:solidFill>
              </a:defRPr>
            </a:pPr>
            <a:r>
              <a:rPr lang="pt-BR" sz="1800" b="0" noProof="0" dirty="0">
                <a:solidFill>
                  <a:srgbClr val="A8BAC7"/>
                </a:solidFill>
              </a:rPr>
              <a:t>Uma camada operacional para transformar telemetria em decisão.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CFC0BEE-027C-4BF2-B012-9D8906E43DC7}"/>
              </a:ext>
            </a:extLst>
          </p:cNvPr>
          <p:cNvSpPr>
            <a:spLocks noGrp="1"/>
          </p:cNvSpPr>
          <p:nvPr/>
        </p:nvSpPr>
        <p:spPr>
          <a:xfrm>
            <a:off x="7620000" y="857250"/>
            <a:ext cx="3429000" cy="4000500"/>
          </a:xfrm>
          <a:prstGeom prst="roundRect">
            <a:avLst>
              <a:gd name="adj" fmla="val 3333"/>
            </a:avLst>
          </a:prstGeom>
          <a:solidFill>
            <a:srgbClr val="102334"/>
          </a:solidFill>
          <a:ln w="9525">
            <a:solidFill>
              <a:srgbClr val="28485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70900FD-5669-4326-9A04-348BE8D0D67A}"/>
              </a:ext>
            </a:extLst>
          </p:cNvPr>
          <p:cNvSpPr>
            <a:spLocks noGrp="1"/>
          </p:cNvSpPr>
          <p:nvPr/>
        </p:nvSpPr>
        <p:spPr>
          <a:xfrm>
            <a:off x="7962900" y="1238250"/>
            <a:ext cx="2381250" cy="247650"/>
          </a:xfrm>
          <a:prstGeom prst="roundRect">
            <a:avLst>
              <a:gd name="adj" fmla="val 4615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39C6D8"/>
                </a:solidFill>
              </a:defRPr>
            </a:pPr>
            <a:r>
              <a:rPr lang="pt-BR" sz="1125" b="1" noProof="0" dirty="0">
                <a:solidFill>
                  <a:srgbClr val="39C6D8"/>
                </a:solidFill>
              </a:rPr>
              <a:t>DOIS MÓDULOS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2B6D2FBA-BCA4-4515-8D69-967386C23F16}"/>
              </a:ext>
            </a:extLst>
          </p:cNvPr>
          <p:cNvSpPr>
            <a:spLocks noGrp="1"/>
          </p:cNvSpPr>
          <p:nvPr/>
        </p:nvSpPr>
        <p:spPr>
          <a:xfrm>
            <a:off x="7962900" y="1809750"/>
            <a:ext cx="762000" cy="476250"/>
          </a:xfrm>
          <a:prstGeom prst="roundRect">
            <a:avLst>
              <a:gd name="adj" fmla="val 24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59D49A"/>
                </a:solidFill>
              </a:defRPr>
            </a:pPr>
            <a:r>
              <a:rPr lang="pt-BR" sz="2550" b="1" noProof="0" dirty="0">
                <a:solidFill>
                  <a:srgbClr val="59D49A"/>
                </a:solidFill>
              </a:rPr>
              <a:t>01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10DA912-2E21-4AA4-AE98-45DE8E78CA39}"/>
              </a:ext>
            </a:extLst>
          </p:cNvPr>
          <p:cNvSpPr>
            <a:spLocks noGrp="1"/>
          </p:cNvSpPr>
          <p:nvPr/>
        </p:nvSpPr>
        <p:spPr>
          <a:xfrm>
            <a:off x="7962900" y="2305050"/>
            <a:ext cx="2476500" cy="666750"/>
          </a:xfrm>
          <a:prstGeom prst="roundRect">
            <a:avLst>
              <a:gd name="adj" fmla="val 1714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F4F8FB"/>
                </a:solidFill>
              </a:defRPr>
            </a:pPr>
            <a:r>
              <a:rPr lang="pt-BR" sz="1725" b="1" noProof="0" dirty="0">
                <a:solidFill>
                  <a:srgbClr val="F4F8FB"/>
                </a:solidFill>
              </a:rPr>
              <a:t>Monitoramento</a:t>
            </a:r>
          </a:p>
          <a:p>
            <a:pPr>
              <a:defRPr sz="1725" b="1">
                <a:solidFill>
                  <a:srgbClr val="F4F8FB"/>
                </a:solidFill>
              </a:defRPr>
            </a:pPr>
            <a:r>
              <a:rPr lang="pt-BR" sz="1725" b="1" noProof="0" dirty="0">
                <a:solidFill>
                  <a:srgbClr val="F4F8FB"/>
                </a:solidFill>
              </a:rPr>
              <a:t>de infraestrutura</a:t>
            </a:r>
          </a:p>
        </p:txBody>
      </p:sp>
      <p:sp>
        <p:nvSpPr>
          <p:cNvPr id="10" name="Conector reto 9">
            <a:extLst>
              <a:ext uri="{FF2B5EF4-FFF2-40B4-BE49-F238E27FC236}">
                <a16:creationId xmlns:a16="http://schemas.microsoft.com/office/drawing/2014/main" id="{77D80F62-9393-43B2-BD97-89EB586FE16A}"/>
              </a:ext>
            </a:extLst>
          </p:cNvPr>
          <p:cNvSpPr>
            <a:spLocks noGrp="1"/>
          </p:cNvSpPr>
          <p:nvPr/>
        </p:nvSpPr>
        <p:spPr>
          <a:xfrm>
            <a:off x="7962900" y="3181350"/>
            <a:ext cx="2609850" cy="0"/>
          </a:xfrm>
          <a:prstGeom prst="line">
            <a:avLst/>
          </a:prstGeom>
          <a:ln w="19050">
            <a:solidFill>
              <a:srgbClr val="28485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2FA1F47-7409-449B-A723-1B1DED8A591F}"/>
              </a:ext>
            </a:extLst>
          </p:cNvPr>
          <p:cNvSpPr>
            <a:spLocks noGrp="1"/>
          </p:cNvSpPr>
          <p:nvPr/>
        </p:nvSpPr>
        <p:spPr>
          <a:xfrm>
            <a:off x="7962900" y="3476625"/>
            <a:ext cx="762000" cy="476250"/>
          </a:xfrm>
          <a:prstGeom prst="roundRect">
            <a:avLst>
              <a:gd name="adj" fmla="val 24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F6B95B"/>
                </a:solidFill>
              </a:defRPr>
            </a:pPr>
            <a:r>
              <a:rPr lang="pt-BR" sz="2550" b="1" noProof="0" dirty="0">
                <a:solidFill>
                  <a:srgbClr val="F6B95B"/>
                </a:solidFill>
              </a:rPr>
              <a:t>02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E079B04C-FC67-4D6B-A61F-99979B17C17A}"/>
              </a:ext>
            </a:extLst>
          </p:cNvPr>
          <p:cNvSpPr>
            <a:spLocks noGrp="1"/>
          </p:cNvSpPr>
          <p:nvPr/>
        </p:nvSpPr>
        <p:spPr>
          <a:xfrm>
            <a:off x="7962900" y="3971925"/>
            <a:ext cx="2476500" cy="666750"/>
          </a:xfrm>
          <a:prstGeom prst="roundRect">
            <a:avLst>
              <a:gd name="adj" fmla="val 1714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F4F8FB"/>
                </a:solidFill>
              </a:defRPr>
            </a:pPr>
            <a:r>
              <a:rPr lang="pt-BR" sz="1725" b="1" noProof="0" dirty="0">
                <a:solidFill>
                  <a:srgbClr val="F4F8FB"/>
                </a:solidFill>
              </a:rPr>
              <a:t>Links de unidades</a:t>
            </a:r>
          </a:p>
          <a:p>
            <a:pPr>
              <a:defRPr sz="1725" b="1">
                <a:solidFill>
                  <a:srgbClr val="F4F8FB"/>
                </a:solidFill>
              </a:defRPr>
            </a:pPr>
            <a:r>
              <a:rPr lang="pt-BR" sz="1725" b="1" noProof="0" dirty="0">
                <a:solidFill>
                  <a:srgbClr val="F4F8FB"/>
                </a:solidFill>
              </a:rPr>
              <a:t>móveis + suporte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2873D17-CE50-43F9-8316-93EEBA050024}"/>
              </a:ext>
            </a:extLst>
          </p:cNvPr>
          <p:cNvSpPr>
            <a:spLocks noGrp="1"/>
          </p:cNvSpPr>
          <p:nvPr/>
        </p:nvSpPr>
        <p:spPr>
          <a:xfrm>
            <a:off x="723900" y="5829300"/>
            <a:ext cx="3810000" cy="238125"/>
          </a:xfrm>
          <a:prstGeom prst="roundRect">
            <a:avLst>
              <a:gd name="adj" fmla="val 48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A8BAC7"/>
                </a:solidFill>
              </a:defRPr>
            </a:pPr>
            <a:r>
              <a:rPr lang="pt-BR" sz="1125" b="0" noProof="0" dirty="0">
                <a:solidFill>
                  <a:srgbClr val="A8BAC7"/>
                </a:solidFill>
              </a:rPr>
              <a:t>Apresentação executiva  |  2026</a:t>
            </a:r>
          </a:p>
        </p:txBody>
      </p:sp>
    </p:spTree>
    <p:extLst>
      <p:ext uri="{BB962C8B-B14F-4D97-AF65-F5344CB8AC3E}">
        <p14:creationId xmlns:p14="http://schemas.microsoft.com/office/powerpoint/2010/main" val="617102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D8F21361-DE2C-422D-AE96-79A9FDCA4BCC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6667500" cy="2095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9C6D8"/>
                </a:solidFill>
              </a:defRPr>
            </a:pPr>
            <a:r>
              <a:rPr lang="pt-BR" sz="975" b="1" noProof="0" dirty="0">
                <a:solidFill>
                  <a:srgbClr val="39C6D8"/>
                </a:solidFill>
              </a:rPr>
              <a:t>A OPORTUNIDADE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0C7CED7E-ECEC-4106-80D9-C9DC3213ECE6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668000" cy="6858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F4F8FB"/>
                </a:solidFill>
              </a:defRPr>
            </a:pPr>
            <a:r>
              <a:rPr lang="pt-BR" sz="2625" b="1" noProof="0" dirty="0">
                <a:solidFill>
                  <a:srgbClr val="F4F8FB"/>
                </a:solidFill>
              </a:rPr>
              <a:t>O </a:t>
            </a:r>
            <a:r>
              <a:rPr lang="pt-BR" sz="2625" b="1" noProof="0" dirty="0" err="1">
                <a:solidFill>
                  <a:srgbClr val="F4F8FB"/>
                </a:solidFill>
              </a:rPr>
              <a:t>Zabbix</a:t>
            </a:r>
            <a:r>
              <a:rPr lang="pt-BR" sz="2625" b="1" noProof="0" dirty="0">
                <a:solidFill>
                  <a:srgbClr val="F4F8FB"/>
                </a:solidFill>
              </a:rPr>
              <a:t> coleta muito. A operação precisa entender rápido.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935D7A4-ED18-4568-BF4F-52381A356C75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10096500" cy="3429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A8BAC7"/>
                </a:solidFill>
              </a:defRPr>
            </a:pPr>
            <a:r>
              <a:rPr lang="pt-BR" sz="1350" b="0" noProof="0" dirty="0">
                <a:solidFill>
                  <a:srgbClr val="A8BAC7"/>
                </a:solidFill>
              </a:rPr>
              <a:t>O </a:t>
            </a:r>
            <a:r>
              <a:rPr lang="pt-BR" sz="1350" b="0" noProof="0" dirty="0" err="1">
                <a:solidFill>
                  <a:srgbClr val="A8BAC7"/>
                </a:solidFill>
              </a:rPr>
              <a:t>HealthLink</a:t>
            </a:r>
            <a:r>
              <a:rPr lang="pt-BR" sz="1350" b="0" noProof="0" dirty="0">
                <a:solidFill>
                  <a:srgbClr val="A8BAC7"/>
                </a:solidFill>
              </a:rPr>
              <a:t> Sentinel organiza o dado técnico no contexto da unidade, do link e da missão.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903ACC3-762B-4B90-A3ED-F4513D8BBD84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3143250" cy="2000250"/>
          </a:xfrm>
          <a:prstGeom prst="roundRect">
            <a:avLst>
              <a:gd name="adj" fmla="val 5714"/>
            </a:avLst>
          </a:prstGeom>
          <a:solidFill>
            <a:srgbClr val="102334"/>
          </a:solidFill>
          <a:ln w="9525">
            <a:solidFill>
              <a:srgbClr val="28485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4412B7A7-AD83-4E41-AD46-969E7D73713B}"/>
              </a:ext>
            </a:extLst>
          </p:cNvPr>
          <p:cNvSpPr>
            <a:spLocks noGrp="1"/>
          </p:cNvSpPr>
          <p:nvPr/>
        </p:nvSpPr>
        <p:spPr>
          <a:xfrm>
            <a:off x="914400" y="2724150"/>
            <a:ext cx="133350" cy="133350"/>
          </a:xfrm>
          <a:prstGeom prst="ellipse">
            <a:avLst/>
          </a:prstGeom>
          <a:solidFill>
            <a:srgbClr val="A8BAC7"/>
          </a:solidFill>
          <a:ln w="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03C064C7-ADFB-45FF-9176-BC68C780F187}"/>
              </a:ext>
            </a:extLst>
          </p:cNvPr>
          <p:cNvSpPr>
            <a:spLocks noGrp="1"/>
          </p:cNvSpPr>
          <p:nvPr/>
        </p:nvSpPr>
        <p:spPr>
          <a:xfrm>
            <a:off x="1162050" y="2667000"/>
            <a:ext cx="247650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4F8FB"/>
                </a:solidFill>
              </a:defRPr>
            </a:pPr>
            <a:r>
              <a:rPr lang="pt-BR" sz="1650" b="1" noProof="0" dirty="0">
                <a:solidFill>
                  <a:srgbClr val="F4F8FB"/>
                </a:solidFill>
              </a:rPr>
              <a:t>O que existe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E04A970-A764-4F45-A913-57D7F4DFE127}"/>
              </a:ext>
            </a:extLst>
          </p:cNvPr>
          <p:cNvSpPr>
            <a:spLocks noGrp="1"/>
          </p:cNvSpPr>
          <p:nvPr/>
        </p:nvSpPr>
        <p:spPr>
          <a:xfrm>
            <a:off x="914400" y="3105150"/>
            <a:ext cx="2686050" cy="1219200"/>
          </a:xfrm>
          <a:prstGeom prst="roundRect">
            <a:avLst>
              <a:gd name="adj" fmla="val 9375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8BAC7"/>
                </a:solidFill>
              </a:defRPr>
            </a:pPr>
            <a:r>
              <a:rPr lang="pt-BR" sz="1200" b="0" noProof="0" dirty="0">
                <a:solidFill>
                  <a:srgbClr val="A8BAC7"/>
                </a:solidFill>
              </a:rPr>
              <a:t>Métricas, hosts, itens, triggers e eventos distribuídos em uma camada técnica.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04954450-AD75-4C33-83A6-8A2C24893944}"/>
              </a:ext>
            </a:extLst>
          </p:cNvPr>
          <p:cNvSpPr>
            <a:spLocks noGrp="1"/>
          </p:cNvSpPr>
          <p:nvPr/>
        </p:nvSpPr>
        <p:spPr>
          <a:xfrm>
            <a:off x="4524375" y="2476500"/>
            <a:ext cx="3143250" cy="2000250"/>
          </a:xfrm>
          <a:prstGeom prst="roundRect">
            <a:avLst>
              <a:gd name="adj" fmla="val 5714"/>
            </a:avLst>
          </a:prstGeom>
          <a:solidFill>
            <a:srgbClr val="102334"/>
          </a:solidFill>
          <a:ln w="9525">
            <a:solidFill>
              <a:srgbClr val="28485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4184FAEC-0637-46EC-8DB3-883B8BB35A52}"/>
              </a:ext>
            </a:extLst>
          </p:cNvPr>
          <p:cNvSpPr>
            <a:spLocks noGrp="1"/>
          </p:cNvSpPr>
          <p:nvPr/>
        </p:nvSpPr>
        <p:spPr>
          <a:xfrm>
            <a:off x="4752975" y="2724150"/>
            <a:ext cx="133350" cy="133350"/>
          </a:xfrm>
          <a:prstGeom prst="ellipse">
            <a:avLst/>
          </a:prstGeom>
          <a:solidFill>
            <a:srgbClr val="F6B95B"/>
          </a:solidFill>
          <a:ln w="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FA55DD03-6037-44E2-872F-0D01F003EAC2}"/>
              </a:ext>
            </a:extLst>
          </p:cNvPr>
          <p:cNvSpPr>
            <a:spLocks noGrp="1"/>
          </p:cNvSpPr>
          <p:nvPr/>
        </p:nvSpPr>
        <p:spPr>
          <a:xfrm>
            <a:off x="5000625" y="2667000"/>
            <a:ext cx="247650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4F8FB"/>
                </a:solidFill>
              </a:defRPr>
            </a:pPr>
            <a:r>
              <a:rPr lang="pt-BR" sz="1650" b="1" noProof="0" dirty="0">
                <a:solidFill>
                  <a:srgbClr val="F4F8FB"/>
                </a:solidFill>
              </a:rPr>
              <a:t>O que falta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C1E1373-30C9-46A7-88FD-B851CD266459}"/>
              </a:ext>
            </a:extLst>
          </p:cNvPr>
          <p:cNvSpPr>
            <a:spLocks noGrp="1"/>
          </p:cNvSpPr>
          <p:nvPr/>
        </p:nvSpPr>
        <p:spPr>
          <a:xfrm>
            <a:off x="4752975" y="3105150"/>
            <a:ext cx="2686050" cy="1219200"/>
          </a:xfrm>
          <a:prstGeom prst="roundRect">
            <a:avLst>
              <a:gd name="adj" fmla="val 9375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8BAC7"/>
                </a:solidFill>
              </a:defRPr>
            </a:pPr>
            <a:r>
              <a:rPr lang="pt-BR" sz="1200" b="0" noProof="0" dirty="0">
                <a:solidFill>
                  <a:srgbClr val="A8BAC7"/>
                </a:solidFill>
              </a:rPr>
              <a:t>Contexto operacional: qual unidade está comprometida, por quê e qual ação vem agora.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C0032C55-19E3-4200-A876-0FFCDBA33F83}"/>
              </a:ext>
            </a:extLst>
          </p:cNvPr>
          <p:cNvSpPr>
            <a:spLocks noGrp="1"/>
          </p:cNvSpPr>
          <p:nvPr/>
        </p:nvSpPr>
        <p:spPr>
          <a:xfrm>
            <a:off x="8362950" y="2476500"/>
            <a:ext cx="3143250" cy="2000250"/>
          </a:xfrm>
          <a:prstGeom prst="roundRect">
            <a:avLst>
              <a:gd name="adj" fmla="val 5714"/>
            </a:avLst>
          </a:prstGeom>
          <a:solidFill>
            <a:srgbClr val="102334"/>
          </a:solidFill>
          <a:ln w="9525">
            <a:solidFill>
              <a:srgbClr val="28485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FC671044-4A2D-4FB6-B662-0CAEDFC07E6A}"/>
              </a:ext>
            </a:extLst>
          </p:cNvPr>
          <p:cNvSpPr>
            <a:spLocks noGrp="1"/>
          </p:cNvSpPr>
          <p:nvPr/>
        </p:nvSpPr>
        <p:spPr>
          <a:xfrm>
            <a:off x="8591550" y="2724150"/>
            <a:ext cx="133350" cy="133350"/>
          </a:xfrm>
          <a:prstGeom prst="ellipse">
            <a:avLst/>
          </a:prstGeom>
          <a:solidFill>
            <a:srgbClr val="39C6D8"/>
          </a:solidFill>
          <a:ln w="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22408E7A-0CB0-4C17-AEC4-1B8064DDA05F}"/>
              </a:ext>
            </a:extLst>
          </p:cNvPr>
          <p:cNvSpPr>
            <a:spLocks noGrp="1"/>
          </p:cNvSpPr>
          <p:nvPr/>
        </p:nvSpPr>
        <p:spPr>
          <a:xfrm>
            <a:off x="8839200" y="2667000"/>
            <a:ext cx="247650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4F8FB"/>
                </a:solidFill>
              </a:defRPr>
            </a:pPr>
            <a:r>
              <a:rPr lang="pt-BR" sz="1650" b="1" noProof="0" dirty="0">
                <a:solidFill>
                  <a:srgbClr val="F4F8FB"/>
                </a:solidFill>
              </a:rPr>
              <a:t>O que muda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F0559AE-7116-4B8B-ACCF-65D3CEA0E0A3}"/>
              </a:ext>
            </a:extLst>
          </p:cNvPr>
          <p:cNvSpPr>
            <a:spLocks noGrp="1"/>
          </p:cNvSpPr>
          <p:nvPr/>
        </p:nvSpPr>
        <p:spPr>
          <a:xfrm>
            <a:off x="8591550" y="3105150"/>
            <a:ext cx="2686050" cy="1219200"/>
          </a:xfrm>
          <a:prstGeom prst="roundRect">
            <a:avLst>
              <a:gd name="adj" fmla="val 9375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8BAC7"/>
                </a:solidFill>
              </a:defRPr>
            </a:pPr>
            <a:r>
              <a:rPr lang="pt-BR" sz="1200" b="0" noProof="0" dirty="0">
                <a:solidFill>
                  <a:srgbClr val="A8BAC7"/>
                </a:solidFill>
              </a:rPr>
              <a:t>Uma visão executiva e operacional, com estado consolidado, mapa, alerta e histórico.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C63F1C59-8162-4767-B957-C26C7D6C2185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10477500" cy="419100"/>
          </a:xfrm>
          <a:prstGeom prst="roundRect">
            <a:avLst>
              <a:gd name="adj" fmla="val 2727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4F8FB"/>
                </a:solidFill>
              </a:defRPr>
            </a:pPr>
            <a:r>
              <a:rPr lang="pt-BR" sz="1800" b="1" noProof="0" dirty="0" err="1">
                <a:solidFill>
                  <a:srgbClr val="F4F8FB"/>
                </a:solidFill>
              </a:rPr>
              <a:t>Zabbix</a:t>
            </a:r>
            <a:r>
              <a:rPr lang="pt-BR" sz="1800" b="1" noProof="0" dirty="0">
                <a:solidFill>
                  <a:srgbClr val="F4F8FB"/>
                </a:solidFill>
              </a:rPr>
              <a:t> permanece como motor de coleta. A inteligência operacional pertence ao </a:t>
            </a:r>
            <a:r>
              <a:rPr lang="pt-BR" sz="1800" b="1" noProof="0" dirty="0" err="1">
                <a:solidFill>
                  <a:srgbClr val="F4F8FB"/>
                </a:solidFill>
              </a:rPr>
              <a:t>HealthLink</a:t>
            </a:r>
            <a:r>
              <a:rPr lang="pt-BR" sz="1800" b="1" noProof="0" dirty="0">
                <a:solidFill>
                  <a:srgbClr val="F4F8FB"/>
                </a:solidFill>
              </a:rPr>
              <a:t>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D7A7FF46-0892-4D16-9E4F-9D0A3F78CCB4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7625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8BAC7"/>
                </a:solidFill>
              </a:defRPr>
            </a:pPr>
            <a:r>
              <a:rPr lang="pt-BR" sz="900" b="1" noProof="0" dirty="0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8A4A551E-4470-4223-924A-51D9614C0085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8BAC7"/>
                </a:solidFill>
              </a:defRPr>
            </a:pPr>
            <a:r>
              <a:rPr lang="pt-BR" sz="900" b="1" noProof="0" dirty="0">
                <a:solidFill>
                  <a:srgbClr val="A8BA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51901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89B1B0E2-30C5-48EC-A2A6-CDD8C378ADF2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6667500" cy="2095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9C6D8"/>
                </a:solidFill>
              </a:defRPr>
            </a:pPr>
            <a:r>
              <a:rPr lang="pt-BR" sz="975" b="1" noProof="0" dirty="0">
                <a:solidFill>
                  <a:srgbClr val="39C6D8"/>
                </a:solidFill>
              </a:rPr>
              <a:t>POSICIONAMENTO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81CB02AE-3BF1-46C5-BB45-CD8AFA7B3134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668000" cy="6858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F4F8FB"/>
                </a:solidFill>
              </a:defRPr>
            </a:pPr>
            <a:r>
              <a:rPr lang="pt-BR" sz="2625" b="1" noProof="0" dirty="0" err="1">
                <a:solidFill>
                  <a:srgbClr val="F4F8FB"/>
                </a:solidFill>
              </a:rPr>
              <a:t>HealthLink</a:t>
            </a:r>
            <a:r>
              <a:rPr lang="pt-BR" sz="2625" b="1" noProof="0" dirty="0">
                <a:solidFill>
                  <a:srgbClr val="F4F8FB"/>
                </a:solidFill>
              </a:rPr>
              <a:t> Sentinel é a camada de operação acima do </a:t>
            </a:r>
            <a:r>
              <a:rPr lang="pt-BR" sz="2625" b="1" noProof="0" dirty="0" err="1">
                <a:solidFill>
                  <a:srgbClr val="F4F8FB"/>
                </a:solidFill>
              </a:rPr>
              <a:t>Zabbix</a:t>
            </a:r>
            <a:r>
              <a:rPr lang="pt-BR" sz="2625" b="1" noProof="0" dirty="0">
                <a:solidFill>
                  <a:srgbClr val="F4F8FB"/>
                </a:solidFill>
              </a:rPr>
              <a:t>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7D660DFB-4153-4E5B-880E-78411662D948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10096500" cy="3429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A8BAC7"/>
                </a:solidFill>
              </a:defRPr>
            </a:pPr>
            <a:r>
              <a:rPr lang="pt-BR" sz="1350" b="0" noProof="0" dirty="0">
                <a:solidFill>
                  <a:srgbClr val="A8BAC7"/>
                </a:solidFill>
              </a:rPr>
              <a:t>Preserva o investimento existente e acrescenta contexto, governança e fluidez para quem decide.</a:t>
            </a:r>
          </a:p>
        </p:txBody>
      </p:sp>
      <p:sp>
        <p:nvSpPr>
          <p:cNvPr id="4" name="Conector reto 3">
            <a:extLst>
              <a:ext uri="{FF2B5EF4-FFF2-40B4-BE49-F238E27FC236}">
                <a16:creationId xmlns:a16="http://schemas.microsoft.com/office/drawing/2014/main" id="{F9EBEC4E-674F-4814-AFFE-2C870CD76C2B}"/>
              </a:ext>
            </a:extLst>
          </p:cNvPr>
          <p:cNvSpPr>
            <a:spLocks noGrp="1"/>
          </p:cNvSpPr>
          <p:nvPr/>
        </p:nvSpPr>
        <p:spPr>
          <a:xfrm>
            <a:off x="2857500" y="3333750"/>
            <a:ext cx="2000250" cy="0"/>
          </a:xfrm>
          <a:prstGeom prst="line">
            <a:avLst/>
          </a:prstGeom>
          <a:ln w="38100">
            <a:solidFill>
              <a:srgbClr val="39C6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Conector reto 4">
            <a:extLst>
              <a:ext uri="{FF2B5EF4-FFF2-40B4-BE49-F238E27FC236}">
                <a16:creationId xmlns:a16="http://schemas.microsoft.com/office/drawing/2014/main" id="{7F0D904F-CAB0-458D-867A-607130152B3F}"/>
              </a:ext>
            </a:extLst>
          </p:cNvPr>
          <p:cNvSpPr>
            <a:spLocks noGrp="1"/>
          </p:cNvSpPr>
          <p:nvPr/>
        </p:nvSpPr>
        <p:spPr>
          <a:xfrm>
            <a:off x="7334250" y="3333750"/>
            <a:ext cx="2000250" cy="0"/>
          </a:xfrm>
          <a:prstGeom prst="line">
            <a:avLst/>
          </a:prstGeom>
          <a:ln w="38100">
            <a:solidFill>
              <a:srgbClr val="59D49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85E4ADB-682D-4C5C-AB6D-49F81506F384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2171700" cy="1524000"/>
          </a:xfrm>
          <a:prstGeom prst="roundRect">
            <a:avLst>
              <a:gd name="adj" fmla="val 7500"/>
            </a:avLst>
          </a:prstGeom>
          <a:solidFill>
            <a:srgbClr val="102334"/>
          </a:solidFill>
          <a:ln w="9525">
            <a:solidFill>
              <a:srgbClr val="28485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3D23CA6-0DF1-484C-B749-31D6E3E9A35C}"/>
              </a:ext>
            </a:extLst>
          </p:cNvPr>
          <p:cNvSpPr>
            <a:spLocks noGrp="1"/>
          </p:cNvSpPr>
          <p:nvPr/>
        </p:nvSpPr>
        <p:spPr>
          <a:xfrm>
            <a:off x="971550" y="2876550"/>
            <a:ext cx="1428750" cy="238125"/>
          </a:xfrm>
          <a:prstGeom prst="roundRect">
            <a:avLst>
              <a:gd name="adj" fmla="val 48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A8BAC7"/>
                </a:solidFill>
              </a:defRPr>
            </a:pPr>
            <a:r>
              <a:rPr lang="pt-BR" sz="1125" b="1" noProof="0" dirty="0">
                <a:solidFill>
                  <a:srgbClr val="A8BAC7"/>
                </a:solidFill>
              </a:rPr>
              <a:t>FONTES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26464426-5A24-400A-B07F-14EA27BFC5A5}"/>
              </a:ext>
            </a:extLst>
          </p:cNvPr>
          <p:cNvSpPr>
            <a:spLocks noGrp="1"/>
          </p:cNvSpPr>
          <p:nvPr/>
        </p:nvSpPr>
        <p:spPr>
          <a:xfrm>
            <a:off x="971550" y="3157268"/>
            <a:ext cx="1714500" cy="857250"/>
          </a:xfrm>
          <a:prstGeom prst="roundRect">
            <a:avLst>
              <a:gd name="adj" fmla="val 1333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4F8FB"/>
                </a:solidFill>
              </a:defRPr>
            </a:pPr>
            <a:r>
              <a:rPr lang="pt-BR" sz="1800" b="1" noProof="0" dirty="0" err="1">
                <a:solidFill>
                  <a:srgbClr val="F4F8FB"/>
                </a:solidFill>
              </a:rPr>
              <a:t>Zabbix</a:t>
            </a:r>
            <a:endParaRPr lang="pt-BR" sz="1800" b="1" noProof="0" dirty="0">
              <a:solidFill>
                <a:srgbClr val="F4F8FB"/>
              </a:solidFill>
            </a:endParaRPr>
          </a:p>
          <a:p>
            <a:pPr>
              <a:defRPr sz="1800" b="1">
                <a:solidFill>
                  <a:srgbClr val="F4F8FB"/>
                </a:solidFill>
              </a:defRPr>
            </a:pPr>
            <a:r>
              <a:rPr lang="pt-BR" sz="1800" b="1" noProof="0" dirty="0">
                <a:solidFill>
                  <a:srgbClr val="F4F8FB"/>
                </a:solidFill>
              </a:rPr>
              <a:t>Starlink</a:t>
            </a:r>
          </a:p>
          <a:p>
            <a:pPr>
              <a:defRPr sz="1800" b="1">
                <a:solidFill>
                  <a:srgbClr val="F4F8FB"/>
                </a:solidFill>
              </a:defRPr>
            </a:pPr>
            <a:r>
              <a:rPr lang="pt-BR" sz="1800" b="1" noProof="0" dirty="0" err="1">
                <a:solidFill>
                  <a:srgbClr val="F4F8FB"/>
                </a:solidFill>
              </a:rPr>
              <a:t>MikroTik</a:t>
            </a:r>
            <a:endParaRPr lang="pt-BR" sz="1800" b="1" noProof="0" dirty="0">
              <a:solidFill>
                <a:srgbClr val="F4F8FB"/>
              </a:solidFill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2509C48E-A421-4E03-ADDD-FD93A2735DC4}"/>
              </a:ext>
            </a:extLst>
          </p:cNvPr>
          <p:cNvSpPr>
            <a:spLocks noGrp="1"/>
          </p:cNvSpPr>
          <p:nvPr/>
        </p:nvSpPr>
        <p:spPr>
          <a:xfrm>
            <a:off x="4857750" y="2333625"/>
            <a:ext cx="2476500" cy="2000250"/>
          </a:xfrm>
          <a:prstGeom prst="roundRect">
            <a:avLst>
              <a:gd name="adj" fmla="val 5714"/>
            </a:avLst>
          </a:prstGeom>
          <a:solidFill>
            <a:srgbClr val="39C6D8"/>
          </a:solidFill>
          <a:ln w="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65F6632D-58ED-45A1-B163-81B898EAFA35}"/>
              </a:ext>
            </a:extLst>
          </p:cNvPr>
          <p:cNvSpPr>
            <a:spLocks noGrp="1"/>
          </p:cNvSpPr>
          <p:nvPr/>
        </p:nvSpPr>
        <p:spPr>
          <a:xfrm>
            <a:off x="5219700" y="2838450"/>
            <a:ext cx="1809750" cy="666750"/>
          </a:xfrm>
          <a:prstGeom prst="roundRect">
            <a:avLst>
              <a:gd name="adj" fmla="val 1714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25" b="1">
                <a:solidFill>
                  <a:srgbClr val="07131F"/>
                </a:solidFill>
              </a:defRPr>
            </a:pPr>
            <a:r>
              <a:rPr lang="pt-BR" sz="2025" b="1" noProof="0" dirty="0">
                <a:solidFill>
                  <a:srgbClr val="07131F"/>
                </a:solidFill>
              </a:rPr>
              <a:t>HEALTHLINK</a:t>
            </a:r>
          </a:p>
          <a:p>
            <a:pPr>
              <a:defRPr sz="2025" b="1">
                <a:solidFill>
                  <a:srgbClr val="07131F"/>
                </a:solidFill>
              </a:defRPr>
            </a:pPr>
            <a:r>
              <a:rPr lang="pt-BR" sz="2025" b="1" noProof="0" dirty="0">
                <a:solidFill>
                  <a:srgbClr val="07131F"/>
                </a:solidFill>
              </a:rPr>
              <a:t>SENTINEL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3773515-C038-412D-8F32-63813B762403}"/>
              </a:ext>
            </a:extLst>
          </p:cNvPr>
          <p:cNvSpPr>
            <a:spLocks noGrp="1"/>
          </p:cNvSpPr>
          <p:nvPr/>
        </p:nvSpPr>
        <p:spPr>
          <a:xfrm>
            <a:off x="5219700" y="3667125"/>
            <a:ext cx="1809750" cy="457200"/>
          </a:xfrm>
          <a:prstGeom prst="roundRect">
            <a:avLst>
              <a:gd name="adj" fmla="val 25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7131F"/>
                </a:solidFill>
              </a:defRPr>
            </a:pPr>
            <a:r>
              <a:rPr lang="pt-BR" sz="1200" b="1" noProof="0" dirty="0">
                <a:solidFill>
                  <a:srgbClr val="07131F"/>
                </a:solidFill>
              </a:rPr>
              <a:t>normaliza • correlaciona</a:t>
            </a:r>
          </a:p>
          <a:p>
            <a:pPr>
              <a:defRPr sz="1200" b="1">
                <a:solidFill>
                  <a:srgbClr val="07131F"/>
                </a:solidFill>
              </a:defRPr>
            </a:pPr>
            <a:r>
              <a:rPr lang="pt-BR" sz="1200" b="1" noProof="0" dirty="0">
                <a:solidFill>
                  <a:srgbClr val="07131F"/>
                </a:solidFill>
              </a:rPr>
              <a:t>projeta • audita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BAADEDA-13B0-4586-8109-81E3704B4380}"/>
              </a:ext>
            </a:extLst>
          </p:cNvPr>
          <p:cNvSpPr>
            <a:spLocks noGrp="1"/>
          </p:cNvSpPr>
          <p:nvPr/>
        </p:nvSpPr>
        <p:spPr>
          <a:xfrm>
            <a:off x="9334500" y="2571750"/>
            <a:ext cx="2171700" cy="1524000"/>
          </a:xfrm>
          <a:prstGeom prst="roundRect">
            <a:avLst>
              <a:gd name="adj" fmla="val 7500"/>
            </a:avLst>
          </a:prstGeom>
          <a:solidFill>
            <a:srgbClr val="102334"/>
          </a:solidFill>
          <a:ln w="9525">
            <a:solidFill>
              <a:srgbClr val="28485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53AC3C6-6EA2-4E4C-AF1F-956DA6B8ABC5}"/>
              </a:ext>
            </a:extLst>
          </p:cNvPr>
          <p:cNvSpPr>
            <a:spLocks noGrp="1"/>
          </p:cNvSpPr>
          <p:nvPr/>
        </p:nvSpPr>
        <p:spPr>
          <a:xfrm>
            <a:off x="9620250" y="2876550"/>
            <a:ext cx="1524000" cy="238125"/>
          </a:xfrm>
          <a:prstGeom prst="roundRect">
            <a:avLst>
              <a:gd name="adj" fmla="val 48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A8BAC7"/>
                </a:solidFill>
              </a:defRPr>
            </a:pPr>
            <a:r>
              <a:rPr lang="pt-BR" sz="1125" b="1" noProof="0" dirty="0">
                <a:solidFill>
                  <a:srgbClr val="A8BAC7"/>
                </a:solidFill>
              </a:rPr>
              <a:t>RESULTADO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3D0E2314-3A10-4EF3-85A3-71CDBE5AE575}"/>
              </a:ext>
            </a:extLst>
          </p:cNvPr>
          <p:cNvSpPr>
            <a:spLocks noGrp="1"/>
          </p:cNvSpPr>
          <p:nvPr/>
        </p:nvSpPr>
        <p:spPr>
          <a:xfrm>
            <a:off x="9620250" y="3157268"/>
            <a:ext cx="1714500" cy="857250"/>
          </a:xfrm>
          <a:prstGeom prst="roundRect">
            <a:avLst>
              <a:gd name="adj" fmla="val 1333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4F8FB"/>
                </a:solidFill>
              </a:defRPr>
            </a:pPr>
            <a:r>
              <a:rPr lang="pt-BR" sz="1800" b="1" noProof="0" dirty="0">
                <a:solidFill>
                  <a:srgbClr val="F4F8FB"/>
                </a:solidFill>
              </a:rPr>
              <a:t>NOC</a:t>
            </a:r>
          </a:p>
          <a:p>
            <a:pPr>
              <a:defRPr sz="1800" b="1">
                <a:solidFill>
                  <a:srgbClr val="F4F8FB"/>
                </a:solidFill>
              </a:defRPr>
            </a:pPr>
            <a:r>
              <a:rPr lang="pt-BR" sz="1800" b="1" noProof="0" dirty="0">
                <a:solidFill>
                  <a:srgbClr val="F4F8FB"/>
                </a:solidFill>
              </a:rPr>
              <a:t>Gestão</a:t>
            </a:r>
          </a:p>
          <a:p>
            <a:pPr>
              <a:defRPr sz="1800" b="1">
                <a:solidFill>
                  <a:srgbClr val="F4F8FB"/>
                </a:solidFill>
              </a:defRPr>
            </a:pPr>
            <a:r>
              <a:rPr lang="pt-BR" sz="1800" b="1" noProof="0" dirty="0">
                <a:solidFill>
                  <a:srgbClr val="F4F8FB"/>
                </a:solidFill>
              </a:rPr>
              <a:t>Suporte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29855F12-882B-4C57-9D74-F83307824110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10668000" cy="381000"/>
          </a:xfrm>
          <a:prstGeom prst="roundRect">
            <a:avLst>
              <a:gd name="adj" fmla="val 3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F4F8FB"/>
                </a:solidFill>
              </a:defRPr>
            </a:pPr>
            <a:r>
              <a:rPr lang="pt-BR" sz="1725" b="1" noProof="0" dirty="0">
                <a:solidFill>
                  <a:srgbClr val="F4F8FB"/>
                </a:solidFill>
              </a:rPr>
              <a:t>A integração é evolutiva: o motor existente continua; a experiência e a governança avançam.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3E96DCAE-6322-49D8-ACC6-2DAF3C68C26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7625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8BAC7"/>
                </a:solidFill>
              </a:defRPr>
            </a:pPr>
            <a:r>
              <a:rPr lang="pt-BR" sz="900" b="1" noProof="0" dirty="0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A59B47C7-1490-4EEC-9C7B-44D82ADEF5C9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8BAC7"/>
                </a:solidFill>
              </a:defRPr>
            </a:pPr>
            <a:r>
              <a:rPr lang="pt-BR" sz="900" b="1" noProof="0" dirty="0">
                <a:solidFill>
                  <a:srgbClr val="A8BA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95860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81CCB0AA-F7D6-4DE4-98B8-C4B1869241B0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6667500" cy="2095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9C6D8"/>
                </a:solidFill>
              </a:defRPr>
            </a:pPr>
            <a:r>
              <a:rPr lang="pt-BR" sz="975" b="1" noProof="0" dirty="0">
                <a:solidFill>
                  <a:srgbClr val="39C6D8"/>
                </a:solidFill>
              </a:rPr>
              <a:t>MÓDULO 01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543F7781-CCA7-4B19-AE45-AA74CB85DC6F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668000" cy="6858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F4F8FB"/>
                </a:solidFill>
              </a:defRPr>
            </a:pPr>
            <a:r>
              <a:rPr lang="pt-BR" sz="2625" b="1" noProof="0" dirty="0">
                <a:solidFill>
                  <a:srgbClr val="F4F8FB"/>
                </a:solidFill>
              </a:rPr>
              <a:t>Monitoramento de infraestrutura com contexto operacional.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032B376-972F-4B47-97D4-94E45AE3AFB7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10096500" cy="3429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A8BAC7"/>
                </a:solidFill>
              </a:defRPr>
            </a:pPr>
            <a:r>
              <a:rPr lang="pt-BR" sz="1350" b="0" noProof="0" dirty="0">
                <a:solidFill>
                  <a:srgbClr val="A8BAC7"/>
                </a:solidFill>
              </a:rPr>
              <a:t>Uma visão consolidada para servidores, rede, VPN, equipamentos e disponibilidade das unidades.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744E4B2-F901-4B30-82D7-D5275265B4B2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3333750" cy="2095500"/>
          </a:xfrm>
          <a:prstGeom prst="roundRect">
            <a:avLst>
              <a:gd name="adj" fmla="val 5455"/>
            </a:avLst>
          </a:prstGeom>
          <a:solidFill>
            <a:srgbClr val="102334"/>
          </a:solidFill>
          <a:ln w="9525">
            <a:solidFill>
              <a:srgbClr val="28485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CDED5C90-06E3-403E-B927-CC672B77AD3A}"/>
              </a:ext>
            </a:extLst>
          </p:cNvPr>
          <p:cNvSpPr>
            <a:spLocks noGrp="1"/>
          </p:cNvSpPr>
          <p:nvPr/>
        </p:nvSpPr>
        <p:spPr>
          <a:xfrm>
            <a:off x="914400" y="2628900"/>
            <a:ext cx="133350" cy="133350"/>
          </a:xfrm>
          <a:prstGeom prst="ellipse">
            <a:avLst/>
          </a:prstGeom>
          <a:solidFill>
            <a:srgbClr val="39C6D8"/>
          </a:solidFill>
          <a:ln w="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664BD70-10BF-4A6B-AA3C-4CFD5A3C52E3}"/>
              </a:ext>
            </a:extLst>
          </p:cNvPr>
          <p:cNvSpPr>
            <a:spLocks noGrp="1"/>
          </p:cNvSpPr>
          <p:nvPr/>
        </p:nvSpPr>
        <p:spPr>
          <a:xfrm>
            <a:off x="1162050" y="2571750"/>
            <a:ext cx="266700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4F8FB"/>
                </a:solidFill>
              </a:defRPr>
            </a:pPr>
            <a:r>
              <a:rPr lang="pt-BR" sz="1650" b="1" noProof="0" dirty="0">
                <a:solidFill>
                  <a:srgbClr val="F4F8FB"/>
                </a:solidFill>
              </a:rPr>
              <a:t>Mapa operacional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0857229-699D-4395-A682-89E55282D018}"/>
              </a:ext>
            </a:extLst>
          </p:cNvPr>
          <p:cNvSpPr>
            <a:spLocks noGrp="1"/>
          </p:cNvSpPr>
          <p:nvPr/>
        </p:nvSpPr>
        <p:spPr>
          <a:xfrm>
            <a:off x="914400" y="3009900"/>
            <a:ext cx="2876550" cy="1314450"/>
          </a:xfrm>
          <a:prstGeom prst="roundRect">
            <a:avLst>
              <a:gd name="adj" fmla="val 8696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8BAC7"/>
                </a:solidFill>
              </a:defRPr>
            </a:pPr>
            <a:r>
              <a:rPr lang="pt-BR" sz="1200" b="0" noProof="0" dirty="0">
                <a:solidFill>
                  <a:srgbClr val="A8BAC7"/>
                </a:solidFill>
              </a:rPr>
              <a:t>Brasil por estado, unidades e por estado herdado entre equipamentos ativos.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2C238DFF-531C-4CCA-88B5-39222D43810D}"/>
              </a:ext>
            </a:extLst>
          </p:cNvPr>
          <p:cNvSpPr>
            <a:spLocks noGrp="1"/>
          </p:cNvSpPr>
          <p:nvPr/>
        </p:nvSpPr>
        <p:spPr>
          <a:xfrm>
            <a:off x="4429125" y="2381250"/>
            <a:ext cx="3333750" cy="2095500"/>
          </a:xfrm>
          <a:prstGeom prst="roundRect">
            <a:avLst>
              <a:gd name="adj" fmla="val 5455"/>
            </a:avLst>
          </a:prstGeom>
          <a:solidFill>
            <a:srgbClr val="102334"/>
          </a:solidFill>
          <a:ln w="9525">
            <a:solidFill>
              <a:srgbClr val="28485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55D1060C-0E09-456B-8458-34C88620023E}"/>
              </a:ext>
            </a:extLst>
          </p:cNvPr>
          <p:cNvSpPr>
            <a:spLocks noGrp="1"/>
          </p:cNvSpPr>
          <p:nvPr/>
        </p:nvSpPr>
        <p:spPr>
          <a:xfrm>
            <a:off x="4657725" y="2628900"/>
            <a:ext cx="133350" cy="133350"/>
          </a:xfrm>
          <a:prstGeom prst="ellipse">
            <a:avLst/>
          </a:prstGeom>
          <a:solidFill>
            <a:srgbClr val="F06D78"/>
          </a:solidFill>
          <a:ln w="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C3815D6A-1AA5-445D-981C-52F4699887D4}"/>
              </a:ext>
            </a:extLst>
          </p:cNvPr>
          <p:cNvSpPr>
            <a:spLocks noGrp="1"/>
          </p:cNvSpPr>
          <p:nvPr/>
        </p:nvSpPr>
        <p:spPr>
          <a:xfrm>
            <a:off x="4905375" y="2571750"/>
            <a:ext cx="266700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4F8FB"/>
                </a:solidFill>
              </a:defRPr>
            </a:pPr>
            <a:r>
              <a:rPr lang="pt-BR" sz="1650" b="1" noProof="0" dirty="0">
                <a:solidFill>
                  <a:srgbClr val="F4F8FB"/>
                </a:solidFill>
              </a:rPr>
              <a:t>Central de alertas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4E4D8230-8C9B-4B4C-AA85-CDA4736AA5BD}"/>
              </a:ext>
            </a:extLst>
          </p:cNvPr>
          <p:cNvSpPr>
            <a:spLocks noGrp="1"/>
          </p:cNvSpPr>
          <p:nvPr/>
        </p:nvSpPr>
        <p:spPr>
          <a:xfrm>
            <a:off x="4657725" y="3009900"/>
            <a:ext cx="2876550" cy="1314450"/>
          </a:xfrm>
          <a:prstGeom prst="roundRect">
            <a:avLst>
              <a:gd name="adj" fmla="val 8696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8BAC7"/>
                </a:solidFill>
              </a:defRPr>
            </a:pPr>
            <a:r>
              <a:rPr lang="pt-BR" sz="1200" b="0" noProof="0" dirty="0">
                <a:solidFill>
                  <a:srgbClr val="A8BAC7"/>
                </a:solidFill>
              </a:rPr>
              <a:t>Incidentes ativos, reconhecimento, severidade, histórico e ciclo de vida.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800A29E-C687-43EB-9EC6-1F4E9E9B39B8}"/>
              </a:ext>
            </a:extLst>
          </p:cNvPr>
          <p:cNvSpPr>
            <a:spLocks noGrp="1"/>
          </p:cNvSpPr>
          <p:nvPr/>
        </p:nvSpPr>
        <p:spPr>
          <a:xfrm>
            <a:off x="8172450" y="2381250"/>
            <a:ext cx="3333750" cy="2095500"/>
          </a:xfrm>
          <a:prstGeom prst="roundRect">
            <a:avLst>
              <a:gd name="adj" fmla="val 5455"/>
            </a:avLst>
          </a:prstGeom>
          <a:solidFill>
            <a:srgbClr val="102334"/>
          </a:solidFill>
          <a:ln w="9525">
            <a:solidFill>
              <a:srgbClr val="28485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58D9236C-B379-44EC-B0CC-A1377DB7F1FF}"/>
              </a:ext>
            </a:extLst>
          </p:cNvPr>
          <p:cNvSpPr>
            <a:spLocks noGrp="1"/>
          </p:cNvSpPr>
          <p:nvPr/>
        </p:nvSpPr>
        <p:spPr>
          <a:xfrm>
            <a:off x="8401050" y="2628900"/>
            <a:ext cx="133350" cy="133350"/>
          </a:xfrm>
          <a:prstGeom prst="ellipse">
            <a:avLst/>
          </a:prstGeom>
          <a:solidFill>
            <a:srgbClr val="59D49A"/>
          </a:solidFill>
          <a:ln w="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E84FFBC9-665A-4A2F-8091-BB0175D1116D}"/>
              </a:ext>
            </a:extLst>
          </p:cNvPr>
          <p:cNvSpPr>
            <a:spLocks noGrp="1"/>
          </p:cNvSpPr>
          <p:nvPr/>
        </p:nvSpPr>
        <p:spPr>
          <a:xfrm>
            <a:off x="8648700" y="2571750"/>
            <a:ext cx="266700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4F8FB"/>
                </a:solidFill>
              </a:defRPr>
            </a:pPr>
            <a:r>
              <a:rPr lang="pt-BR" sz="1650" b="1" noProof="0" dirty="0">
                <a:solidFill>
                  <a:srgbClr val="F4F8FB"/>
                </a:solidFill>
              </a:rPr>
              <a:t>Integração governada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F7A8C7BF-EB03-445B-9DB4-1A078E488927}"/>
              </a:ext>
            </a:extLst>
          </p:cNvPr>
          <p:cNvSpPr>
            <a:spLocks noGrp="1"/>
          </p:cNvSpPr>
          <p:nvPr/>
        </p:nvSpPr>
        <p:spPr>
          <a:xfrm>
            <a:off x="8401050" y="3009900"/>
            <a:ext cx="2876550" cy="1314450"/>
          </a:xfrm>
          <a:prstGeom prst="roundRect">
            <a:avLst>
              <a:gd name="adj" fmla="val 8696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8BAC7"/>
                </a:solidFill>
              </a:defRPr>
            </a:pPr>
            <a:r>
              <a:rPr lang="pt-BR" sz="1200" b="0" noProof="0" dirty="0">
                <a:solidFill>
                  <a:srgbClr val="A8BAC7"/>
                </a:solidFill>
              </a:rPr>
              <a:t>Hosts autorizados, sugestões de vínculo, sincronização, saúde e auditoria.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DA97E2A5-3192-438E-AE73-004184E0ED53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10668000" cy="40005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F4F8FB"/>
                </a:solidFill>
              </a:defRPr>
            </a:pPr>
            <a:r>
              <a:rPr lang="pt-BR" sz="1725" b="1" noProof="0" dirty="0">
                <a:solidFill>
                  <a:srgbClr val="F4F8FB"/>
                </a:solidFill>
              </a:rPr>
              <a:t>O operador deixa de procurar “qual host falhou?” e passa a responder “qual unidade está em risco?”.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A02C99B2-F67C-460E-B86C-717F0E8BEDE4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7625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8BAC7"/>
                </a:solidFill>
              </a:defRPr>
            </a:pPr>
            <a:r>
              <a:rPr lang="pt-BR" sz="900" b="1" noProof="0" dirty="0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000BBAEC-54AD-4ADB-BB2E-45757680BC44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8BAC7"/>
                </a:solidFill>
              </a:defRPr>
            </a:pPr>
            <a:r>
              <a:rPr lang="pt-BR" sz="900" b="1" noProof="0" dirty="0">
                <a:solidFill>
                  <a:srgbClr val="A8BAC7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23635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01340CC9-A454-4556-BC36-91E12E3FB2FF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6667500" cy="2095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9C6D8"/>
                </a:solidFill>
              </a:defRPr>
            </a:pPr>
            <a:r>
              <a:rPr lang="pt-BR" sz="975" b="1" noProof="0" dirty="0">
                <a:solidFill>
                  <a:srgbClr val="39C6D8"/>
                </a:solidFill>
              </a:rPr>
              <a:t>MÓDULO 01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3CCF3C22-BB32-42C6-A12D-6A065F0A281E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668000" cy="6858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F4F8FB"/>
                </a:solidFill>
              </a:defRPr>
            </a:pPr>
            <a:r>
              <a:rPr lang="pt-BR" sz="2625" b="1" noProof="0" dirty="0">
                <a:solidFill>
                  <a:srgbClr val="F4F8FB"/>
                </a:solidFill>
              </a:rPr>
              <a:t>Diferenciais sobre o </a:t>
            </a:r>
            <a:r>
              <a:rPr lang="pt-BR" sz="2625" b="1" noProof="0" dirty="0" err="1">
                <a:solidFill>
                  <a:srgbClr val="F4F8FB"/>
                </a:solidFill>
              </a:rPr>
              <a:t>Zabbix</a:t>
            </a:r>
            <a:r>
              <a:rPr lang="pt-BR" sz="2625" b="1" noProof="0" dirty="0">
                <a:solidFill>
                  <a:srgbClr val="F4F8FB"/>
                </a:solidFill>
              </a:rPr>
              <a:t> para a operação.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453F23F7-823D-400C-B32C-F815F5FE6D5A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10096500" cy="3429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A8BAC7"/>
                </a:solidFill>
              </a:defRPr>
            </a:pPr>
            <a:r>
              <a:rPr lang="pt-BR" sz="1350" b="0" noProof="0" dirty="0">
                <a:solidFill>
                  <a:srgbClr val="A8BAC7"/>
                </a:solidFill>
              </a:rPr>
              <a:t>O valor está na tradução do evento técnico para uma decisão rastreável.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0C5B264-886D-4E83-9FD9-E59998048F2A}"/>
              </a:ext>
            </a:extLst>
          </p:cNvPr>
          <p:cNvSpPr>
            <a:spLocks noGrp="1"/>
          </p:cNvSpPr>
          <p:nvPr/>
        </p:nvSpPr>
        <p:spPr>
          <a:xfrm>
            <a:off x="2381250" y="2209800"/>
            <a:ext cx="209550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A8BAC7"/>
                </a:solidFill>
              </a:defRPr>
            </a:pPr>
            <a:r>
              <a:rPr lang="pt-BR" sz="1125" b="1" noProof="0" dirty="0">
                <a:solidFill>
                  <a:srgbClr val="A8BAC7"/>
                </a:solidFill>
              </a:rPr>
              <a:t>ZABBIX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6FA43642-9FBB-421D-A9D9-B021443D9CA1}"/>
              </a:ext>
            </a:extLst>
          </p:cNvPr>
          <p:cNvSpPr>
            <a:spLocks noGrp="1"/>
          </p:cNvSpPr>
          <p:nvPr/>
        </p:nvSpPr>
        <p:spPr>
          <a:xfrm>
            <a:off x="6858000" y="2209800"/>
            <a:ext cx="285750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39C6D8"/>
                </a:solidFill>
              </a:defRPr>
            </a:pPr>
            <a:r>
              <a:rPr lang="pt-BR" sz="1125" b="1" noProof="0" dirty="0">
                <a:solidFill>
                  <a:srgbClr val="39C6D8"/>
                </a:solidFill>
              </a:rPr>
              <a:t>HEALTHLINK SENTINEL</a:t>
            </a:r>
          </a:p>
        </p:txBody>
      </p:sp>
      <p:sp>
        <p:nvSpPr>
          <p:cNvPr id="6" name="Conector reto 5">
            <a:extLst>
              <a:ext uri="{FF2B5EF4-FFF2-40B4-BE49-F238E27FC236}">
                <a16:creationId xmlns:a16="http://schemas.microsoft.com/office/drawing/2014/main" id="{44D7020C-6F83-40EA-B2BA-004BDA159462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10820400" cy="0"/>
          </a:xfrm>
          <a:prstGeom prst="line">
            <a:avLst/>
          </a:prstGeom>
          <a:ln w="19050">
            <a:solidFill>
              <a:srgbClr val="28485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B130513-6C1F-47CB-BCA2-0603656A4AC2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142875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F4F8FB"/>
                </a:solidFill>
              </a:defRPr>
            </a:pPr>
            <a:r>
              <a:rPr lang="pt-BR" sz="1425" b="1" noProof="0" dirty="0">
                <a:solidFill>
                  <a:srgbClr val="F4F8FB"/>
                </a:solidFill>
              </a:rPr>
              <a:t>Contexto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DC5954E4-4C4C-40B3-957D-7FA8EF34C613}"/>
              </a:ext>
            </a:extLst>
          </p:cNvPr>
          <p:cNvSpPr>
            <a:spLocks noGrp="1"/>
          </p:cNvSpPr>
          <p:nvPr/>
        </p:nvSpPr>
        <p:spPr>
          <a:xfrm>
            <a:off x="2381250" y="2762250"/>
            <a:ext cx="352425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A8BAC7"/>
                </a:solidFill>
              </a:defRPr>
            </a:pPr>
            <a:r>
              <a:rPr lang="pt-BR" sz="1350" b="0" noProof="0" dirty="0">
                <a:solidFill>
                  <a:srgbClr val="A8BAC7"/>
                </a:solidFill>
              </a:rPr>
              <a:t>Host / trigger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179B1A83-4F17-44C7-970E-02E737ED4D28}"/>
              </a:ext>
            </a:extLst>
          </p:cNvPr>
          <p:cNvSpPr>
            <a:spLocks noGrp="1"/>
          </p:cNvSpPr>
          <p:nvPr/>
        </p:nvSpPr>
        <p:spPr>
          <a:xfrm>
            <a:off x="6858000" y="2762250"/>
            <a:ext cx="43815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4F8FB"/>
                </a:solidFill>
              </a:defRPr>
            </a:pPr>
            <a:r>
              <a:rPr lang="pt-BR" sz="1350" b="1" noProof="0" dirty="0">
                <a:solidFill>
                  <a:srgbClr val="F4F8FB"/>
                </a:solidFill>
              </a:rPr>
              <a:t>Unidade / equipamento / impacto</a:t>
            </a:r>
          </a:p>
        </p:txBody>
      </p:sp>
      <p:sp>
        <p:nvSpPr>
          <p:cNvPr id="10" name="Conector reto 9">
            <a:extLst>
              <a:ext uri="{FF2B5EF4-FFF2-40B4-BE49-F238E27FC236}">
                <a16:creationId xmlns:a16="http://schemas.microsoft.com/office/drawing/2014/main" id="{33E6CCC5-0475-4314-9584-C6C65F41FD10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10820400" cy="0"/>
          </a:xfrm>
          <a:prstGeom prst="line">
            <a:avLst/>
          </a:prstGeom>
          <a:ln w="9525">
            <a:solidFill>
              <a:srgbClr val="28485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6FDCFB8B-BAEA-4B2F-9B52-CB57BCB55524}"/>
              </a:ext>
            </a:extLst>
          </p:cNvPr>
          <p:cNvSpPr>
            <a:spLocks noGrp="1"/>
          </p:cNvSpPr>
          <p:nvPr/>
        </p:nvSpPr>
        <p:spPr>
          <a:xfrm>
            <a:off x="685800" y="3381375"/>
            <a:ext cx="142875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F4F8FB"/>
                </a:solidFill>
              </a:defRPr>
            </a:pPr>
            <a:r>
              <a:rPr lang="pt-BR" sz="1425" b="1" noProof="0" dirty="0">
                <a:solidFill>
                  <a:srgbClr val="F4F8FB"/>
                </a:solidFill>
              </a:rPr>
              <a:t>Visão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C2D121F-43D9-4C5B-9D3A-754BB845182E}"/>
              </a:ext>
            </a:extLst>
          </p:cNvPr>
          <p:cNvSpPr>
            <a:spLocks noGrp="1"/>
          </p:cNvSpPr>
          <p:nvPr/>
        </p:nvSpPr>
        <p:spPr>
          <a:xfrm>
            <a:off x="2381250" y="3381375"/>
            <a:ext cx="352425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A8BAC7"/>
                </a:solidFill>
              </a:defRPr>
            </a:pPr>
            <a:r>
              <a:rPr lang="pt-BR" sz="1350" b="0" noProof="0" dirty="0">
                <a:solidFill>
                  <a:srgbClr val="A8BAC7"/>
                </a:solidFill>
              </a:rPr>
              <a:t>Telas técnicas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7B2028E-81CC-4965-BE2E-EA09D926E78F}"/>
              </a:ext>
            </a:extLst>
          </p:cNvPr>
          <p:cNvSpPr>
            <a:spLocks noGrp="1"/>
          </p:cNvSpPr>
          <p:nvPr/>
        </p:nvSpPr>
        <p:spPr>
          <a:xfrm>
            <a:off x="6858000" y="3381375"/>
            <a:ext cx="43815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4F8FB"/>
                </a:solidFill>
              </a:defRPr>
            </a:pPr>
            <a:r>
              <a:rPr lang="pt-BR" sz="1350" b="1" noProof="0" dirty="0">
                <a:solidFill>
                  <a:srgbClr val="F4F8FB"/>
                </a:solidFill>
              </a:rPr>
              <a:t>Mapa + estado consolidado + detalhe</a:t>
            </a:r>
          </a:p>
        </p:txBody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888258A1-3722-4505-840F-8C788272ADF2}"/>
              </a:ext>
            </a:extLst>
          </p:cNvPr>
          <p:cNvSpPr>
            <a:spLocks noGrp="1"/>
          </p:cNvSpPr>
          <p:nvPr/>
        </p:nvSpPr>
        <p:spPr>
          <a:xfrm>
            <a:off x="685800" y="3781425"/>
            <a:ext cx="10820400" cy="0"/>
          </a:xfrm>
          <a:prstGeom prst="line">
            <a:avLst/>
          </a:prstGeom>
          <a:ln w="9525">
            <a:solidFill>
              <a:srgbClr val="28485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D3F1D260-A2A0-4778-B93B-5765B50676A9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142875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F4F8FB"/>
                </a:solidFill>
              </a:defRPr>
            </a:pPr>
            <a:r>
              <a:rPr lang="pt-BR" sz="1425" b="1" noProof="0" dirty="0">
                <a:solidFill>
                  <a:srgbClr val="F4F8FB"/>
                </a:solidFill>
              </a:rPr>
              <a:t>Ação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31B53C08-84B1-4B90-9A08-540661705144}"/>
              </a:ext>
            </a:extLst>
          </p:cNvPr>
          <p:cNvSpPr>
            <a:spLocks noGrp="1"/>
          </p:cNvSpPr>
          <p:nvPr/>
        </p:nvSpPr>
        <p:spPr>
          <a:xfrm>
            <a:off x="2381250" y="4000500"/>
            <a:ext cx="352425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A8BAC7"/>
                </a:solidFill>
              </a:defRPr>
            </a:pPr>
            <a:r>
              <a:rPr lang="pt-BR" sz="1350" b="0" noProof="0" dirty="0">
                <a:solidFill>
                  <a:srgbClr val="A8BAC7"/>
                </a:solidFill>
              </a:rPr>
              <a:t>Reconhecer problema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AC90631D-1B6B-4B21-9FED-0EF1816BA1F1}"/>
              </a:ext>
            </a:extLst>
          </p:cNvPr>
          <p:cNvSpPr>
            <a:spLocks noGrp="1"/>
          </p:cNvSpPr>
          <p:nvPr/>
        </p:nvSpPr>
        <p:spPr>
          <a:xfrm>
            <a:off x="6858000" y="4000500"/>
            <a:ext cx="43815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4F8FB"/>
                </a:solidFill>
              </a:defRPr>
            </a:pPr>
            <a:r>
              <a:rPr lang="pt-BR" sz="1350" b="1" noProof="0" dirty="0">
                <a:solidFill>
                  <a:srgbClr val="F4F8FB"/>
                </a:solidFill>
              </a:rPr>
              <a:t>Diagnosticar, registrar e acompanhar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04DF15BF-1283-4430-B295-8042C9D9D384}"/>
              </a:ext>
            </a:extLst>
          </p:cNvPr>
          <p:cNvSpPr>
            <a:spLocks noGrp="1"/>
          </p:cNvSpPr>
          <p:nvPr/>
        </p:nvSpPr>
        <p:spPr>
          <a:xfrm>
            <a:off x="685800" y="4400550"/>
            <a:ext cx="10820400" cy="0"/>
          </a:xfrm>
          <a:prstGeom prst="line">
            <a:avLst/>
          </a:prstGeom>
          <a:ln w="9525">
            <a:solidFill>
              <a:srgbClr val="28485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1118F414-D3AC-4865-96E4-1A4822F63144}"/>
              </a:ext>
            </a:extLst>
          </p:cNvPr>
          <p:cNvSpPr>
            <a:spLocks noGrp="1"/>
          </p:cNvSpPr>
          <p:nvPr/>
        </p:nvSpPr>
        <p:spPr>
          <a:xfrm>
            <a:off x="685800" y="4619625"/>
            <a:ext cx="142875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F4F8FB"/>
                </a:solidFill>
              </a:defRPr>
            </a:pPr>
            <a:r>
              <a:rPr lang="pt-BR" sz="1425" b="1" noProof="0" dirty="0">
                <a:solidFill>
                  <a:srgbClr val="F4F8FB"/>
                </a:solidFill>
              </a:rPr>
              <a:t>Governança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E79512C6-F533-4DA8-973E-7143C2D9B9E8}"/>
              </a:ext>
            </a:extLst>
          </p:cNvPr>
          <p:cNvSpPr>
            <a:spLocks noGrp="1"/>
          </p:cNvSpPr>
          <p:nvPr/>
        </p:nvSpPr>
        <p:spPr>
          <a:xfrm>
            <a:off x="2381250" y="4619625"/>
            <a:ext cx="352425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A8BAC7"/>
                </a:solidFill>
              </a:defRPr>
            </a:pPr>
            <a:r>
              <a:rPr lang="pt-BR" sz="1350" b="0" noProof="0" dirty="0">
                <a:solidFill>
                  <a:srgbClr val="A8BAC7"/>
                </a:solidFill>
              </a:rPr>
              <a:t>Configuração distribuída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24267321-AABC-4E22-8E92-3D46838D4AD5}"/>
              </a:ext>
            </a:extLst>
          </p:cNvPr>
          <p:cNvSpPr>
            <a:spLocks noGrp="1"/>
          </p:cNvSpPr>
          <p:nvPr/>
        </p:nvSpPr>
        <p:spPr>
          <a:xfrm>
            <a:off x="6858000" y="4619625"/>
            <a:ext cx="43815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4F8FB"/>
                </a:solidFill>
              </a:defRPr>
            </a:pPr>
            <a:r>
              <a:rPr lang="pt-BR" sz="1350" b="1" noProof="0" dirty="0">
                <a:solidFill>
                  <a:srgbClr val="F4F8FB"/>
                </a:solidFill>
              </a:rPr>
              <a:t>RBAC, </a:t>
            </a:r>
            <a:r>
              <a:rPr lang="pt-BR" sz="1350" b="1" noProof="0" dirty="0" err="1">
                <a:solidFill>
                  <a:srgbClr val="F4F8FB"/>
                </a:solidFill>
              </a:rPr>
              <a:t>multi-tenant</a:t>
            </a:r>
            <a:r>
              <a:rPr lang="pt-BR" sz="1350" b="1" noProof="0" dirty="0">
                <a:solidFill>
                  <a:srgbClr val="F4F8FB"/>
                </a:solidFill>
              </a:rPr>
              <a:t>, auditoria e histórico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F6FD5C6D-3D9D-4EEA-8E14-A4EF198702FA}"/>
              </a:ext>
            </a:extLst>
          </p:cNvPr>
          <p:cNvSpPr>
            <a:spLocks noGrp="1"/>
          </p:cNvSpPr>
          <p:nvPr/>
        </p:nvSpPr>
        <p:spPr>
          <a:xfrm>
            <a:off x="685800" y="5019675"/>
            <a:ext cx="10820400" cy="0"/>
          </a:xfrm>
          <a:prstGeom prst="line">
            <a:avLst/>
          </a:prstGeom>
          <a:ln w="9525">
            <a:solidFill>
              <a:srgbClr val="28485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4A4BFBEF-7422-40C4-8247-48C3DE0CE167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142875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F4F8FB"/>
                </a:solidFill>
              </a:defRPr>
            </a:pPr>
            <a:r>
              <a:rPr lang="pt-BR" sz="1425" b="1" noProof="0" dirty="0">
                <a:solidFill>
                  <a:srgbClr val="F4F8FB"/>
                </a:solidFill>
              </a:rPr>
              <a:t>Confiabilidade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8F360785-8992-409F-86C6-0343C60F0719}"/>
              </a:ext>
            </a:extLst>
          </p:cNvPr>
          <p:cNvSpPr>
            <a:spLocks noGrp="1"/>
          </p:cNvSpPr>
          <p:nvPr/>
        </p:nvSpPr>
        <p:spPr>
          <a:xfrm>
            <a:off x="2381250" y="5238750"/>
            <a:ext cx="352425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A8BAC7"/>
                </a:solidFill>
              </a:defRPr>
            </a:pPr>
            <a:r>
              <a:rPr lang="pt-BR" sz="1350" b="0" noProof="0" dirty="0">
                <a:solidFill>
                  <a:srgbClr val="A8BAC7"/>
                </a:solidFill>
              </a:rPr>
              <a:t>Último valor disponível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F7D86F3D-3905-466A-A129-13A04E73F891}"/>
              </a:ext>
            </a:extLst>
          </p:cNvPr>
          <p:cNvSpPr>
            <a:spLocks noGrp="1"/>
          </p:cNvSpPr>
          <p:nvPr/>
        </p:nvSpPr>
        <p:spPr>
          <a:xfrm>
            <a:off x="6858000" y="5238750"/>
            <a:ext cx="43815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4F8FB"/>
                </a:solidFill>
              </a:defRPr>
            </a:pPr>
            <a:r>
              <a:rPr lang="pt-BR" sz="1350" b="1" noProof="0" dirty="0">
                <a:solidFill>
                  <a:srgbClr val="F4F8FB"/>
                </a:solidFill>
              </a:rPr>
              <a:t>Telemetria </a:t>
            </a:r>
            <a:r>
              <a:rPr lang="pt-BR" sz="1350" b="1" noProof="0" dirty="0" err="1">
                <a:solidFill>
                  <a:srgbClr val="F4F8FB"/>
                </a:solidFill>
              </a:rPr>
              <a:t>stale</a:t>
            </a:r>
            <a:r>
              <a:rPr lang="pt-BR" sz="1350" b="1" noProof="0" dirty="0">
                <a:solidFill>
                  <a:srgbClr val="F4F8FB"/>
                </a:solidFill>
              </a:rPr>
              <a:t> vira </a:t>
            </a:r>
            <a:r>
              <a:rPr lang="pt-BR" sz="1350" b="1" noProof="0" dirty="0" err="1">
                <a:solidFill>
                  <a:srgbClr val="F4F8FB"/>
                </a:solidFill>
              </a:rPr>
              <a:t>unknown</a:t>
            </a:r>
            <a:r>
              <a:rPr lang="pt-BR" sz="1350" b="1" noProof="0" dirty="0">
                <a:solidFill>
                  <a:srgbClr val="F4F8FB"/>
                </a:solidFill>
              </a:rPr>
              <a:t>; histórico preservado</a:t>
            </a:r>
          </a:p>
        </p:txBody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9F2D13B4-0D4E-46DF-B63B-35C6212007BC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0820400" cy="0"/>
          </a:xfrm>
          <a:prstGeom prst="line">
            <a:avLst/>
          </a:prstGeom>
          <a:ln w="9525">
            <a:solidFill>
              <a:srgbClr val="28485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1F685807-9508-4E99-9AB1-1EBA22B3013A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7625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8BAC7"/>
                </a:solidFill>
              </a:defRPr>
            </a:pPr>
            <a:r>
              <a:rPr lang="pt-BR" sz="900" b="1" noProof="0" dirty="0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4210B8B7-BA92-4083-8ABD-B1B759613694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8BAC7"/>
                </a:solidFill>
              </a:defRPr>
            </a:pPr>
            <a:r>
              <a:rPr lang="pt-BR" sz="900" b="1" noProof="0" dirty="0">
                <a:solidFill>
                  <a:srgbClr val="A8BAC7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40860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442041E2-E856-411E-853E-0EFE8F7D6DB5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6667500" cy="2095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9C6D8"/>
                </a:solidFill>
              </a:defRPr>
            </a:pPr>
            <a:r>
              <a:rPr lang="pt-BR" sz="975" b="1" noProof="0" dirty="0">
                <a:solidFill>
                  <a:srgbClr val="39C6D8"/>
                </a:solidFill>
              </a:rPr>
              <a:t>MÓDULO 02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934D446-9EC7-445B-92D5-00EE01E4623A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668000" cy="6858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F4F8FB"/>
                </a:solidFill>
              </a:defRPr>
            </a:pPr>
            <a:r>
              <a:rPr lang="pt-BR" sz="2625" b="1" noProof="0" dirty="0">
                <a:solidFill>
                  <a:srgbClr val="F4F8FB"/>
                </a:solidFill>
              </a:rPr>
              <a:t>Gestão de links das unidades móveis + suporte.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2E3AEF5-4290-4F3E-8932-70FF1AE0EBBB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10096500" cy="3429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A8BAC7"/>
                </a:solidFill>
              </a:defRPr>
            </a:pPr>
            <a:r>
              <a:rPr lang="pt-BR" sz="1350" b="0" noProof="0" dirty="0">
                <a:solidFill>
                  <a:srgbClr val="A8BAC7"/>
                </a:solidFill>
              </a:rPr>
              <a:t>Uma visão específica para conectividade em campo: link, antena, caminho, agente e atendimento.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C85D414B-E3F4-4D4B-A40C-A14A418CD43C}"/>
              </a:ext>
            </a:extLst>
          </p:cNvPr>
          <p:cNvSpPr>
            <a:spLocks noGrp="1"/>
          </p:cNvSpPr>
          <p:nvPr/>
        </p:nvSpPr>
        <p:spPr>
          <a:xfrm>
            <a:off x="685800" y="2333625"/>
            <a:ext cx="2571750" cy="2238375"/>
          </a:xfrm>
          <a:prstGeom prst="roundRect">
            <a:avLst>
              <a:gd name="adj" fmla="val 5106"/>
            </a:avLst>
          </a:prstGeom>
          <a:solidFill>
            <a:srgbClr val="102334"/>
          </a:solidFill>
          <a:ln w="9525">
            <a:solidFill>
              <a:srgbClr val="28485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22BD86E5-659D-4C7E-87F5-95F8D800CF79}"/>
              </a:ext>
            </a:extLst>
          </p:cNvPr>
          <p:cNvSpPr>
            <a:spLocks noGrp="1"/>
          </p:cNvSpPr>
          <p:nvPr/>
        </p:nvSpPr>
        <p:spPr>
          <a:xfrm>
            <a:off x="914400" y="2581275"/>
            <a:ext cx="133350" cy="133350"/>
          </a:xfrm>
          <a:prstGeom prst="ellipse">
            <a:avLst/>
          </a:prstGeom>
          <a:solidFill>
            <a:srgbClr val="F6B95B"/>
          </a:solidFill>
          <a:ln w="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4DA421A-473D-4B74-B3A0-EE6741B52914}"/>
              </a:ext>
            </a:extLst>
          </p:cNvPr>
          <p:cNvSpPr>
            <a:spLocks noGrp="1"/>
          </p:cNvSpPr>
          <p:nvPr/>
        </p:nvSpPr>
        <p:spPr>
          <a:xfrm>
            <a:off x="1162050" y="2524125"/>
            <a:ext cx="190500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4F8FB"/>
                </a:solidFill>
              </a:defRPr>
            </a:pPr>
            <a:r>
              <a:rPr lang="pt-BR" sz="1650" b="1" noProof="0" dirty="0">
                <a:solidFill>
                  <a:srgbClr val="F4F8FB"/>
                </a:solidFill>
              </a:rPr>
              <a:t>Link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1ECD5B5-965B-4D03-8FCC-36295112C305}"/>
              </a:ext>
            </a:extLst>
          </p:cNvPr>
          <p:cNvSpPr>
            <a:spLocks noGrp="1"/>
          </p:cNvSpPr>
          <p:nvPr/>
        </p:nvSpPr>
        <p:spPr>
          <a:xfrm>
            <a:off x="914400" y="2962275"/>
            <a:ext cx="2114550" cy="1457325"/>
          </a:xfrm>
          <a:prstGeom prst="roundRect">
            <a:avLst>
              <a:gd name="adj" fmla="val 784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8BAC7"/>
                </a:solidFill>
              </a:defRPr>
            </a:pPr>
            <a:r>
              <a:rPr lang="pt-BR" sz="1200" b="0" noProof="0" dirty="0">
                <a:solidFill>
                  <a:srgbClr val="A8BAC7"/>
                </a:solidFill>
              </a:rPr>
              <a:t>Plano contratado x tráfego atual; latência, perda e disponibilidade.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2640D73F-E908-4EBB-A31F-82D6DEBABACA}"/>
              </a:ext>
            </a:extLst>
          </p:cNvPr>
          <p:cNvSpPr>
            <a:spLocks noGrp="1"/>
          </p:cNvSpPr>
          <p:nvPr/>
        </p:nvSpPr>
        <p:spPr>
          <a:xfrm>
            <a:off x="3552825" y="2333625"/>
            <a:ext cx="2571750" cy="2238375"/>
          </a:xfrm>
          <a:prstGeom prst="roundRect">
            <a:avLst>
              <a:gd name="adj" fmla="val 5106"/>
            </a:avLst>
          </a:prstGeom>
          <a:solidFill>
            <a:srgbClr val="102334"/>
          </a:solidFill>
          <a:ln w="9525">
            <a:solidFill>
              <a:srgbClr val="28485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051A6B2F-2D52-488F-90C4-DDFF250B0DE5}"/>
              </a:ext>
            </a:extLst>
          </p:cNvPr>
          <p:cNvSpPr>
            <a:spLocks noGrp="1"/>
          </p:cNvSpPr>
          <p:nvPr/>
        </p:nvSpPr>
        <p:spPr>
          <a:xfrm>
            <a:off x="3781425" y="2581275"/>
            <a:ext cx="133350" cy="133350"/>
          </a:xfrm>
          <a:prstGeom prst="ellipse">
            <a:avLst/>
          </a:prstGeom>
          <a:solidFill>
            <a:srgbClr val="39C6D8"/>
          </a:solidFill>
          <a:ln w="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9C43BED6-930D-488D-A0BF-BBC03271F7F0}"/>
              </a:ext>
            </a:extLst>
          </p:cNvPr>
          <p:cNvSpPr>
            <a:spLocks noGrp="1"/>
          </p:cNvSpPr>
          <p:nvPr/>
        </p:nvSpPr>
        <p:spPr>
          <a:xfrm>
            <a:off x="4029075" y="2524125"/>
            <a:ext cx="190500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4F8FB"/>
                </a:solidFill>
              </a:defRPr>
            </a:pPr>
            <a:r>
              <a:rPr lang="pt-BR" sz="1650" b="1" noProof="0" dirty="0">
                <a:solidFill>
                  <a:srgbClr val="F4F8FB"/>
                </a:solidFill>
              </a:rPr>
              <a:t>Unidade móvel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7C809CF4-9A89-4964-A1A3-75E78EF108E2}"/>
              </a:ext>
            </a:extLst>
          </p:cNvPr>
          <p:cNvSpPr>
            <a:spLocks noGrp="1"/>
          </p:cNvSpPr>
          <p:nvPr/>
        </p:nvSpPr>
        <p:spPr>
          <a:xfrm>
            <a:off x="3781425" y="2962275"/>
            <a:ext cx="2114550" cy="1457325"/>
          </a:xfrm>
          <a:prstGeom prst="roundRect">
            <a:avLst>
              <a:gd name="adj" fmla="val 784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8BAC7"/>
                </a:solidFill>
              </a:defRPr>
            </a:pPr>
            <a:r>
              <a:rPr lang="pt-BR" sz="1200" b="0" noProof="0" dirty="0">
                <a:solidFill>
                  <a:srgbClr val="A8BAC7"/>
                </a:solidFill>
              </a:rPr>
              <a:t>Starlink como fonte primária; </a:t>
            </a:r>
            <a:r>
              <a:rPr lang="pt-BR" sz="1200" b="0" noProof="0" dirty="0" err="1">
                <a:solidFill>
                  <a:srgbClr val="A8BAC7"/>
                </a:solidFill>
              </a:rPr>
              <a:t>MikroTik</a:t>
            </a:r>
            <a:r>
              <a:rPr lang="pt-BR" sz="1200" b="0" noProof="0" dirty="0">
                <a:solidFill>
                  <a:srgbClr val="A8BAC7"/>
                </a:solidFill>
              </a:rPr>
              <a:t> como caminho e interfaces.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8FAC3EBD-49FD-4300-B345-484F63FF6091}"/>
              </a:ext>
            </a:extLst>
          </p:cNvPr>
          <p:cNvSpPr>
            <a:spLocks noGrp="1"/>
          </p:cNvSpPr>
          <p:nvPr/>
        </p:nvSpPr>
        <p:spPr>
          <a:xfrm>
            <a:off x="6419850" y="2333625"/>
            <a:ext cx="2571750" cy="2238375"/>
          </a:xfrm>
          <a:prstGeom prst="roundRect">
            <a:avLst>
              <a:gd name="adj" fmla="val 5106"/>
            </a:avLst>
          </a:prstGeom>
          <a:solidFill>
            <a:srgbClr val="102334"/>
          </a:solidFill>
          <a:ln w="9525">
            <a:solidFill>
              <a:srgbClr val="28485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943D52A7-F436-4246-988D-59489CD23CCA}"/>
              </a:ext>
            </a:extLst>
          </p:cNvPr>
          <p:cNvSpPr>
            <a:spLocks noGrp="1"/>
          </p:cNvSpPr>
          <p:nvPr/>
        </p:nvSpPr>
        <p:spPr>
          <a:xfrm>
            <a:off x="6648450" y="2581275"/>
            <a:ext cx="133350" cy="133350"/>
          </a:xfrm>
          <a:prstGeom prst="ellipse">
            <a:avLst/>
          </a:prstGeom>
          <a:solidFill>
            <a:srgbClr val="59D49A"/>
          </a:solidFill>
          <a:ln w="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CBACDEEF-E3B9-49D8-8458-002960399643}"/>
              </a:ext>
            </a:extLst>
          </p:cNvPr>
          <p:cNvSpPr>
            <a:spLocks noGrp="1"/>
          </p:cNvSpPr>
          <p:nvPr/>
        </p:nvSpPr>
        <p:spPr>
          <a:xfrm>
            <a:off x="6896100" y="2524125"/>
            <a:ext cx="190500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4F8FB"/>
                </a:solidFill>
              </a:defRPr>
            </a:pPr>
            <a:r>
              <a:rPr lang="pt-BR" sz="1650" b="1" noProof="0" dirty="0">
                <a:solidFill>
                  <a:srgbClr val="F4F8FB"/>
                </a:solidFill>
              </a:rPr>
              <a:t>Suporte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4DA7019A-E435-4698-A414-943FCB7FC6FD}"/>
              </a:ext>
            </a:extLst>
          </p:cNvPr>
          <p:cNvSpPr>
            <a:spLocks noGrp="1"/>
          </p:cNvSpPr>
          <p:nvPr/>
        </p:nvSpPr>
        <p:spPr>
          <a:xfrm>
            <a:off x="6648450" y="2962275"/>
            <a:ext cx="2114550" cy="1457325"/>
          </a:xfrm>
          <a:prstGeom prst="roundRect">
            <a:avLst>
              <a:gd name="adj" fmla="val 784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8BAC7"/>
                </a:solidFill>
              </a:defRPr>
            </a:pPr>
            <a:r>
              <a:rPr lang="pt-BR" sz="1200" b="0" noProof="0" dirty="0">
                <a:solidFill>
                  <a:srgbClr val="A8BAC7"/>
                </a:solidFill>
              </a:rPr>
              <a:t>Diagnóstico de </a:t>
            </a:r>
            <a:r>
              <a:rPr lang="pt-BR" sz="1200" b="0" noProof="0" dirty="0" err="1">
                <a:solidFill>
                  <a:srgbClr val="A8BAC7"/>
                </a:solidFill>
              </a:rPr>
              <a:t>ping</a:t>
            </a:r>
            <a:r>
              <a:rPr lang="pt-BR" sz="1200" b="0" noProof="0" dirty="0">
                <a:solidFill>
                  <a:srgbClr val="A8BAC7"/>
                </a:solidFill>
              </a:rPr>
              <a:t>/</a:t>
            </a:r>
            <a:r>
              <a:rPr lang="pt-BR" sz="1200" b="0" noProof="0" dirty="0" err="1">
                <a:solidFill>
                  <a:srgbClr val="A8BAC7"/>
                </a:solidFill>
              </a:rPr>
              <a:t>tracert</a:t>
            </a:r>
            <a:r>
              <a:rPr lang="pt-BR" sz="1200" b="0" noProof="0" dirty="0">
                <a:solidFill>
                  <a:srgbClr val="A8BAC7"/>
                </a:solidFill>
              </a:rPr>
              <a:t>, origem da métrica e evidência para o chamado.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CCA044C5-67B0-4D1F-BFC9-A588A01332B0}"/>
              </a:ext>
            </a:extLst>
          </p:cNvPr>
          <p:cNvSpPr>
            <a:spLocks noGrp="1"/>
          </p:cNvSpPr>
          <p:nvPr/>
        </p:nvSpPr>
        <p:spPr>
          <a:xfrm>
            <a:off x="9286875" y="2333625"/>
            <a:ext cx="2219325" cy="2238375"/>
          </a:xfrm>
          <a:prstGeom prst="roundRect">
            <a:avLst>
              <a:gd name="adj" fmla="val 5150"/>
            </a:avLst>
          </a:prstGeom>
          <a:solidFill>
            <a:srgbClr val="102334"/>
          </a:solidFill>
          <a:ln w="9525">
            <a:solidFill>
              <a:srgbClr val="28485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075C641B-6DEA-478A-BA47-06E63A7B7379}"/>
              </a:ext>
            </a:extLst>
          </p:cNvPr>
          <p:cNvSpPr>
            <a:spLocks noGrp="1"/>
          </p:cNvSpPr>
          <p:nvPr/>
        </p:nvSpPr>
        <p:spPr>
          <a:xfrm>
            <a:off x="9515475" y="2581275"/>
            <a:ext cx="133350" cy="133350"/>
          </a:xfrm>
          <a:prstGeom prst="ellipse">
            <a:avLst/>
          </a:prstGeom>
          <a:solidFill>
            <a:srgbClr val="F06D78"/>
          </a:solidFill>
          <a:ln w="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C9112800-7D4B-4621-817A-8AC74A69E0AD}"/>
              </a:ext>
            </a:extLst>
          </p:cNvPr>
          <p:cNvSpPr>
            <a:spLocks noGrp="1"/>
          </p:cNvSpPr>
          <p:nvPr/>
        </p:nvSpPr>
        <p:spPr>
          <a:xfrm>
            <a:off x="9763125" y="2524125"/>
            <a:ext cx="1552575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4F8FB"/>
                </a:solidFill>
              </a:defRPr>
            </a:pPr>
            <a:r>
              <a:rPr lang="pt-BR" sz="1650" b="1" noProof="0" dirty="0">
                <a:solidFill>
                  <a:srgbClr val="F4F8FB"/>
                </a:solidFill>
              </a:rPr>
              <a:t>Continuidade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420274B0-8B40-4FB0-8632-62FA18A76779}"/>
              </a:ext>
            </a:extLst>
          </p:cNvPr>
          <p:cNvSpPr>
            <a:spLocks noGrp="1"/>
          </p:cNvSpPr>
          <p:nvPr/>
        </p:nvSpPr>
        <p:spPr>
          <a:xfrm>
            <a:off x="9515475" y="2962275"/>
            <a:ext cx="1762125" cy="1457325"/>
          </a:xfrm>
          <a:prstGeom prst="roundRect">
            <a:avLst>
              <a:gd name="adj" fmla="val 784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8BAC7"/>
                </a:solidFill>
              </a:defRPr>
            </a:pPr>
            <a:r>
              <a:rPr lang="pt-BR" sz="1200" b="0" noProof="0" dirty="0">
                <a:solidFill>
                  <a:srgbClr val="A8BAC7"/>
                </a:solidFill>
              </a:rPr>
              <a:t>Fila local, </a:t>
            </a:r>
            <a:r>
              <a:rPr lang="pt-BR" sz="1200" b="0" noProof="0" dirty="0" err="1">
                <a:solidFill>
                  <a:srgbClr val="A8BAC7"/>
                </a:solidFill>
              </a:rPr>
              <a:t>retry</a:t>
            </a:r>
            <a:r>
              <a:rPr lang="pt-BR" sz="1200" b="0" noProof="0" dirty="0">
                <a:solidFill>
                  <a:srgbClr val="A8BAC7"/>
                </a:solidFill>
              </a:rPr>
              <a:t>, envio idempotente e telemetria </a:t>
            </a:r>
            <a:r>
              <a:rPr lang="pt-BR" sz="1200" b="0" noProof="0" dirty="0" err="1">
                <a:solidFill>
                  <a:srgbClr val="A8BAC7"/>
                </a:solidFill>
              </a:rPr>
              <a:t>stale</a:t>
            </a:r>
            <a:r>
              <a:rPr lang="pt-BR" sz="1200" b="0" noProof="0" dirty="0">
                <a:solidFill>
                  <a:srgbClr val="A8BAC7"/>
                </a:solidFill>
              </a:rPr>
              <a:t> explícita.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F9BBB2F1-2EEB-47D8-9F39-E9F85A272588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10477500" cy="40005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F4F8FB"/>
                </a:solidFill>
              </a:defRPr>
            </a:pPr>
            <a:r>
              <a:rPr lang="pt-BR" sz="1725" b="1" noProof="0" dirty="0">
                <a:solidFill>
                  <a:srgbClr val="F4F8FB"/>
                </a:solidFill>
              </a:rPr>
              <a:t>A conectividade deixa de ser apenas “online/offline” e passa a ser gerenciável.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CAA289E9-E0D7-4AB3-86FA-0BA7A761749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7625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8BAC7"/>
                </a:solidFill>
              </a:defRPr>
            </a:pPr>
            <a:r>
              <a:rPr lang="pt-BR" sz="900" b="1" noProof="0" dirty="0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3A68CAA7-07CC-4FB7-B59B-7C5CD196B498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8BAC7"/>
                </a:solidFill>
              </a:defRPr>
            </a:pPr>
            <a:r>
              <a:rPr lang="pt-BR" sz="900" b="1" noProof="0" dirty="0">
                <a:solidFill>
                  <a:srgbClr val="A8BAC7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8330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89376A7E-75D9-4F35-BCA5-76CF06115A18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6667500" cy="2095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9C6D8"/>
                </a:solidFill>
              </a:defRPr>
            </a:pPr>
            <a:r>
              <a:rPr lang="pt-BR" sz="975" b="1" noProof="0" dirty="0">
                <a:solidFill>
                  <a:srgbClr val="39C6D8"/>
                </a:solidFill>
              </a:rPr>
              <a:t>MÓDULO 02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94EF0C90-F725-4419-9CC6-4C26EAE7A53F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668000" cy="6858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F4F8FB"/>
                </a:solidFill>
              </a:defRPr>
            </a:pPr>
            <a:r>
              <a:rPr lang="pt-BR" sz="2625" b="1" noProof="0" dirty="0">
                <a:solidFill>
                  <a:srgbClr val="F4F8FB"/>
                </a:solidFill>
              </a:rPr>
              <a:t>Arquitetura híbrida para operar onde o servidor central não alcança.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4A1412F9-301D-47DE-8370-792729843EF1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10096500" cy="3429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A8BAC7"/>
                </a:solidFill>
              </a:defRPr>
            </a:pPr>
            <a:r>
              <a:rPr lang="pt-BR" sz="1350" b="0" noProof="0" dirty="0">
                <a:solidFill>
                  <a:srgbClr val="A8BAC7"/>
                </a:solidFill>
              </a:rPr>
              <a:t>O servidor local da unidade coleta, normaliza e entrega telemetria com segurança.</a:t>
            </a:r>
          </a:p>
        </p:txBody>
      </p:sp>
      <p:sp>
        <p:nvSpPr>
          <p:cNvPr id="4" name="Conector reto 3">
            <a:extLst>
              <a:ext uri="{FF2B5EF4-FFF2-40B4-BE49-F238E27FC236}">
                <a16:creationId xmlns:a16="http://schemas.microsoft.com/office/drawing/2014/main" id="{DF437479-EB93-44FD-9036-07AE466F2C0E}"/>
              </a:ext>
            </a:extLst>
          </p:cNvPr>
          <p:cNvSpPr>
            <a:spLocks noGrp="1"/>
          </p:cNvSpPr>
          <p:nvPr/>
        </p:nvSpPr>
        <p:spPr>
          <a:xfrm>
            <a:off x="2476500" y="3429000"/>
            <a:ext cx="1619250" cy="0"/>
          </a:xfrm>
          <a:prstGeom prst="line">
            <a:avLst/>
          </a:prstGeom>
          <a:ln w="28575">
            <a:solidFill>
              <a:srgbClr val="39C6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Conector reto 4">
            <a:extLst>
              <a:ext uri="{FF2B5EF4-FFF2-40B4-BE49-F238E27FC236}">
                <a16:creationId xmlns:a16="http://schemas.microsoft.com/office/drawing/2014/main" id="{5363824B-3285-42E0-AE98-EEBA8CB409EA}"/>
              </a:ext>
            </a:extLst>
          </p:cNvPr>
          <p:cNvSpPr>
            <a:spLocks noGrp="1"/>
          </p:cNvSpPr>
          <p:nvPr/>
        </p:nvSpPr>
        <p:spPr>
          <a:xfrm>
            <a:off x="6191250" y="3429000"/>
            <a:ext cx="1619250" cy="0"/>
          </a:xfrm>
          <a:prstGeom prst="line">
            <a:avLst/>
          </a:prstGeom>
          <a:ln w="28575">
            <a:solidFill>
              <a:srgbClr val="59D49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Conector reto 5">
            <a:extLst>
              <a:ext uri="{FF2B5EF4-FFF2-40B4-BE49-F238E27FC236}">
                <a16:creationId xmlns:a16="http://schemas.microsoft.com/office/drawing/2014/main" id="{7236A6AC-E830-42AA-B8E1-4DDA2C229A8C}"/>
              </a:ext>
            </a:extLst>
          </p:cNvPr>
          <p:cNvSpPr>
            <a:spLocks noGrp="1"/>
          </p:cNvSpPr>
          <p:nvPr/>
        </p:nvSpPr>
        <p:spPr>
          <a:xfrm>
            <a:off x="9906000" y="3429000"/>
            <a:ext cx="1238250" cy="0"/>
          </a:xfrm>
          <a:prstGeom prst="line">
            <a:avLst/>
          </a:prstGeom>
          <a:ln w="28575">
            <a:solidFill>
              <a:srgbClr val="F6B95B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E359C62-919B-4465-9BD1-2FC8C5FEF75E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1809750" cy="1333500"/>
          </a:xfrm>
          <a:prstGeom prst="roundRect">
            <a:avLst>
              <a:gd name="adj" fmla="val 8571"/>
            </a:avLst>
          </a:prstGeom>
          <a:solidFill>
            <a:srgbClr val="102334"/>
          </a:solidFill>
          <a:ln w="9525">
            <a:solidFill>
              <a:srgbClr val="39C6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8EC8637-CD5D-48BE-968A-D320DE237AC7}"/>
              </a:ext>
            </a:extLst>
          </p:cNvPr>
          <p:cNvSpPr>
            <a:spLocks noGrp="1"/>
          </p:cNvSpPr>
          <p:nvPr/>
        </p:nvSpPr>
        <p:spPr>
          <a:xfrm>
            <a:off x="914400" y="3105150"/>
            <a:ext cx="1381125" cy="571500"/>
          </a:xfrm>
          <a:prstGeom prst="roundRect">
            <a:avLst>
              <a:gd name="adj" fmla="val 2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4F8FB"/>
                </a:solidFill>
              </a:defRPr>
            </a:pPr>
            <a:r>
              <a:rPr lang="pt-BR" sz="1500" b="1" noProof="0" dirty="0">
                <a:solidFill>
                  <a:srgbClr val="F4F8FB"/>
                </a:solidFill>
              </a:rPr>
              <a:t>HEALTHLINK</a:t>
            </a:r>
          </a:p>
          <a:p>
            <a:pPr>
              <a:defRPr sz="1500" b="1">
                <a:solidFill>
                  <a:srgbClr val="F4F8FB"/>
                </a:solidFill>
              </a:defRPr>
            </a:pPr>
            <a:r>
              <a:rPr lang="pt-BR" sz="1500" b="1" noProof="0" dirty="0">
                <a:solidFill>
                  <a:srgbClr val="F4F8FB"/>
                </a:solidFill>
              </a:rPr>
              <a:t>API + </a:t>
            </a:r>
            <a:r>
              <a:rPr lang="pt-BR" sz="1500" b="1" noProof="0" dirty="0" err="1">
                <a:solidFill>
                  <a:srgbClr val="F4F8FB"/>
                </a:solidFill>
              </a:rPr>
              <a:t>jobs</a:t>
            </a:r>
            <a:endParaRPr lang="pt-BR" sz="1500" b="1" noProof="0" dirty="0">
              <a:solidFill>
                <a:srgbClr val="F4F8FB"/>
              </a:solidFill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C0513847-EEEC-4BD6-AA52-6FF366294D61}"/>
              </a:ext>
            </a:extLst>
          </p:cNvPr>
          <p:cNvSpPr>
            <a:spLocks noGrp="1"/>
          </p:cNvSpPr>
          <p:nvPr/>
        </p:nvSpPr>
        <p:spPr>
          <a:xfrm>
            <a:off x="4095750" y="2762250"/>
            <a:ext cx="1809750" cy="1333500"/>
          </a:xfrm>
          <a:prstGeom prst="roundRect">
            <a:avLst>
              <a:gd name="adj" fmla="val 8571"/>
            </a:avLst>
          </a:prstGeom>
          <a:solidFill>
            <a:srgbClr val="102334"/>
          </a:solidFill>
          <a:ln w="9525">
            <a:solidFill>
              <a:srgbClr val="59D49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7502EE5D-EF99-4048-B3BC-1F6363F96903}"/>
              </a:ext>
            </a:extLst>
          </p:cNvPr>
          <p:cNvSpPr>
            <a:spLocks noGrp="1"/>
          </p:cNvSpPr>
          <p:nvPr/>
        </p:nvSpPr>
        <p:spPr>
          <a:xfrm>
            <a:off x="4324350" y="3105150"/>
            <a:ext cx="1381125" cy="571500"/>
          </a:xfrm>
          <a:prstGeom prst="roundRect">
            <a:avLst>
              <a:gd name="adj" fmla="val 2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4F8FB"/>
                </a:solidFill>
              </a:defRPr>
            </a:pPr>
            <a:r>
              <a:rPr lang="pt-BR" sz="1500" b="1" noProof="0" dirty="0">
                <a:solidFill>
                  <a:srgbClr val="F4F8FB"/>
                </a:solidFill>
              </a:rPr>
              <a:t>SERVIDOR LOCAL</a:t>
            </a:r>
          </a:p>
          <a:p>
            <a:pPr>
              <a:defRPr sz="1500" b="1">
                <a:solidFill>
                  <a:srgbClr val="F4F8FB"/>
                </a:solidFill>
              </a:defRPr>
            </a:pPr>
            <a:r>
              <a:rPr lang="pt-BR" sz="1500" b="1" noProof="0" dirty="0">
                <a:solidFill>
                  <a:srgbClr val="F4F8FB"/>
                </a:solidFill>
              </a:rPr>
              <a:t>agente + fila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BF416BB-8823-4212-A85B-067B07490DDC}"/>
              </a:ext>
            </a:extLst>
          </p:cNvPr>
          <p:cNvSpPr>
            <a:spLocks noGrp="1"/>
          </p:cNvSpPr>
          <p:nvPr/>
        </p:nvSpPr>
        <p:spPr>
          <a:xfrm>
            <a:off x="7810500" y="2762250"/>
            <a:ext cx="1809750" cy="1333500"/>
          </a:xfrm>
          <a:prstGeom prst="roundRect">
            <a:avLst>
              <a:gd name="adj" fmla="val 8571"/>
            </a:avLst>
          </a:prstGeom>
          <a:solidFill>
            <a:srgbClr val="102334"/>
          </a:solidFill>
          <a:ln w="9525">
            <a:solidFill>
              <a:srgbClr val="F6B95B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27D02C6-FD8D-4C54-BA76-FA1EF02317DA}"/>
              </a:ext>
            </a:extLst>
          </p:cNvPr>
          <p:cNvSpPr>
            <a:spLocks noGrp="1"/>
          </p:cNvSpPr>
          <p:nvPr/>
        </p:nvSpPr>
        <p:spPr>
          <a:xfrm>
            <a:off x="8039100" y="3105150"/>
            <a:ext cx="1381125" cy="571500"/>
          </a:xfrm>
          <a:prstGeom prst="roundRect">
            <a:avLst>
              <a:gd name="adj" fmla="val 2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4F8FB"/>
                </a:solidFill>
              </a:defRPr>
            </a:pPr>
            <a:r>
              <a:rPr lang="pt-BR" sz="1500" b="1" noProof="0" dirty="0">
                <a:solidFill>
                  <a:srgbClr val="F4F8FB"/>
                </a:solidFill>
              </a:rPr>
              <a:t>STARLINK</a:t>
            </a:r>
          </a:p>
          <a:p>
            <a:pPr>
              <a:defRPr sz="1500" b="1">
                <a:solidFill>
                  <a:srgbClr val="F4F8FB"/>
                </a:solidFill>
              </a:defRPr>
            </a:pPr>
            <a:r>
              <a:rPr lang="pt-BR" sz="1500" b="1" noProof="0" dirty="0" err="1">
                <a:solidFill>
                  <a:srgbClr val="F4F8FB"/>
                </a:solidFill>
              </a:rPr>
              <a:t>gRPC</a:t>
            </a:r>
            <a:r>
              <a:rPr lang="pt-BR" sz="1500" b="1" noProof="0" dirty="0">
                <a:solidFill>
                  <a:srgbClr val="F4F8FB"/>
                </a:solidFill>
              </a:rPr>
              <a:t> local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6A4F5A40-D678-4A16-9B50-4CB62DF9C0A9}"/>
              </a:ext>
            </a:extLst>
          </p:cNvPr>
          <p:cNvSpPr>
            <a:spLocks noGrp="1"/>
          </p:cNvSpPr>
          <p:nvPr/>
        </p:nvSpPr>
        <p:spPr>
          <a:xfrm>
            <a:off x="9906000" y="2762250"/>
            <a:ext cx="1809750" cy="1333500"/>
          </a:xfrm>
          <a:prstGeom prst="roundRect">
            <a:avLst>
              <a:gd name="adj" fmla="val 8571"/>
            </a:avLst>
          </a:prstGeom>
          <a:solidFill>
            <a:srgbClr val="102334"/>
          </a:solidFill>
          <a:ln w="9525">
            <a:solidFill>
              <a:srgbClr val="39C6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0CC55AFA-173A-4079-BCB4-34B42DA2552B}"/>
              </a:ext>
            </a:extLst>
          </p:cNvPr>
          <p:cNvSpPr>
            <a:spLocks noGrp="1"/>
          </p:cNvSpPr>
          <p:nvPr/>
        </p:nvSpPr>
        <p:spPr>
          <a:xfrm>
            <a:off x="10134600" y="3105150"/>
            <a:ext cx="1381125" cy="571500"/>
          </a:xfrm>
          <a:prstGeom prst="roundRect">
            <a:avLst>
              <a:gd name="adj" fmla="val 2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4F8FB"/>
                </a:solidFill>
              </a:defRPr>
            </a:pPr>
            <a:r>
              <a:rPr lang="pt-BR" sz="1500" b="1" noProof="0" dirty="0">
                <a:solidFill>
                  <a:srgbClr val="F4F8FB"/>
                </a:solidFill>
              </a:rPr>
              <a:t>MIKROTIK</a:t>
            </a:r>
          </a:p>
          <a:p>
            <a:pPr>
              <a:defRPr sz="1500" b="1">
                <a:solidFill>
                  <a:srgbClr val="F4F8FB"/>
                </a:solidFill>
              </a:defRPr>
            </a:pPr>
            <a:r>
              <a:rPr lang="pt-BR" sz="1500" b="1" noProof="0" dirty="0">
                <a:solidFill>
                  <a:srgbClr val="F4F8FB"/>
                </a:solidFill>
              </a:rPr>
              <a:t>SNMP/API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EC6BA46-BD6A-487F-8BB9-F2026BBBF0C9}"/>
              </a:ext>
            </a:extLst>
          </p:cNvPr>
          <p:cNvSpPr>
            <a:spLocks noGrp="1"/>
          </p:cNvSpPr>
          <p:nvPr/>
        </p:nvSpPr>
        <p:spPr>
          <a:xfrm>
            <a:off x="2590800" y="3905250"/>
            <a:ext cx="1714500" cy="2095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A8BAC7"/>
                </a:solidFill>
              </a:defRPr>
            </a:pPr>
            <a:r>
              <a:rPr lang="pt-BR" sz="1050" b="0" noProof="0" dirty="0">
                <a:solidFill>
                  <a:srgbClr val="A8BAC7"/>
                </a:solidFill>
              </a:rPr>
              <a:t>HTTPS/VPN autenticada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8F3AAB61-76FD-436E-9555-59C1192C26E1}"/>
              </a:ext>
            </a:extLst>
          </p:cNvPr>
          <p:cNvSpPr>
            <a:spLocks noGrp="1"/>
          </p:cNvSpPr>
          <p:nvPr/>
        </p:nvSpPr>
        <p:spPr>
          <a:xfrm>
            <a:off x="6381750" y="3905250"/>
            <a:ext cx="1238250" cy="2095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A8BAC7"/>
                </a:solidFill>
              </a:defRPr>
            </a:pPr>
            <a:r>
              <a:rPr lang="pt-BR" sz="1050" b="0" noProof="0" dirty="0">
                <a:solidFill>
                  <a:srgbClr val="A8BAC7"/>
                </a:solidFill>
              </a:rPr>
              <a:t>LAN da unidade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FEC99BE4-A466-426C-AFCC-41FF0E1D4AA5}"/>
              </a:ext>
            </a:extLst>
          </p:cNvPr>
          <p:cNvSpPr>
            <a:spLocks noGrp="1"/>
          </p:cNvSpPr>
          <p:nvPr/>
        </p:nvSpPr>
        <p:spPr>
          <a:xfrm>
            <a:off x="10287000" y="3905250"/>
            <a:ext cx="952500" cy="2095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A8BAC7"/>
                </a:solidFill>
              </a:defRPr>
            </a:pPr>
            <a:r>
              <a:rPr lang="pt-BR" sz="1050" b="0" noProof="0" dirty="0">
                <a:solidFill>
                  <a:srgbClr val="A8BAC7"/>
                </a:solidFill>
              </a:rPr>
              <a:t>opcional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D440189D-612D-4421-AB4B-42107DF22D70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10668000" cy="40005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F4F8FB"/>
                </a:solidFill>
              </a:defRPr>
            </a:pPr>
            <a:r>
              <a:rPr lang="pt-BR" sz="1725" b="1" noProof="0" dirty="0">
                <a:solidFill>
                  <a:srgbClr val="F4F8FB"/>
                </a:solidFill>
              </a:rPr>
              <a:t>O </a:t>
            </a:r>
            <a:r>
              <a:rPr lang="pt-BR" sz="1725" b="1" noProof="0" dirty="0" err="1">
                <a:solidFill>
                  <a:srgbClr val="F4F8FB"/>
                </a:solidFill>
              </a:rPr>
              <a:t>frontend</a:t>
            </a:r>
            <a:r>
              <a:rPr lang="pt-BR" sz="1725" b="1" noProof="0" dirty="0">
                <a:solidFill>
                  <a:srgbClr val="F4F8FB"/>
                </a:solidFill>
              </a:rPr>
              <a:t> consulta apenas projeções da API — nunca acessa diretamente a rede da unidade.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0A74A854-3532-447C-A237-68197263E5FB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7625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8BAC7"/>
                </a:solidFill>
              </a:defRPr>
            </a:pPr>
            <a:r>
              <a:rPr lang="pt-BR" sz="900" b="1" noProof="0" dirty="0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3A8823D3-290F-48B3-A6D8-5DDB4CA55CB6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8BAC7"/>
                </a:solidFill>
              </a:defRPr>
            </a:pPr>
            <a:r>
              <a:rPr lang="pt-BR" sz="900" b="1" noProof="0" dirty="0">
                <a:solidFill>
                  <a:srgbClr val="A8BAC7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47390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241968D6-6AC8-4BC2-A031-A66357DF5E14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6667500" cy="2095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9C6D8"/>
                </a:solidFill>
              </a:defRPr>
            </a:pPr>
            <a:r>
              <a:rPr lang="pt-BR" sz="975" b="1" noProof="0" dirty="0">
                <a:solidFill>
                  <a:srgbClr val="39C6D8"/>
                </a:solidFill>
              </a:rPr>
              <a:t>CONFIABILIDADE E SEGURANÇA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0FBC2BB-48CE-451A-B2FB-E07464C7DBA4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668000" cy="6858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F4F8FB"/>
                </a:solidFill>
              </a:defRPr>
            </a:pPr>
            <a:r>
              <a:rPr lang="pt-BR" sz="2625" b="1" noProof="0" dirty="0">
                <a:solidFill>
                  <a:srgbClr val="F4F8FB"/>
                </a:solidFill>
              </a:rPr>
              <a:t>O sistema evita decisões baseadas em telemetria velha ou contexto incompleto.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8BC4C637-AD99-41A8-AE06-411D905AD918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10096500" cy="3429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A8BAC7"/>
                </a:solidFill>
              </a:defRPr>
            </a:pPr>
            <a:r>
              <a:rPr lang="pt-BR" sz="1350" b="0" noProof="0" dirty="0">
                <a:solidFill>
                  <a:srgbClr val="A8BAC7"/>
                </a:solidFill>
              </a:rPr>
              <a:t>As regras de confiança são parte do produto, não apenas da infraestrutura.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BEBBD7D0-7E8F-4AE2-9B50-7605AB42246A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3333750" cy="2095500"/>
          </a:xfrm>
          <a:prstGeom prst="roundRect">
            <a:avLst>
              <a:gd name="adj" fmla="val 5455"/>
            </a:avLst>
          </a:prstGeom>
          <a:solidFill>
            <a:srgbClr val="102334"/>
          </a:solidFill>
          <a:ln w="9525">
            <a:solidFill>
              <a:srgbClr val="28485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2421E1E6-06B5-4DE4-A543-238D1AA3C172}"/>
              </a:ext>
            </a:extLst>
          </p:cNvPr>
          <p:cNvSpPr>
            <a:spLocks noGrp="1"/>
          </p:cNvSpPr>
          <p:nvPr/>
        </p:nvSpPr>
        <p:spPr>
          <a:xfrm>
            <a:off x="914400" y="2628900"/>
            <a:ext cx="133350" cy="133350"/>
          </a:xfrm>
          <a:prstGeom prst="ellipse">
            <a:avLst/>
          </a:prstGeom>
          <a:solidFill>
            <a:srgbClr val="F06D78"/>
          </a:solidFill>
          <a:ln w="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3AF56D0-E3AB-4614-B6A2-D062CF3825BB}"/>
              </a:ext>
            </a:extLst>
          </p:cNvPr>
          <p:cNvSpPr>
            <a:spLocks noGrp="1"/>
          </p:cNvSpPr>
          <p:nvPr/>
        </p:nvSpPr>
        <p:spPr>
          <a:xfrm>
            <a:off x="1162050" y="2571750"/>
            <a:ext cx="266700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4F8FB"/>
                </a:solidFill>
              </a:defRPr>
            </a:pPr>
            <a:r>
              <a:rPr lang="pt-BR" sz="1650" b="1" noProof="0" dirty="0">
                <a:solidFill>
                  <a:srgbClr val="F4F8FB"/>
                </a:solidFill>
              </a:rPr>
              <a:t>Telemetria </a:t>
            </a:r>
            <a:r>
              <a:rPr lang="pt-BR" sz="1650" b="1" noProof="0" dirty="0" err="1">
                <a:solidFill>
                  <a:srgbClr val="F4F8FB"/>
                </a:solidFill>
              </a:rPr>
              <a:t>stale</a:t>
            </a:r>
            <a:endParaRPr lang="pt-BR" sz="1650" b="1" noProof="0" dirty="0">
              <a:solidFill>
                <a:srgbClr val="F4F8FB"/>
              </a:solidFill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A1E1E096-5B0F-4E54-9F90-79018495600D}"/>
              </a:ext>
            </a:extLst>
          </p:cNvPr>
          <p:cNvSpPr>
            <a:spLocks noGrp="1"/>
          </p:cNvSpPr>
          <p:nvPr/>
        </p:nvSpPr>
        <p:spPr>
          <a:xfrm>
            <a:off x="914400" y="3009900"/>
            <a:ext cx="2876550" cy="1314450"/>
          </a:xfrm>
          <a:prstGeom prst="roundRect">
            <a:avLst>
              <a:gd name="adj" fmla="val 8696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8BAC7"/>
                </a:solidFill>
              </a:defRPr>
            </a:pPr>
            <a:r>
              <a:rPr lang="pt-BR" sz="1200" b="0" noProof="0" dirty="0">
                <a:solidFill>
                  <a:srgbClr val="A8BAC7"/>
                </a:solidFill>
              </a:rPr>
              <a:t>Após 30s sem amostra: estado </a:t>
            </a:r>
            <a:r>
              <a:rPr lang="pt-BR" sz="1200" b="0" noProof="0" dirty="0" err="1">
                <a:solidFill>
                  <a:srgbClr val="A8BAC7"/>
                </a:solidFill>
              </a:rPr>
              <a:t>unknown</a:t>
            </a:r>
            <a:r>
              <a:rPr lang="pt-BR" sz="1200" b="0" noProof="0" dirty="0">
                <a:solidFill>
                  <a:srgbClr val="A8BAC7"/>
                </a:solidFill>
              </a:rPr>
              <a:t>, indicadores atuais zerados e histórico preservado.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98250A40-0BE6-48A0-A88B-CD7D582D0B5E}"/>
              </a:ext>
            </a:extLst>
          </p:cNvPr>
          <p:cNvSpPr>
            <a:spLocks noGrp="1"/>
          </p:cNvSpPr>
          <p:nvPr/>
        </p:nvSpPr>
        <p:spPr>
          <a:xfrm>
            <a:off x="4429125" y="2381250"/>
            <a:ext cx="3333750" cy="2095500"/>
          </a:xfrm>
          <a:prstGeom prst="roundRect">
            <a:avLst>
              <a:gd name="adj" fmla="val 5455"/>
            </a:avLst>
          </a:prstGeom>
          <a:solidFill>
            <a:srgbClr val="102334"/>
          </a:solidFill>
          <a:ln w="9525">
            <a:solidFill>
              <a:srgbClr val="28485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65F1127C-1252-4559-9DF7-6E14954A7DE8}"/>
              </a:ext>
            </a:extLst>
          </p:cNvPr>
          <p:cNvSpPr>
            <a:spLocks noGrp="1"/>
          </p:cNvSpPr>
          <p:nvPr/>
        </p:nvSpPr>
        <p:spPr>
          <a:xfrm>
            <a:off x="4657725" y="2628900"/>
            <a:ext cx="133350" cy="133350"/>
          </a:xfrm>
          <a:prstGeom prst="ellipse">
            <a:avLst/>
          </a:prstGeom>
          <a:solidFill>
            <a:srgbClr val="39C6D8"/>
          </a:solidFill>
          <a:ln w="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F3AF977-E465-46D4-90E3-56D519C38467}"/>
              </a:ext>
            </a:extLst>
          </p:cNvPr>
          <p:cNvSpPr>
            <a:spLocks noGrp="1"/>
          </p:cNvSpPr>
          <p:nvPr/>
        </p:nvSpPr>
        <p:spPr>
          <a:xfrm>
            <a:off x="4905375" y="2571750"/>
            <a:ext cx="266700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4F8FB"/>
                </a:solidFill>
              </a:defRPr>
            </a:pPr>
            <a:r>
              <a:rPr lang="pt-BR" sz="1650" b="1" noProof="0" dirty="0">
                <a:solidFill>
                  <a:srgbClr val="F4F8FB"/>
                </a:solidFill>
              </a:rPr>
              <a:t>Fonte explícita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457BC48-5EBA-4A2A-99E0-050345414F2D}"/>
              </a:ext>
            </a:extLst>
          </p:cNvPr>
          <p:cNvSpPr>
            <a:spLocks noGrp="1"/>
          </p:cNvSpPr>
          <p:nvPr/>
        </p:nvSpPr>
        <p:spPr>
          <a:xfrm>
            <a:off x="4657725" y="3009900"/>
            <a:ext cx="2876550" cy="1314450"/>
          </a:xfrm>
          <a:prstGeom prst="roundRect">
            <a:avLst>
              <a:gd name="adj" fmla="val 8696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8BAC7"/>
                </a:solidFill>
              </a:defRPr>
            </a:pPr>
            <a:r>
              <a:rPr lang="pt-BR" sz="1200" b="0" noProof="0" dirty="0">
                <a:solidFill>
                  <a:srgbClr val="A8BAC7"/>
                </a:solidFill>
              </a:rPr>
              <a:t>Cada métrica preserva origem, </a:t>
            </a:r>
            <a:r>
              <a:rPr lang="pt-BR" sz="1200" b="0" noProof="0" dirty="0" err="1">
                <a:solidFill>
                  <a:srgbClr val="A8BAC7"/>
                </a:solidFill>
              </a:rPr>
              <a:t>timestamp</a:t>
            </a:r>
            <a:r>
              <a:rPr lang="pt-BR" sz="1200" b="0" noProof="0" dirty="0">
                <a:solidFill>
                  <a:srgbClr val="A8BAC7"/>
                </a:solidFill>
              </a:rPr>
              <a:t> e qualidade; campo ausente aparece como N/D.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254EC4CB-3B13-4C6C-A881-E17018BE7059}"/>
              </a:ext>
            </a:extLst>
          </p:cNvPr>
          <p:cNvSpPr>
            <a:spLocks noGrp="1"/>
          </p:cNvSpPr>
          <p:nvPr/>
        </p:nvSpPr>
        <p:spPr>
          <a:xfrm>
            <a:off x="8172450" y="2381250"/>
            <a:ext cx="3333750" cy="2095500"/>
          </a:xfrm>
          <a:prstGeom prst="roundRect">
            <a:avLst>
              <a:gd name="adj" fmla="val 5455"/>
            </a:avLst>
          </a:prstGeom>
          <a:solidFill>
            <a:srgbClr val="102334"/>
          </a:solidFill>
          <a:ln w="9525">
            <a:solidFill>
              <a:srgbClr val="28485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AAE0A7C0-BD1B-451B-B7D1-A2B2276DB6E6}"/>
              </a:ext>
            </a:extLst>
          </p:cNvPr>
          <p:cNvSpPr>
            <a:spLocks noGrp="1"/>
          </p:cNvSpPr>
          <p:nvPr/>
        </p:nvSpPr>
        <p:spPr>
          <a:xfrm>
            <a:off x="8401050" y="2628900"/>
            <a:ext cx="133350" cy="133350"/>
          </a:xfrm>
          <a:prstGeom prst="ellipse">
            <a:avLst/>
          </a:prstGeom>
          <a:solidFill>
            <a:srgbClr val="59D49A"/>
          </a:solidFill>
          <a:ln w="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CBF7EA0C-60DC-4A4E-933F-1B6F6AC51C32}"/>
              </a:ext>
            </a:extLst>
          </p:cNvPr>
          <p:cNvSpPr>
            <a:spLocks noGrp="1"/>
          </p:cNvSpPr>
          <p:nvPr/>
        </p:nvSpPr>
        <p:spPr>
          <a:xfrm>
            <a:off x="8648700" y="2571750"/>
            <a:ext cx="266700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4F8FB"/>
                </a:solidFill>
              </a:defRPr>
            </a:pPr>
            <a:r>
              <a:rPr lang="pt-BR" sz="1650" b="1" noProof="0" dirty="0">
                <a:solidFill>
                  <a:srgbClr val="F4F8FB"/>
                </a:solidFill>
              </a:rPr>
              <a:t>Acesso controlado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3939B4E3-93F3-4D2B-B5CB-FA3E18D7F393}"/>
              </a:ext>
            </a:extLst>
          </p:cNvPr>
          <p:cNvSpPr>
            <a:spLocks noGrp="1"/>
          </p:cNvSpPr>
          <p:nvPr/>
        </p:nvSpPr>
        <p:spPr>
          <a:xfrm>
            <a:off x="8401050" y="3009900"/>
            <a:ext cx="2876550" cy="1314450"/>
          </a:xfrm>
          <a:prstGeom prst="roundRect">
            <a:avLst>
              <a:gd name="adj" fmla="val 8696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8BAC7"/>
                </a:solidFill>
              </a:defRPr>
            </a:pPr>
            <a:r>
              <a:rPr lang="pt-BR" sz="1200" b="0" noProof="0" dirty="0" err="1">
                <a:solidFill>
                  <a:srgbClr val="A8BAC7"/>
                </a:solidFill>
              </a:rPr>
              <a:t>Multi-tenant</a:t>
            </a:r>
            <a:r>
              <a:rPr lang="pt-BR" sz="1200" b="0" noProof="0" dirty="0">
                <a:solidFill>
                  <a:srgbClr val="A8BAC7"/>
                </a:solidFill>
              </a:rPr>
              <a:t> desde o MVP, RLS, RBAC, agente com identidade própria e auditoria.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4A0B0087-4347-41AD-A1E8-8986088774D1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10477500" cy="40005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F4F8FB"/>
                </a:solidFill>
              </a:defRPr>
            </a:pPr>
            <a:r>
              <a:rPr lang="pt-BR" sz="1725" b="1" noProof="0" dirty="0">
                <a:solidFill>
                  <a:srgbClr val="F4F8FB"/>
                </a:solidFill>
              </a:rPr>
              <a:t>Resultado: menos “verde falso”, menos ambiguidade e mais confiança na ação.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2B837BBF-4CF4-4231-AD10-D3EC528D787C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7625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8BAC7"/>
                </a:solidFill>
              </a:defRPr>
            </a:pPr>
            <a:r>
              <a:rPr lang="pt-BR" sz="900" b="1" noProof="0" dirty="0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4B1F21D6-5084-4A20-9A82-E0968BDFBA18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8BAC7"/>
                </a:solidFill>
              </a:defRPr>
            </a:pPr>
            <a:r>
              <a:rPr lang="pt-BR" sz="900" b="1" noProof="0" dirty="0">
                <a:solidFill>
                  <a:srgbClr val="A8BAC7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62905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62DC9FD6-2959-4016-8104-08734F039EAA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6667500" cy="2095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9C6D8"/>
                </a:solidFill>
              </a:defRPr>
            </a:pPr>
            <a:r>
              <a:rPr lang="pt-BR" sz="975" b="1" noProof="0" dirty="0">
                <a:solidFill>
                  <a:srgbClr val="39C6D8"/>
                </a:solidFill>
              </a:rPr>
              <a:t>VALOR PARA A EQUIPE DE DESENVOLVIMENTO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D21EEEFB-AAD6-4644-9B54-D50D78FDFE22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668000" cy="6858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F4F8FB"/>
                </a:solidFill>
              </a:defRPr>
            </a:pPr>
            <a:r>
              <a:rPr lang="pt-BR" sz="2625" b="1" noProof="0" dirty="0">
                <a:solidFill>
                  <a:srgbClr val="F4F8FB"/>
                </a:solidFill>
              </a:rPr>
              <a:t>Uma plataforma que organiza evolução, integração e operação em torno do domínio.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7A152FD4-B282-48E4-8B14-1A4A31A02F4D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10096500" cy="3429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A8BAC7"/>
                </a:solidFill>
              </a:defRPr>
            </a:pPr>
            <a:r>
              <a:rPr lang="pt-BR" sz="1350" b="0" noProof="0" dirty="0">
                <a:solidFill>
                  <a:srgbClr val="A8BAC7"/>
                </a:solidFill>
              </a:rPr>
              <a:t>A arquitetura permite ampliar fontes e módulos sem reescrever a experiência operacional.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3B46FE77-E50F-423F-814F-01AABA040839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133350" cy="133350"/>
          </a:xfrm>
          <a:prstGeom prst="ellipse">
            <a:avLst/>
          </a:prstGeom>
          <a:solidFill>
            <a:srgbClr val="39C6D8"/>
          </a:solidFill>
          <a:ln w="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7E17804C-95B5-4E72-B44A-49AB84A912CB}"/>
              </a:ext>
            </a:extLst>
          </p:cNvPr>
          <p:cNvSpPr>
            <a:spLocks noGrp="1"/>
          </p:cNvSpPr>
          <p:nvPr/>
        </p:nvSpPr>
        <p:spPr>
          <a:xfrm>
            <a:off x="952500" y="2333625"/>
            <a:ext cx="190500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4F8FB"/>
                </a:solidFill>
              </a:defRPr>
            </a:pPr>
            <a:r>
              <a:rPr lang="pt-BR" sz="1650" b="1" noProof="0" dirty="0">
                <a:solidFill>
                  <a:srgbClr val="F4F8FB"/>
                </a:solidFill>
              </a:rPr>
              <a:t>Reuso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3E1F2C0-DFC9-4C65-87A4-E158B7724093}"/>
              </a:ext>
            </a:extLst>
          </p:cNvPr>
          <p:cNvSpPr>
            <a:spLocks noGrp="1"/>
          </p:cNvSpPr>
          <p:nvPr/>
        </p:nvSpPr>
        <p:spPr>
          <a:xfrm>
            <a:off x="952500" y="2714625"/>
            <a:ext cx="4572000" cy="514350"/>
          </a:xfrm>
          <a:prstGeom prst="roundRect">
            <a:avLst>
              <a:gd name="adj" fmla="val 22222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A8BAC7"/>
                </a:solidFill>
              </a:defRPr>
            </a:pPr>
            <a:r>
              <a:rPr lang="pt-BR" sz="1275" b="0" noProof="0" dirty="0" err="1">
                <a:solidFill>
                  <a:srgbClr val="A8BAC7"/>
                </a:solidFill>
              </a:rPr>
              <a:t>Zabbix</a:t>
            </a:r>
            <a:r>
              <a:rPr lang="pt-BR" sz="1275" b="0" noProof="0" dirty="0">
                <a:solidFill>
                  <a:srgbClr val="A8BAC7"/>
                </a:solidFill>
              </a:rPr>
              <a:t> continua sendo aproveitado como coletor e fonte de problemas.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48841216-74BB-4388-9090-9CC37852B427}"/>
              </a:ext>
            </a:extLst>
          </p:cNvPr>
          <p:cNvSpPr>
            <a:spLocks noGrp="1"/>
          </p:cNvSpPr>
          <p:nvPr/>
        </p:nvSpPr>
        <p:spPr>
          <a:xfrm>
            <a:off x="6115050" y="2400300"/>
            <a:ext cx="133350" cy="133350"/>
          </a:xfrm>
          <a:prstGeom prst="ellipse">
            <a:avLst/>
          </a:prstGeom>
          <a:solidFill>
            <a:srgbClr val="59D49A"/>
          </a:solidFill>
          <a:ln w="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885081E-2672-414C-B5A0-0D79E0912FCC}"/>
              </a:ext>
            </a:extLst>
          </p:cNvPr>
          <p:cNvSpPr>
            <a:spLocks noGrp="1"/>
          </p:cNvSpPr>
          <p:nvPr/>
        </p:nvSpPr>
        <p:spPr>
          <a:xfrm>
            <a:off x="6381750" y="2333625"/>
            <a:ext cx="190500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4F8FB"/>
                </a:solidFill>
              </a:defRPr>
            </a:pPr>
            <a:r>
              <a:rPr lang="pt-BR" sz="1650" b="1" noProof="0" dirty="0">
                <a:solidFill>
                  <a:srgbClr val="F4F8FB"/>
                </a:solidFill>
              </a:rPr>
              <a:t>Evolução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35A83FD-E4CC-4FD6-A279-D60129D960FA}"/>
              </a:ext>
            </a:extLst>
          </p:cNvPr>
          <p:cNvSpPr>
            <a:spLocks noGrp="1"/>
          </p:cNvSpPr>
          <p:nvPr/>
        </p:nvSpPr>
        <p:spPr>
          <a:xfrm>
            <a:off x="6381750" y="2714625"/>
            <a:ext cx="4572000" cy="514350"/>
          </a:xfrm>
          <a:prstGeom prst="roundRect">
            <a:avLst>
              <a:gd name="adj" fmla="val 22222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A8BAC7"/>
                </a:solidFill>
              </a:defRPr>
            </a:pPr>
            <a:r>
              <a:rPr lang="pt-BR" sz="1275" b="0" noProof="0" dirty="0">
                <a:solidFill>
                  <a:srgbClr val="A8BAC7"/>
                </a:solidFill>
              </a:rPr>
              <a:t>Starlink, </a:t>
            </a:r>
            <a:r>
              <a:rPr lang="pt-BR" sz="1275" b="0" noProof="0" dirty="0" err="1">
                <a:solidFill>
                  <a:srgbClr val="A8BAC7"/>
                </a:solidFill>
              </a:rPr>
              <a:t>MikroTik</a:t>
            </a:r>
            <a:r>
              <a:rPr lang="pt-BR" sz="1275" b="0" noProof="0" dirty="0">
                <a:solidFill>
                  <a:srgbClr val="A8BAC7"/>
                </a:solidFill>
              </a:rPr>
              <a:t> e novos adaptadores entram por contratos normalizados.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2EA83468-7527-4EC7-B610-9510270847F7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133350" cy="133350"/>
          </a:xfrm>
          <a:prstGeom prst="ellipse">
            <a:avLst/>
          </a:prstGeom>
          <a:solidFill>
            <a:srgbClr val="F6B95B"/>
          </a:solidFill>
          <a:ln w="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C1F7FA9-7CD5-44A5-8BB7-C0F4B0D1A7DA}"/>
              </a:ext>
            </a:extLst>
          </p:cNvPr>
          <p:cNvSpPr>
            <a:spLocks noGrp="1"/>
          </p:cNvSpPr>
          <p:nvPr/>
        </p:nvSpPr>
        <p:spPr>
          <a:xfrm>
            <a:off x="952500" y="3762375"/>
            <a:ext cx="190500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4F8FB"/>
                </a:solidFill>
              </a:defRPr>
            </a:pPr>
            <a:r>
              <a:rPr lang="pt-BR" sz="1650" b="1" noProof="0" dirty="0">
                <a:solidFill>
                  <a:srgbClr val="F4F8FB"/>
                </a:solidFill>
              </a:rPr>
              <a:t>Operabilidade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F11698D-D57A-48CD-AD8A-AAB0CDF94A24}"/>
              </a:ext>
            </a:extLst>
          </p:cNvPr>
          <p:cNvSpPr>
            <a:spLocks noGrp="1"/>
          </p:cNvSpPr>
          <p:nvPr/>
        </p:nvSpPr>
        <p:spPr>
          <a:xfrm>
            <a:off x="952500" y="4143375"/>
            <a:ext cx="4572000" cy="514350"/>
          </a:xfrm>
          <a:prstGeom prst="roundRect">
            <a:avLst>
              <a:gd name="adj" fmla="val 22222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A8BAC7"/>
                </a:solidFill>
              </a:defRPr>
            </a:pPr>
            <a:r>
              <a:rPr lang="pt-BR" sz="1275" b="0" noProof="0" dirty="0">
                <a:solidFill>
                  <a:srgbClr val="A8BAC7"/>
                </a:solidFill>
              </a:rPr>
              <a:t>Diagnóstico, saúde do agente, fila e sincronização são visíveis.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1AC7906C-A9E6-485A-B5ED-3FF0421D5E31}"/>
              </a:ext>
            </a:extLst>
          </p:cNvPr>
          <p:cNvSpPr>
            <a:spLocks noGrp="1"/>
          </p:cNvSpPr>
          <p:nvPr/>
        </p:nvSpPr>
        <p:spPr>
          <a:xfrm>
            <a:off x="6115050" y="3829050"/>
            <a:ext cx="133350" cy="133350"/>
          </a:xfrm>
          <a:prstGeom prst="ellipse">
            <a:avLst/>
          </a:prstGeom>
          <a:solidFill>
            <a:srgbClr val="F06D78"/>
          </a:solidFill>
          <a:ln w="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9DC09373-708C-44F1-AE29-689759522F16}"/>
              </a:ext>
            </a:extLst>
          </p:cNvPr>
          <p:cNvSpPr>
            <a:spLocks noGrp="1"/>
          </p:cNvSpPr>
          <p:nvPr/>
        </p:nvSpPr>
        <p:spPr>
          <a:xfrm>
            <a:off x="6381750" y="3762375"/>
            <a:ext cx="190500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4F8FB"/>
                </a:solidFill>
              </a:defRPr>
            </a:pPr>
            <a:r>
              <a:rPr lang="pt-BR" sz="1650" b="1" noProof="0" dirty="0">
                <a:solidFill>
                  <a:srgbClr val="F4F8FB"/>
                </a:solidFill>
              </a:rPr>
              <a:t>Produto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2AD35BC1-287E-467C-951B-77B2F52D37A6}"/>
              </a:ext>
            </a:extLst>
          </p:cNvPr>
          <p:cNvSpPr>
            <a:spLocks noGrp="1"/>
          </p:cNvSpPr>
          <p:nvPr/>
        </p:nvSpPr>
        <p:spPr>
          <a:xfrm>
            <a:off x="6381750" y="4143375"/>
            <a:ext cx="4572000" cy="514350"/>
          </a:xfrm>
          <a:prstGeom prst="roundRect">
            <a:avLst>
              <a:gd name="adj" fmla="val 22222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A8BAC7"/>
                </a:solidFill>
              </a:defRPr>
            </a:pPr>
            <a:r>
              <a:rPr lang="pt-BR" sz="1275" b="0" noProof="0" dirty="0">
                <a:solidFill>
                  <a:srgbClr val="A8BAC7"/>
                </a:solidFill>
              </a:rPr>
              <a:t>O dado técnico ganha unidade, impacto, histórico e responsabilidade.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ED49834-8B9C-4BA5-B011-5A583366FAA8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10477500" cy="40005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F4F8FB"/>
                </a:solidFill>
              </a:defRPr>
            </a:pPr>
            <a:r>
              <a:rPr lang="pt-BR" sz="1725" b="1" noProof="0" dirty="0">
                <a:solidFill>
                  <a:srgbClr val="F4F8FB"/>
                </a:solidFill>
              </a:rPr>
              <a:t>É uma camada de produto: menor dependência de leitura manual e maior capacidade de escalar a operação.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037F0578-6601-45F5-9E01-BFD5799D20E0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7625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8BAC7"/>
                </a:solidFill>
              </a:defRPr>
            </a:pPr>
            <a:r>
              <a:rPr lang="pt-BR" sz="900" b="1" noProof="0" dirty="0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82B3E2DF-30DA-4C2E-9759-64E1A83F93DC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8BAC7"/>
                </a:solidFill>
              </a:defRPr>
            </a:pPr>
            <a:r>
              <a:rPr lang="pt-BR" sz="900" b="1" noProof="0" dirty="0">
                <a:solidFill>
                  <a:srgbClr val="A8BAC7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08598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C03621C8-640F-40B8-A541-85F00B9E676E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6667500" cy="2095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9C6D8"/>
                </a:solidFill>
              </a:defRPr>
            </a:pPr>
            <a:r>
              <a:rPr lang="pt-BR" sz="975" b="1" noProof="0" dirty="0">
                <a:solidFill>
                  <a:srgbClr val="39C6D8"/>
                </a:solidFill>
              </a:rPr>
              <a:t>PROPOSTA DE ENCAMINHAMENTO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D12C963F-B15C-4B9F-B486-D04BE93D617A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668000" cy="6858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F4F8FB"/>
                </a:solidFill>
              </a:defRPr>
            </a:pPr>
            <a:r>
              <a:rPr lang="pt-BR" sz="2625" b="1" noProof="0" dirty="0">
                <a:solidFill>
                  <a:srgbClr val="F4F8FB"/>
                </a:solidFill>
              </a:rPr>
              <a:t>Validar o </a:t>
            </a:r>
            <a:r>
              <a:rPr lang="pt-BR" sz="2625" b="1" noProof="0" dirty="0" err="1">
                <a:solidFill>
                  <a:srgbClr val="F4F8FB"/>
                </a:solidFill>
              </a:rPr>
              <a:t>HealthLink</a:t>
            </a:r>
            <a:r>
              <a:rPr lang="pt-BR" sz="2625" b="1" noProof="0" dirty="0">
                <a:solidFill>
                  <a:srgbClr val="F4F8FB"/>
                </a:solidFill>
              </a:rPr>
              <a:t> Sentinel como plataforma operacional em dois módulos.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4096533-0D4F-4440-AC03-A2A19D26C52E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10096500" cy="3429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A8BAC7"/>
                </a:solidFill>
              </a:defRPr>
            </a:pPr>
            <a:r>
              <a:rPr lang="pt-BR" sz="1350" b="0" noProof="0" dirty="0">
                <a:solidFill>
                  <a:srgbClr val="A8BAC7"/>
                </a:solidFill>
              </a:rPr>
              <a:t>A decisão recomendada é evoluir sobre o </a:t>
            </a:r>
            <a:r>
              <a:rPr lang="pt-BR" sz="1350" b="0" noProof="0" dirty="0" err="1">
                <a:solidFill>
                  <a:srgbClr val="A8BAC7"/>
                </a:solidFill>
              </a:rPr>
              <a:t>Zabbix</a:t>
            </a:r>
            <a:r>
              <a:rPr lang="pt-BR" sz="1350" b="0" noProof="0" dirty="0">
                <a:solidFill>
                  <a:srgbClr val="A8BAC7"/>
                </a:solidFill>
              </a:rPr>
              <a:t>, com foco em contexto, links móveis e suporte.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49283C2-97BE-4916-B0A9-3E7638268A29}"/>
              </a:ext>
            </a:extLst>
          </p:cNvPr>
          <p:cNvSpPr>
            <a:spLocks noGrp="1"/>
          </p:cNvSpPr>
          <p:nvPr/>
        </p:nvSpPr>
        <p:spPr>
          <a:xfrm>
            <a:off x="685800" y="2333625"/>
            <a:ext cx="3143250" cy="2000250"/>
          </a:xfrm>
          <a:prstGeom prst="roundRect">
            <a:avLst>
              <a:gd name="adj" fmla="val 5714"/>
            </a:avLst>
          </a:prstGeom>
          <a:solidFill>
            <a:srgbClr val="102334"/>
          </a:solidFill>
          <a:ln w="9525">
            <a:solidFill>
              <a:srgbClr val="28485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C0DDB8F1-D362-4479-9FCB-1E470A8C0C2C}"/>
              </a:ext>
            </a:extLst>
          </p:cNvPr>
          <p:cNvSpPr>
            <a:spLocks noGrp="1"/>
          </p:cNvSpPr>
          <p:nvPr/>
        </p:nvSpPr>
        <p:spPr>
          <a:xfrm>
            <a:off x="914400" y="2581275"/>
            <a:ext cx="133350" cy="133350"/>
          </a:xfrm>
          <a:prstGeom prst="ellipse">
            <a:avLst/>
          </a:prstGeom>
          <a:solidFill>
            <a:srgbClr val="39C6D8"/>
          </a:solidFill>
          <a:ln w="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37FE149-C6ED-423E-98F8-CE076C8FD074}"/>
              </a:ext>
            </a:extLst>
          </p:cNvPr>
          <p:cNvSpPr>
            <a:spLocks noGrp="1"/>
          </p:cNvSpPr>
          <p:nvPr/>
        </p:nvSpPr>
        <p:spPr>
          <a:xfrm>
            <a:off x="1162050" y="2524125"/>
            <a:ext cx="247650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4F8FB"/>
                </a:solidFill>
              </a:defRPr>
            </a:pPr>
            <a:r>
              <a:rPr lang="pt-BR" sz="1650" b="1" noProof="0" dirty="0">
                <a:solidFill>
                  <a:srgbClr val="F4F8FB"/>
                </a:solidFill>
              </a:rPr>
              <a:t>1. Demonstrar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74E53D3-AE4C-4501-ADC7-59F1044495FC}"/>
              </a:ext>
            </a:extLst>
          </p:cNvPr>
          <p:cNvSpPr>
            <a:spLocks noGrp="1"/>
          </p:cNvSpPr>
          <p:nvPr/>
        </p:nvSpPr>
        <p:spPr>
          <a:xfrm>
            <a:off x="914400" y="2962275"/>
            <a:ext cx="2686050" cy="1219200"/>
          </a:xfrm>
          <a:prstGeom prst="roundRect">
            <a:avLst>
              <a:gd name="adj" fmla="val 9375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8BAC7"/>
                </a:solidFill>
              </a:defRPr>
            </a:pPr>
            <a:r>
              <a:rPr lang="pt-BR" sz="1200" b="0" noProof="0" dirty="0">
                <a:solidFill>
                  <a:srgbClr val="A8BAC7"/>
                </a:solidFill>
              </a:rPr>
              <a:t>Fluxo completo: mapa → alerta → unidade → diagnóstico → histórico.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0E41ABB8-C2F2-4B69-8F42-EE5D108D583F}"/>
              </a:ext>
            </a:extLst>
          </p:cNvPr>
          <p:cNvSpPr>
            <a:spLocks noGrp="1"/>
          </p:cNvSpPr>
          <p:nvPr/>
        </p:nvSpPr>
        <p:spPr>
          <a:xfrm>
            <a:off x="4524375" y="2333625"/>
            <a:ext cx="3143250" cy="2000250"/>
          </a:xfrm>
          <a:prstGeom prst="roundRect">
            <a:avLst>
              <a:gd name="adj" fmla="val 5714"/>
            </a:avLst>
          </a:prstGeom>
          <a:solidFill>
            <a:srgbClr val="102334"/>
          </a:solidFill>
          <a:ln w="9525">
            <a:solidFill>
              <a:srgbClr val="28485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12DB52F3-5E1E-4D0A-8619-6AC98F1FC253}"/>
              </a:ext>
            </a:extLst>
          </p:cNvPr>
          <p:cNvSpPr>
            <a:spLocks noGrp="1"/>
          </p:cNvSpPr>
          <p:nvPr/>
        </p:nvSpPr>
        <p:spPr>
          <a:xfrm>
            <a:off x="4752975" y="2581275"/>
            <a:ext cx="133350" cy="133350"/>
          </a:xfrm>
          <a:prstGeom prst="ellipse">
            <a:avLst/>
          </a:prstGeom>
          <a:solidFill>
            <a:srgbClr val="59D49A"/>
          </a:solidFill>
          <a:ln w="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86B1BB68-4034-481E-B768-1131EB5A7002}"/>
              </a:ext>
            </a:extLst>
          </p:cNvPr>
          <p:cNvSpPr>
            <a:spLocks noGrp="1"/>
          </p:cNvSpPr>
          <p:nvPr/>
        </p:nvSpPr>
        <p:spPr>
          <a:xfrm>
            <a:off x="5000625" y="2524125"/>
            <a:ext cx="247650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4F8FB"/>
                </a:solidFill>
              </a:defRPr>
            </a:pPr>
            <a:r>
              <a:rPr lang="pt-BR" sz="1650" b="1" noProof="0" dirty="0">
                <a:solidFill>
                  <a:srgbClr val="F4F8FB"/>
                </a:solidFill>
              </a:rPr>
              <a:t>2. Priorizar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A2307A9-8242-415B-9934-0063F1C7F7C0}"/>
              </a:ext>
            </a:extLst>
          </p:cNvPr>
          <p:cNvSpPr>
            <a:spLocks noGrp="1"/>
          </p:cNvSpPr>
          <p:nvPr/>
        </p:nvSpPr>
        <p:spPr>
          <a:xfrm>
            <a:off x="4752975" y="2962275"/>
            <a:ext cx="2686050" cy="1219200"/>
          </a:xfrm>
          <a:prstGeom prst="roundRect">
            <a:avLst>
              <a:gd name="adj" fmla="val 9375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8BAC7"/>
                </a:solidFill>
              </a:defRPr>
            </a:pPr>
            <a:r>
              <a:rPr lang="pt-BR" sz="1200" b="0" noProof="0" dirty="0">
                <a:solidFill>
                  <a:srgbClr val="A8BAC7"/>
                </a:solidFill>
              </a:rPr>
              <a:t>Fechar Fase 4 do centro operacional e consolidar gestão de usuários, auditoria e relatórios.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74FFAD42-9353-4C6D-A2EF-4BA9B7557245}"/>
              </a:ext>
            </a:extLst>
          </p:cNvPr>
          <p:cNvSpPr>
            <a:spLocks noGrp="1"/>
          </p:cNvSpPr>
          <p:nvPr/>
        </p:nvSpPr>
        <p:spPr>
          <a:xfrm>
            <a:off x="8362950" y="2333625"/>
            <a:ext cx="3143250" cy="2000250"/>
          </a:xfrm>
          <a:prstGeom prst="roundRect">
            <a:avLst>
              <a:gd name="adj" fmla="val 5714"/>
            </a:avLst>
          </a:prstGeom>
          <a:solidFill>
            <a:srgbClr val="102334"/>
          </a:solidFill>
          <a:ln w="9525">
            <a:solidFill>
              <a:srgbClr val="28485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4B10FA1F-EC7E-42ED-881F-11A781F36944}"/>
              </a:ext>
            </a:extLst>
          </p:cNvPr>
          <p:cNvSpPr>
            <a:spLocks noGrp="1"/>
          </p:cNvSpPr>
          <p:nvPr/>
        </p:nvSpPr>
        <p:spPr>
          <a:xfrm>
            <a:off x="8591550" y="2581275"/>
            <a:ext cx="133350" cy="133350"/>
          </a:xfrm>
          <a:prstGeom prst="ellipse">
            <a:avLst/>
          </a:prstGeom>
          <a:solidFill>
            <a:srgbClr val="F6B95B"/>
          </a:solidFill>
          <a:ln w="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01ECC0B2-7E06-44FD-8B7D-E79B037C6565}"/>
              </a:ext>
            </a:extLst>
          </p:cNvPr>
          <p:cNvSpPr>
            <a:spLocks noGrp="1"/>
          </p:cNvSpPr>
          <p:nvPr/>
        </p:nvSpPr>
        <p:spPr>
          <a:xfrm>
            <a:off x="8839200" y="2524125"/>
            <a:ext cx="247650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4F8FB"/>
                </a:solidFill>
              </a:defRPr>
            </a:pPr>
            <a:r>
              <a:rPr lang="pt-BR" sz="1650" b="1" noProof="0" dirty="0">
                <a:solidFill>
                  <a:srgbClr val="F4F8FB"/>
                </a:solidFill>
              </a:rPr>
              <a:t>3. Pilotar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77E31CA9-1EB6-4AE1-8511-20321A2A60DC}"/>
              </a:ext>
            </a:extLst>
          </p:cNvPr>
          <p:cNvSpPr>
            <a:spLocks noGrp="1"/>
          </p:cNvSpPr>
          <p:nvPr/>
        </p:nvSpPr>
        <p:spPr>
          <a:xfrm>
            <a:off x="8591550" y="2962275"/>
            <a:ext cx="2686050" cy="1219200"/>
          </a:xfrm>
          <a:prstGeom prst="roundRect">
            <a:avLst>
              <a:gd name="adj" fmla="val 9375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8BAC7"/>
                </a:solidFill>
              </a:defRPr>
            </a:pPr>
            <a:r>
              <a:rPr lang="pt-BR" sz="1200" b="0" noProof="0" dirty="0">
                <a:solidFill>
                  <a:srgbClr val="A8BAC7"/>
                </a:solidFill>
              </a:rPr>
              <a:t>Selecionar unidades móveis e medir tempo de descoberta, diagnóstico e resolução.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3870B2C-856A-4013-9493-C41D7141B8CC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24765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39C6D8"/>
                </a:solidFill>
              </a:defRPr>
            </a:pPr>
            <a:r>
              <a:rPr lang="pt-BR" sz="1275" b="1" noProof="0" dirty="0">
                <a:solidFill>
                  <a:srgbClr val="39C6D8"/>
                </a:solidFill>
              </a:rPr>
              <a:t>Mensagem final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3C7AED31-A50F-48A5-A9C7-DF43782CD85A}"/>
              </a:ext>
            </a:extLst>
          </p:cNvPr>
          <p:cNvSpPr>
            <a:spLocks noGrp="1"/>
          </p:cNvSpPr>
          <p:nvPr/>
        </p:nvSpPr>
        <p:spPr>
          <a:xfrm>
            <a:off x="685800" y="5381625"/>
            <a:ext cx="7620000" cy="647700"/>
          </a:xfrm>
          <a:prstGeom prst="roundRect">
            <a:avLst>
              <a:gd name="adj" fmla="val 1764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F4F8FB"/>
                </a:solidFill>
              </a:defRPr>
            </a:pPr>
            <a:r>
              <a:rPr lang="pt-BR" sz="2250" b="1" noProof="0" dirty="0" err="1">
                <a:solidFill>
                  <a:srgbClr val="F4F8FB"/>
                </a:solidFill>
              </a:rPr>
              <a:t>Zabbix</a:t>
            </a:r>
            <a:r>
              <a:rPr lang="pt-BR" sz="2250" b="1" noProof="0" dirty="0">
                <a:solidFill>
                  <a:srgbClr val="F4F8FB"/>
                </a:solidFill>
              </a:rPr>
              <a:t> coleta.</a:t>
            </a:r>
          </a:p>
          <a:p>
            <a:pPr>
              <a:defRPr sz="2250" b="1">
                <a:solidFill>
                  <a:srgbClr val="F4F8FB"/>
                </a:solidFill>
              </a:defRPr>
            </a:pPr>
            <a:r>
              <a:rPr lang="pt-BR" sz="2250" b="1" noProof="0" dirty="0" err="1">
                <a:solidFill>
                  <a:srgbClr val="F4F8FB"/>
                </a:solidFill>
              </a:rPr>
              <a:t>HealthLink</a:t>
            </a:r>
            <a:r>
              <a:rPr lang="pt-BR" sz="2250" b="1" noProof="0" dirty="0">
                <a:solidFill>
                  <a:srgbClr val="F4F8FB"/>
                </a:solidFill>
              </a:rPr>
              <a:t> Sentinel orienta a operação.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BD8E1F6D-D1A3-437F-A727-C9C545BFEA53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7625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8BAC7"/>
                </a:solidFill>
              </a:defRPr>
            </a:pPr>
            <a:r>
              <a:rPr lang="pt-BR" sz="900" b="1" noProof="0" dirty="0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48175AF1-ED58-4759-A72B-7AB73A7E8DBE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8BAC7"/>
                </a:solidFill>
              </a:defRPr>
            </a:pPr>
            <a:r>
              <a:rPr lang="pt-BR" sz="900" b="1" noProof="0" dirty="0">
                <a:solidFill>
                  <a:srgbClr val="A8BAC7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4215339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871</Words>
  <Application>Microsoft Office PowerPoint</Application>
  <DocSecurity>0</DocSecurity>
  <PresentationFormat>Widescreen</PresentationFormat>
  <Paragraphs>146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2" baseType="lpstr"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jhonny barroncas</cp:lastModifiedBy>
  <cp:revision>1</cp:revision>
  <dcterms:created xsi:type="dcterms:W3CDTF">2026-08-18T13:23:31Z</dcterms:created>
  <dcterms:modified xsi:type="dcterms:W3CDTF">2026-08-18T13:31:46Z</dcterms:modified>
</cp:coreProperties>
</file>