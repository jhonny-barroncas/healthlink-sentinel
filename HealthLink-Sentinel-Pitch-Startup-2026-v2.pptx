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4C04659-2BD1-4F1B-BDCB-73C94D905A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667"/>
            </a:avLst>
          </a:prstGeom>
          <a:solidFill>
            <a:srgbClr val="080B1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1C4CEDE-92B2-44C7-8A10-F29816A1C1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oundRect">
            <a:avLst>
              <a:gd name="adj" fmla="val 50000"/>
            </a:avLst>
          </a:prstGeom>
          <a:solidFill>
            <a:srgbClr val="B6F36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1E68EE2-D6EB-4352-875E-666766B87F2E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5905500" cy="609600"/>
          </a:xfrm>
          <a:prstGeom prst="roundRect">
            <a:avLst>
              <a:gd name="adj" fmla="val 1875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F7F9FC"/>
                </a:solidFill>
              </a:defRPr>
            </a:pPr>
            <a:r>
              <a:rPr sz="3900" b="1">
                <a:solidFill>
                  <a:srgbClr val="F7F9FC"/>
                </a:solidFill>
              </a:rPr>
              <a:t>HEALTHLINK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EA1D954-67CD-43D4-9604-8B02586CAAB9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5905500" cy="609600"/>
          </a:xfrm>
          <a:prstGeom prst="roundRect">
            <a:avLst>
              <a:gd name="adj" fmla="val 1875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B6F36B"/>
                </a:solidFill>
              </a:defRPr>
            </a:pPr>
            <a:r>
              <a:rPr sz="3900" b="1">
                <a:solidFill>
                  <a:srgbClr val="B6F36B"/>
                </a:solidFill>
              </a:rPr>
              <a:t>SENTINEL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76FC32-79F3-4BB8-8726-5D03C506B655}"/>
              </a:ext>
            </a:extLst>
          </p:cNvPr>
          <p:cNvSpPr>
            <a:spLocks noGrp="1"/>
          </p:cNvSpPr>
          <p:nvPr/>
        </p:nvSpPr>
        <p:spPr>
          <a:xfrm>
            <a:off x="723900" y="2428875"/>
            <a:ext cx="6953250" cy="800100"/>
          </a:xfrm>
          <a:prstGeom prst="roundRect">
            <a:avLst>
              <a:gd name="adj" fmla="val 14286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F7F9FC"/>
                </a:solidFill>
              </a:defRPr>
            </a:pPr>
            <a:r>
              <a:rPr sz="2100" b="1">
                <a:solidFill>
                  <a:srgbClr val="F7F9FC"/>
                </a:solidFill>
              </a:rPr>
              <a:t>A operação de conectividade das unidades móveis</a:t>
            </a:r>
          </a:p>
          <a:p>
            <a:pPr>
              <a:defRPr sz="2100" b="1">
                <a:solidFill>
                  <a:srgbClr val="F7F9FC"/>
                </a:solidFill>
              </a:defRPr>
            </a:pPr>
            <a:r>
              <a:rPr sz="2100" b="1">
                <a:solidFill>
                  <a:srgbClr val="F7F9FC"/>
                </a:solidFill>
              </a:rPr>
              <a:t>precisa ser tão inteligente quanto a missão.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8138646-4DEF-4876-86D2-BF21FDC8FDD2}"/>
              </a:ext>
            </a:extLst>
          </p:cNvPr>
          <p:cNvSpPr>
            <a:spLocks noGrp="1"/>
          </p:cNvSpPr>
          <p:nvPr/>
        </p:nvSpPr>
        <p:spPr>
          <a:xfrm>
            <a:off x="723900" y="3714750"/>
            <a:ext cx="1571625" cy="304800"/>
          </a:xfrm>
          <a:prstGeom prst="roundRect">
            <a:avLst>
              <a:gd name="adj" fmla="val 50000"/>
            </a:avLst>
          </a:prstGeom>
          <a:solidFill>
            <a:srgbClr val="B6F36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6AC927C-0472-4EA5-B70D-3427AAADE852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1304925" cy="1714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80B13"/>
                </a:solidFill>
              </a:defRPr>
            </a:pPr>
            <a:r>
              <a:rPr sz="975" b="1" dirty="0">
                <a:solidFill>
                  <a:srgbClr val="080B13"/>
                </a:solidFill>
              </a:rPr>
              <a:t>PITCH DE PRODUTO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014F352-102D-454C-BAAD-D7CBEE4A7446}"/>
              </a:ext>
            </a:extLst>
          </p:cNvPr>
          <p:cNvSpPr>
            <a:spLocks noGrp="1"/>
          </p:cNvSpPr>
          <p:nvPr/>
        </p:nvSpPr>
        <p:spPr>
          <a:xfrm>
            <a:off x="723900" y="4286250"/>
            <a:ext cx="6191250" cy="419100"/>
          </a:xfrm>
          <a:prstGeom prst="roundRect">
            <a:avLst>
              <a:gd name="adj" fmla="val 2727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A4ADBD"/>
                </a:solidFill>
              </a:defRPr>
            </a:pPr>
            <a:r>
              <a:rPr sz="1500" b="0">
                <a:solidFill>
                  <a:srgbClr val="A4ADBD"/>
                </a:solidFill>
              </a:rPr>
              <a:t>Monitoramento operacional + gestão de links + suporte em uma única camada.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C3AE06D-878E-4242-B673-4947BE60B983}"/>
              </a:ext>
            </a:extLst>
          </p:cNvPr>
          <p:cNvSpPr>
            <a:spLocks noGrp="1"/>
          </p:cNvSpPr>
          <p:nvPr/>
        </p:nvSpPr>
        <p:spPr>
          <a:xfrm>
            <a:off x="8096250" y="914400"/>
            <a:ext cx="2857500" cy="4000500"/>
          </a:xfrm>
          <a:prstGeom prst="roundRect">
            <a:avLst>
              <a:gd name="adj" fmla="val 4000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46911B7-580D-450E-81BB-B7757A8F7407}"/>
              </a:ext>
            </a:extLst>
          </p:cNvPr>
          <p:cNvSpPr>
            <a:spLocks noGrp="1"/>
          </p:cNvSpPr>
          <p:nvPr/>
        </p:nvSpPr>
        <p:spPr>
          <a:xfrm>
            <a:off x="8477250" y="1257300"/>
            <a:ext cx="1333500" cy="2095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B6F36B"/>
                </a:solidFill>
              </a:defRPr>
            </a:pPr>
            <a:r>
              <a:rPr sz="1050" b="1">
                <a:solidFill>
                  <a:srgbClr val="B6F36B"/>
                </a:solidFill>
              </a:rPr>
              <a:t>A TESE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673C3FE-F4B5-4B7B-87B4-3A466CD8DB65}"/>
              </a:ext>
            </a:extLst>
          </p:cNvPr>
          <p:cNvSpPr>
            <a:spLocks noGrp="1"/>
          </p:cNvSpPr>
          <p:nvPr/>
        </p:nvSpPr>
        <p:spPr>
          <a:xfrm>
            <a:off x="8477250" y="1809750"/>
            <a:ext cx="2000250" cy="2190750"/>
          </a:xfrm>
          <a:prstGeom prst="roundRect">
            <a:avLst>
              <a:gd name="adj" fmla="val 571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Zabbix</a:t>
            </a:r>
          </a:p>
          <a:p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coleta.</a:t>
            </a:r>
          </a:p>
          <a:p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HealthLink</a:t>
            </a:r>
          </a:p>
          <a:p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interpreta</a:t>
            </a:r>
          </a:p>
          <a:p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e age.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BD00070-ABEF-47BA-B3CB-45AB4B08229F}"/>
              </a:ext>
            </a:extLst>
          </p:cNvPr>
          <p:cNvSpPr>
            <a:spLocks noGrp="1"/>
          </p:cNvSpPr>
          <p:nvPr/>
        </p:nvSpPr>
        <p:spPr>
          <a:xfrm>
            <a:off x="723900" y="5905500"/>
            <a:ext cx="381000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A4ADBD"/>
                </a:solidFill>
              </a:defRPr>
            </a:pPr>
            <a:r>
              <a:rPr sz="1125" b="0">
                <a:solidFill>
                  <a:srgbClr val="A4ADBD"/>
                </a:solidFill>
              </a:rPr>
              <a:t>Apresentação para decisão</a:t>
            </a:r>
          </a:p>
        </p:txBody>
      </p:sp>
    </p:spTree>
    <p:extLst>
      <p:ext uri="{BB962C8B-B14F-4D97-AF65-F5344CB8AC3E}">
        <p14:creationId xmlns:p14="http://schemas.microsoft.com/office/powerpoint/2010/main" val="1652263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4429C66-3501-4F0D-9AD6-48E76A98608E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6667500" cy="2095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O PROBLEMA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4037732-68DE-4660-8A0C-2781AA3248EA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668000" cy="723900"/>
          </a:xfrm>
          <a:prstGeom prst="roundRect">
            <a:avLst>
              <a:gd name="adj" fmla="val 1578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Quando uma unidade móvel para, o custo aparece antes do alerta.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9BC65D5-80DB-44C5-B418-813881E0BDF3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572750" cy="323850"/>
          </a:xfrm>
          <a:prstGeom prst="roundRect">
            <a:avLst>
              <a:gd name="adj" fmla="val 3529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O time precisa descobrir rápido: qual unidade, qual link, qual causa e qual ação.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DEB15A4-9937-4A01-926A-9377AA9AFE52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3238500" cy="1714500"/>
          </a:xfrm>
          <a:prstGeom prst="roundRect">
            <a:avLst>
              <a:gd name="adj" fmla="val 6667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22BCC322-41F8-49BD-987B-686FA95AEB21}"/>
              </a:ext>
            </a:extLst>
          </p:cNvPr>
          <p:cNvSpPr>
            <a:spLocks noGrp="1"/>
          </p:cNvSpPr>
          <p:nvPr/>
        </p:nvSpPr>
        <p:spPr>
          <a:xfrm>
            <a:off x="914400" y="2800350"/>
            <a:ext cx="133350" cy="133350"/>
          </a:xfrm>
          <a:prstGeom prst="ellipse">
            <a:avLst/>
          </a:prstGeom>
          <a:solidFill>
            <a:srgbClr val="FF6D9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466FEC8-A8E7-4450-B791-58A1CAD747E0}"/>
              </a:ext>
            </a:extLst>
          </p:cNvPr>
          <p:cNvSpPr>
            <a:spLocks noGrp="1"/>
          </p:cNvSpPr>
          <p:nvPr/>
        </p:nvSpPr>
        <p:spPr>
          <a:xfrm>
            <a:off x="1162050" y="2743200"/>
            <a:ext cx="25908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Dado demais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2A86CE2-85CD-4E44-8D06-7457EFC246B5}"/>
              </a:ext>
            </a:extLst>
          </p:cNvPr>
          <p:cNvSpPr>
            <a:spLocks noGrp="1"/>
          </p:cNvSpPr>
          <p:nvPr/>
        </p:nvSpPr>
        <p:spPr>
          <a:xfrm>
            <a:off x="914400" y="3181350"/>
            <a:ext cx="2781300" cy="971550"/>
          </a:xfrm>
          <a:prstGeom prst="roundRect">
            <a:avLst>
              <a:gd name="adj" fmla="val 11765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Hosts, itens, triggers e eventos em camadas técnicas.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CCC38AC-EF10-4CB2-8BC1-0DBD6B74D45B}"/>
              </a:ext>
            </a:extLst>
          </p:cNvPr>
          <p:cNvSpPr>
            <a:spLocks noGrp="1"/>
          </p:cNvSpPr>
          <p:nvPr/>
        </p:nvSpPr>
        <p:spPr>
          <a:xfrm>
            <a:off x="4324350" y="2571750"/>
            <a:ext cx="3238500" cy="1714500"/>
          </a:xfrm>
          <a:prstGeom prst="roundRect">
            <a:avLst>
              <a:gd name="adj" fmla="val 6667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5A8D5A4-0C18-40ED-9BAD-FC8C2A18FCFD}"/>
              </a:ext>
            </a:extLst>
          </p:cNvPr>
          <p:cNvSpPr>
            <a:spLocks noGrp="1"/>
          </p:cNvSpPr>
          <p:nvPr/>
        </p:nvSpPr>
        <p:spPr>
          <a:xfrm>
            <a:off x="4552950" y="2800350"/>
            <a:ext cx="133350" cy="133350"/>
          </a:xfrm>
          <a:prstGeom prst="ellipse">
            <a:avLst/>
          </a:prstGeom>
          <a:solidFill>
            <a:srgbClr val="FFB45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64EFD90-B46D-4059-9C8D-9A4690F9A9AB}"/>
              </a:ext>
            </a:extLst>
          </p:cNvPr>
          <p:cNvSpPr>
            <a:spLocks noGrp="1"/>
          </p:cNvSpPr>
          <p:nvPr/>
        </p:nvSpPr>
        <p:spPr>
          <a:xfrm>
            <a:off x="4800600" y="2743200"/>
            <a:ext cx="25908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Contexto de menos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A53D7B7-09EF-40A6-81A0-E2B6CE38D942}"/>
              </a:ext>
            </a:extLst>
          </p:cNvPr>
          <p:cNvSpPr>
            <a:spLocks noGrp="1"/>
          </p:cNvSpPr>
          <p:nvPr/>
        </p:nvSpPr>
        <p:spPr>
          <a:xfrm>
            <a:off x="4552950" y="3181350"/>
            <a:ext cx="2781300" cy="971550"/>
          </a:xfrm>
          <a:prstGeom prst="roundRect">
            <a:avLst>
              <a:gd name="adj" fmla="val 11765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O alerta não nasce com unidade, missão, rota e impacto.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692A5CF-8B0C-487F-827D-8EE0C94B4792}"/>
              </a:ext>
            </a:extLst>
          </p:cNvPr>
          <p:cNvSpPr>
            <a:spLocks noGrp="1"/>
          </p:cNvSpPr>
          <p:nvPr/>
        </p:nvSpPr>
        <p:spPr>
          <a:xfrm>
            <a:off x="7962900" y="2571750"/>
            <a:ext cx="3238500" cy="1714500"/>
          </a:xfrm>
          <a:prstGeom prst="roundRect">
            <a:avLst>
              <a:gd name="adj" fmla="val 6667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4B24F34D-7EDB-4726-BCF6-A5B618744B39}"/>
              </a:ext>
            </a:extLst>
          </p:cNvPr>
          <p:cNvSpPr>
            <a:spLocks noGrp="1"/>
          </p:cNvSpPr>
          <p:nvPr/>
        </p:nvSpPr>
        <p:spPr>
          <a:xfrm>
            <a:off x="8191500" y="2800350"/>
            <a:ext cx="133350" cy="133350"/>
          </a:xfrm>
          <a:prstGeom prst="ellipse">
            <a:avLst/>
          </a:prstGeom>
          <a:solidFill>
            <a:srgbClr val="9A8C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0B6E7B71-4959-466F-86ED-CC59072DCE26}"/>
              </a:ext>
            </a:extLst>
          </p:cNvPr>
          <p:cNvSpPr>
            <a:spLocks noGrp="1"/>
          </p:cNvSpPr>
          <p:nvPr/>
        </p:nvSpPr>
        <p:spPr>
          <a:xfrm>
            <a:off x="8439150" y="2743200"/>
            <a:ext cx="25908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Ação fragmentada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7CE1677-7ACB-47A5-A011-835ED5B7B432}"/>
              </a:ext>
            </a:extLst>
          </p:cNvPr>
          <p:cNvSpPr>
            <a:spLocks noGrp="1"/>
          </p:cNvSpPr>
          <p:nvPr/>
        </p:nvSpPr>
        <p:spPr>
          <a:xfrm>
            <a:off x="8191500" y="3181350"/>
            <a:ext cx="2781300" cy="971550"/>
          </a:xfrm>
          <a:prstGeom prst="roundRect">
            <a:avLst>
              <a:gd name="adj" fmla="val 11765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Diagnóstico, inventário e suporte vivem em fluxos separados.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2078C02-F2C1-458A-8522-C039ACD3C65B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9525000" cy="419100"/>
          </a:xfrm>
          <a:prstGeom prst="roundRect">
            <a:avLst>
              <a:gd name="adj" fmla="val 2727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B6F36B"/>
                </a:solidFill>
              </a:defRPr>
            </a:pPr>
            <a:r>
              <a:rPr sz="1950" b="1">
                <a:solidFill>
                  <a:srgbClr val="B6F36B"/>
                </a:solidFill>
              </a:rPr>
              <a:t>A oportunidade: transformar telemetria em decisão operacional.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C1F0E531-C89D-4660-8513-DC981C59D38F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02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C417FD06-6C07-4C01-A1AF-AAA792BFE340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7625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HEALTHLINK SENTINEL  /  PITCH 2026</a:t>
            </a:r>
          </a:p>
        </p:txBody>
      </p:sp>
    </p:spTree>
    <p:extLst>
      <p:ext uri="{BB962C8B-B14F-4D97-AF65-F5344CB8AC3E}">
        <p14:creationId xmlns:p14="http://schemas.microsoft.com/office/powerpoint/2010/main" val="1244557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BB9BC4C2-49D0-448D-81E3-3DC8451B32F8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6667500" cy="2095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A SOLUÇÃO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14476BC2-F29F-4AC8-96AA-A2E1EA7639C4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668000" cy="723900"/>
          </a:xfrm>
          <a:prstGeom prst="roundRect">
            <a:avLst>
              <a:gd name="adj" fmla="val 1578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Uma camada operacional construída sobre o investimento que já existe.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08D981D-1EEA-44F3-9289-9D52A40AE3B1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572750" cy="323850"/>
          </a:xfrm>
          <a:prstGeom prst="roundRect">
            <a:avLst>
              <a:gd name="adj" fmla="val 3529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O Zabbix continua coletando. O HealthLink conecta dados, pessoas e ações.</a:t>
            </a:r>
          </a:p>
        </p:txBody>
      </p:sp>
      <p:sp>
        <p:nvSpPr>
          <p:cNvPr id="4" name="Conector reto 3">
            <a:extLst>
              <a:ext uri="{FF2B5EF4-FFF2-40B4-BE49-F238E27FC236}">
                <a16:creationId xmlns:a16="http://schemas.microsoft.com/office/drawing/2014/main" id="{FECE410B-C03E-4B67-AC59-92EE1BE12E9C}"/>
              </a:ext>
            </a:extLst>
          </p:cNvPr>
          <p:cNvSpPr>
            <a:spLocks noGrp="1"/>
          </p:cNvSpPr>
          <p:nvPr/>
        </p:nvSpPr>
        <p:spPr>
          <a:xfrm>
            <a:off x="2762250" y="3429000"/>
            <a:ext cx="1809750" cy="0"/>
          </a:xfrm>
          <a:prstGeom prst="line">
            <a:avLst/>
          </a:prstGeom>
          <a:ln w="38100">
            <a:solidFill>
              <a:srgbClr val="65E7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Conector reto 4">
            <a:extLst>
              <a:ext uri="{FF2B5EF4-FFF2-40B4-BE49-F238E27FC236}">
                <a16:creationId xmlns:a16="http://schemas.microsoft.com/office/drawing/2014/main" id="{2925E7C5-2081-48E5-A530-0B49E5883452}"/>
              </a:ext>
            </a:extLst>
          </p:cNvPr>
          <p:cNvSpPr>
            <a:spLocks noGrp="1"/>
          </p:cNvSpPr>
          <p:nvPr/>
        </p:nvSpPr>
        <p:spPr>
          <a:xfrm>
            <a:off x="7620000" y="3429000"/>
            <a:ext cx="1619250" cy="0"/>
          </a:xfrm>
          <a:prstGeom prst="line">
            <a:avLst/>
          </a:prstGeom>
          <a:ln w="38100">
            <a:solidFill>
              <a:srgbClr val="B6F3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4D04B30-ED8A-49AA-A45C-A37FF6E5FECF}"/>
              </a:ext>
            </a:extLst>
          </p:cNvPr>
          <p:cNvSpPr>
            <a:spLocks noGrp="1"/>
          </p:cNvSpPr>
          <p:nvPr/>
        </p:nvSpPr>
        <p:spPr>
          <a:xfrm>
            <a:off x="685800" y="2714624"/>
            <a:ext cx="2076450" cy="1762117"/>
          </a:xfrm>
          <a:prstGeom prst="roundRect">
            <a:avLst>
              <a:gd name="adj" fmla="val 8000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D0A6375-0AC8-46B0-8F21-4448B8DA3145}"/>
              </a:ext>
            </a:extLst>
          </p:cNvPr>
          <p:cNvSpPr>
            <a:spLocks noGrp="1"/>
          </p:cNvSpPr>
          <p:nvPr/>
        </p:nvSpPr>
        <p:spPr>
          <a:xfrm>
            <a:off x="1057275" y="2752725"/>
            <a:ext cx="1333500" cy="2095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A4ADBD"/>
                </a:solidFill>
              </a:defRPr>
            </a:pPr>
            <a:r>
              <a:rPr sz="1050" b="1" dirty="0">
                <a:solidFill>
                  <a:srgbClr val="A4ADBD"/>
                </a:solidFill>
              </a:rPr>
              <a:t>FONTES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11DCB6D-0828-4136-B015-72AE6134E64F}"/>
              </a:ext>
            </a:extLst>
          </p:cNvPr>
          <p:cNvSpPr>
            <a:spLocks noGrp="1"/>
          </p:cNvSpPr>
          <p:nvPr/>
        </p:nvSpPr>
        <p:spPr>
          <a:xfrm>
            <a:off x="990600" y="3179445"/>
            <a:ext cx="1524000" cy="781050"/>
          </a:xfrm>
          <a:prstGeom prst="roundRect">
            <a:avLst>
              <a:gd name="adj" fmla="val 1463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7F9FC"/>
                </a:solidFill>
              </a:defRPr>
            </a:pPr>
            <a:r>
              <a:rPr sz="1800" b="1" dirty="0">
                <a:solidFill>
                  <a:srgbClr val="F7F9FC"/>
                </a:solidFill>
              </a:rPr>
              <a:t>Zabbix</a:t>
            </a:r>
          </a:p>
          <a:p>
            <a:pPr algn="ctr">
              <a:defRPr sz="1800" b="1">
                <a:solidFill>
                  <a:srgbClr val="F7F9FC"/>
                </a:solidFill>
              </a:defRPr>
            </a:pPr>
            <a:r>
              <a:rPr sz="1800" b="1" dirty="0">
                <a:solidFill>
                  <a:srgbClr val="F7F9FC"/>
                </a:solidFill>
              </a:rPr>
              <a:t>Starlink</a:t>
            </a:r>
          </a:p>
          <a:p>
            <a:pPr algn="ctr">
              <a:defRPr sz="1800" b="1">
                <a:solidFill>
                  <a:srgbClr val="F7F9FC"/>
                </a:solidFill>
              </a:defRPr>
            </a:pPr>
            <a:r>
              <a:rPr sz="1800" b="1" dirty="0" err="1">
                <a:solidFill>
                  <a:srgbClr val="F7F9FC"/>
                </a:solidFill>
              </a:rPr>
              <a:t>MikroTik</a:t>
            </a:r>
            <a:endParaRPr sz="1800" b="1" dirty="0">
              <a:solidFill>
                <a:srgbClr val="F7F9FC"/>
              </a:solidFill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A4C105D-84E8-4710-9BEC-ADBB9B5E2FF9}"/>
              </a:ext>
            </a:extLst>
          </p:cNvPr>
          <p:cNvSpPr>
            <a:spLocks noGrp="1"/>
          </p:cNvSpPr>
          <p:nvPr/>
        </p:nvSpPr>
        <p:spPr>
          <a:xfrm>
            <a:off x="4572000" y="2381250"/>
            <a:ext cx="3048000" cy="2095500"/>
          </a:xfrm>
          <a:prstGeom prst="roundRect">
            <a:avLst>
              <a:gd name="adj" fmla="val 5455"/>
            </a:avLst>
          </a:prstGeom>
          <a:solidFill>
            <a:srgbClr val="B6F36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9679477A-C10E-47AE-9F30-54A97C902E04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2190750" cy="647700"/>
          </a:xfrm>
          <a:prstGeom prst="roundRect">
            <a:avLst>
              <a:gd name="adj" fmla="val 1764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080B13"/>
                </a:solidFill>
              </a:defRPr>
            </a:pPr>
            <a:r>
              <a:rPr sz="2250" b="1" dirty="0">
                <a:solidFill>
                  <a:srgbClr val="080B13"/>
                </a:solidFill>
              </a:rPr>
              <a:t>HEALTHLINK</a:t>
            </a:r>
          </a:p>
          <a:p>
            <a:pPr>
              <a:defRPr sz="2250" b="1">
                <a:solidFill>
                  <a:srgbClr val="080B13"/>
                </a:solidFill>
              </a:defRPr>
            </a:pPr>
            <a:r>
              <a:rPr sz="2250" b="1" dirty="0">
                <a:solidFill>
                  <a:srgbClr val="080B13"/>
                </a:solidFill>
              </a:rPr>
              <a:t>SENTINEL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1426E6F-087A-4044-AAD3-74A0305197DB}"/>
              </a:ext>
            </a:extLst>
          </p:cNvPr>
          <p:cNvSpPr>
            <a:spLocks noGrp="1"/>
          </p:cNvSpPr>
          <p:nvPr/>
        </p:nvSpPr>
        <p:spPr>
          <a:xfrm>
            <a:off x="5067300" y="3714750"/>
            <a:ext cx="2286000" cy="457200"/>
          </a:xfrm>
          <a:prstGeom prst="roundRect">
            <a:avLst>
              <a:gd name="adj" fmla="val 25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80B13"/>
                </a:solidFill>
              </a:defRPr>
            </a:pPr>
            <a:r>
              <a:rPr sz="1200" b="1">
                <a:solidFill>
                  <a:srgbClr val="080B13"/>
                </a:solidFill>
              </a:rPr>
              <a:t>normaliza • correlaciona</a:t>
            </a:r>
          </a:p>
          <a:p>
            <a:pPr>
              <a:defRPr sz="1200" b="1">
                <a:solidFill>
                  <a:srgbClr val="080B13"/>
                </a:solidFill>
              </a:defRPr>
            </a:pPr>
            <a:r>
              <a:rPr sz="1200" b="1">
                <a:solidFill>
                  <a:srgbClr val="080B13"/>
                </a:solidFill>
              </a:rPr>
              <a:t>projeta • audita • orienta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923E332-42E8-43F1-86F4-7E77A0F5C3AF}"/>
              </a:ext>
            </a:extLst>
          </p:cNvPr>
          <p:cNvSpPr>
            <a:spLocks noGrp="1"/>
          </p:cNvSpPr>
          <p:nvPr/>
        </p:nvSpPr>
        <p:spPr>
          <a:xfrm>
            <a:off x="9278874" y="2752725"/>
            <a:ext cx="2266950" cy="1724014"/>
          </a:xfrm>
          <a:prstGeom prst="roundRect">
            <a:avLst>
              <a:gd name="adj" fmla="val 8000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C9D4B38-6DB0-416E-8279-043165998BB5}"/>
              </a:ext>
            </a:extLst>
          </p:cNvPr>
          <p:cNvSpPr>
            <a:spLocks noGrp="1"/>
          </p:cNvSpPr>
          <p:nvPr/>
        </p:nvSpPr>
        <p:spPr>
          <a:xfrm>
            <a:off x="9697974" y="2752725"/>
            <a:ext cx="1428750" cy="2095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A4ADBD"/>
                </a:solidFill>
              </a:defRPr>
            </a:pPr>
            <a:r>
              <a:rPr sz="1050" b="1" dirty="0">
                <a:solidFill>
                  <a:srgbClr val="A4ADBD"/>
                </a:solidFill>
              </a:rPr>
              <a:t>RESULTADO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7C43452-FED4-4256-A1B4-79F39A93E23D}"/>
              </a:ext>
            </a:extLst>
          </p:cNvPr>
          <p:cNvSpPr>
            <a:spLocks noGrp="1"/>
          </p:cNvSpPr>
          <p:nvPr/>
        </p:nvSpPr>
        <p:spPr>
          <a:xfrm>
            <a:off x="9602724" y="3179445"/>
            <a:ext cx="1619250" cy="781050"/>
          </a:xfrm>
          <a:prstGeom prst="roundRect">
            <a:avLst>
              <a:gd name="adj" fmla="val 1463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7F9FC"/>
                </a:solidFill>
              </a:defRPr>
            </a:pPr>
            <a:r>
              <a:rPr sz="1800" b="1" dirty="0">
                <a:solidFill>
                  <a:srgbClr val="F7F9FC"/>
                </a:solidFill>
              </a:rPr>
              <a:t>NOC</a:t>
            </a:r>
          </a:p>
          <a:p>
            <a:pPr algn="ctr">
              <a:defRPr sz="1800" b="1">
                <a:solidFill>
                  <a:srgbClr val="F7F9FC"/>
                </a:solidFill>
              </a:defRPr>
            </a:pPr>
            <a:r>
              <a:rPr sz="1800" b="1" dirty="0" err="1">
                <a:solidFill>
                  <a:srgbClr val="F7F9FC"/>
                </a:solidFill>
              </a:rPr>
              <a:t>Suporte</a:t>
            </a:r>
            <a:endParaRPr sz="1800" b="1" dirty="0">
              <a:solidFill>
                <a:srgbClr val="F7F9FC"/>
              </a:solidFill>
            </a:endParaRPr>
          </a:p>
          <a:p>
            <a:pPr algn="ctr">
              <a:defRPr sz="1800" b="1">
                <a:solidFill>
                  <a:srgbClr val="F7F9FC"/>
                </a:solidFill>
              </a:defRPr>
            </a:pPr>
            <a:r>
              <a:rPr sz="1800" b="1" dirty="0" err="1">
                <a:solidFill>
                  <a:srgbClr val="F7F9FC"/>
                </a:solidFill>
              </a:rPr>
              <a:t>Gestão</a:t>
            </a:r>
            <a:endParaRPr sz="1800" b="1" dirty="0">
              <a:solidFill>
                <a:srgbClr val="F7F9FC"/>
              </a:solidFill>
            </a:endParaRP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F868775-6EA6-4FFA-B2E7-8AC6DA5B22F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03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1DFAACCD-7652-4F56-B11D-BF6D327B4FD8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7625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HEALTHLINK SENTINEL  /  PITCH 2026</a:t>
            </a:r>
          </a:p>
        </p:txBody>
      </p:sp>
    </p:spTree>
    <p:extLst>
      <p:ext uri="{BB962C8B-B14F-4D97-AF65-F5344CB8AC3E}">
        <p14:creationId xmlns:p14="http://schemas.microsoft.com/office/powerpoint/2010/main" val="1220137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81683DE-D434-4EC3-925A-A576A774D177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6667500" cy="2095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O PRODUTO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6C83168-33E0-4397-815D-FA5D0B017A24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668000" cy="723900"/>
          </a:xfrm>
          <a:prstGeom prst="roundRect">
            <a:avLst>
              <a:gd name="adj" fmla="val 1578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Dois módulos, uma visão de operação.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6F4A5FB-5C39-4645-BAE3-3363F8D0BBB1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572750" cy="323850"/>
          </a:xfrm>
          <a:prstGeom prst="roundRect">
            <a:avLst>
              <a:gd name="adj" fmla="val 3529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A arquitetura atende tanto a infraestrutura corporativa quanto a conectividade em campo.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5849E16-5B9A-4CB3-BFAC-CCF13AA3DC95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4953000" cy="2381250"/>
          </a:xfrm>
          <a:prstGeom prst="roundRect">
            <a:avLst>
              <a:gd name="adj" fmla="val 4800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6882E7CD-0E98-43DC-B789-5A4DA93881BB}"/>
              </a:ext>
            </a:extLst>
          </p:cNvPr>
          <p:cNvSpPr>
            <a:spLocks noGrp="1"/>
          </p:cNvSpPr>
          <p:nvPr/>
        </p:nvSpPr>
        <p:spPr>
          <a:xfrm>
            <a:off x="914400" y="2705100"/>
            <a:ext cx="133350" cy="133350"/>
          </a:xfrm>
          <a:prstGeom prst="ellipse">
            <a:avLst/>
          </a:prstGeom>
          <a:solidFill>
            <a:srgbClr val="65E7E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A686038-4938-49C9-970C-A1CD25F70550}"/>
              </a:ext>
            </a:extLst>
          </p:cNvPr>
          <p:cNvSpPr>
            <a:spLocks noGrp="1"/>
          </p:cNvSpPr>
          <p:nvPr/>
        </p:nvSpPr>
        <p:spPr>
          <a:xfrm>
            <a:off x="1162050" y="2647950"/>
            <a:ext cx="43053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01  Infraestrutura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E478051-2D9E-49B0-9E09-673FCF5487E1}"/>
              </a:ext>
            </a:extLst>
          </p:cNvPr>
          <p:cNvSpPr>
            <a:spLocks noGrp="1"/>
          </p:cNvSpPr>
          <p:nvPr/>
        </p:nvSpPr>
        <p:spPr>
          <a:xfrm>
            <a:off x="914400" y="3086100"/>
            <a:ext cx="4495800" cy="1638300"/>
          </a:xfrm>
          <a:prstGeom prst="roundRect">
            <a:avLst>
              <a:gd name="adj" fmla="val 697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NOC, mapa, filtros por tipo/situação/UF, alertas, inventário, relatórios, RBAC, auditoria e histórico.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694C950-663C-4CD1-BB4B-8A7A7BF71858}"/>
              </a:ext>
            </a:extLst>
          </p:cNvPr>
          <p:cNvSpPr>
            <a:spLocks noGrp="1"/>
          </p:cNvSpPr>
          <p:nvPr/>
        </p:nvSpPr>
        <p:spPr>
          <a:xfrm>
            <a:off x="6553200" y="2476500"/>
            <a:ext cx="4953000" cy="2381250"/>
          </a:xfrm>
          <a:prstGeom prst="roundRect">
            <a:avLst>
              <a:gd name="adj" fmla="val 4800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58C17FFB-2936-4F54-BA6F-0276817D2BF4}"/>
              </a:ext>
            </a:extLst>
          </p:cNvPr>
          <p:cNvSpPr>
            <a:spLocks noGrp="1"/>
          </p:cNvSpPr>
          <p:nvPr/>
        </p:nvSpPr>
        <p:spPr>
          <a:xfrm>
            <a:off x="6781800" y="2705100"/>
            <a:ext cx="133350" cy="133350"/>
          </a:xfrm>
          <a:prstGeom prst="ellipse">
            <a:avLst/>
          </a:prstGeom>
          <a:solidFill>
            <a:srgbClr val="FFB45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965FFB2-00DC-4956-A0A4-0F5671E73D66}"/>
              </a:ext>
            </a:extLst>
          </p:cNvPr>
          <p:cNvSpPr>
            <a:spLocks noGrp="1"/>
          </p:cNvSpPr>
          <p:nvPr/>
        </p:nvSpPr>
        <p:spPr>
          <a:xfrm>
            <a:off x="7029450" y="2647950"/>
            <a:ext cx="43053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02  Unidades móveis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2905399-E8DE-455A-9507-B62C3AE9B710}"/>
              </a:ext>
            </a:extLst>
          </p:cNvPr>
          <p:cNvSpPr>
            <a:spLocks noGrp="1"/>
          </p:cNvSpPr>
          <p:nvPr/>
        </p:nvSpPr>
        <p:spPr>
          <a:xfrm>
            <a:off x="6781800" y="3086100"/>
            <a:ext cx="4495800" cy="1638300"/>
          </a:xfrm>
          <a:prstGeom prst="roundRect">
            <a:avLst>
              <a:gd name="adj" fmla="val 697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Links, Starlink, agente local, localização, cobertura/obstrução, diagnóstico e saúde do coletor.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8EE87BC-5253-4EBE-828C-3E5AF8CB3E1B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0668000" cy="381000"/>
          </a:xfrm>
          <a:prstGeom prst="roundRect">
            <a:avLst>
              <a:gd name="adj" fmla="val 3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F7F9FC"/>
                </a:solidFill>
              </a:defRPr>
            </a:pPr>
            <a:r>
              <a:rPr sz="1725" b="1">
                <a:solidFill>
                  <a:srgbClr val="F7F9FC"/>
                </a:solidFill>
              </a:rPr>
              <a:t>Um produto com dois pontos de entrada para o mesmo objetivo: manter a missão operacional.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97DA9EC-83BC-40C4-890C-00994744FF16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04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7C3A4E93-EB2C-4E12-AABC-06D00DDD3697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7625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HEALTHLINK SENTINEL  /  PITCH 2026</a:t>
            </a:r>
          </a:p>
        </p:txBody>
      </p:sp>
    </p:spTree>
    <p:extLst>
      <p:ext uri="{BB962C8B-B14F-4D97-AF65-F5344CB8AC3E}">
        <p14:creationId xmlns:p14="http://schemas.microsoft.com/office/powerpoint/2010/main" val="769288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4A7F1250-C03D-4674-B128-57FC79A67FA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6667500" cy="2095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MÓDULO 01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A55D953D-1251-4CCA-9C78-7417476610C0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668000" cy="723900"/>
          </a:xfrm>
          <a:prstGeom prst="roundRect">
            <a:avLst>
              <a:gd name="adj" fmla="val 1578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Infraestrutura que fala a linguagem do negócio.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55CA381-F2FB-4B64-BAE6-528D33F18C6A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572750" cy="323850"/>
          </a:xfrm>
          <a:prstGeom prst="roundRect">
            <a:avLst>
              <a:gd name="adj" fmla="val 3529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A equipe não precisa mais começar pelo host: começa pela unidade e pelo impacto.</a:t>
            </a:r>
          </a:p>
        </p:txBody>
      </p:sp>
      <p:pic>
        <p:nvPicPr>
          <p:cNvPr id="22" name="Imagem 21"/>
          <p:cNvPicPr>
            <a:picLocks noChangeAspect="1"/>
          </p:cNvPicPr>
          <p:nvPr/>
        </p:nvPicPr>
        <p:blipFill>
          <a:blip r:embed="rId3"/>
          <a:srcRect t="31" b="31"/>
          <a:stretch>
            <a:fillRect/>
          </a:stretch>
        </p:blipFill>
        <p:spPr>
          <a:xfrm>
            <a:off x="685800" y="2381250"/>
            <a:ext cx="5334000" cy="3000375"/>
          </a:xfrm>
          <a:prstGeom prst="roundRect">
            <a:avLst>
              <a:gd name="adj" fmla="val 3810"/>
            </a:avLst>
          </a:prstGeom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5692F65-C8D3-4FD0-9375-0FDD8CCC855C}"/>
              </a:ext>
            </a:extLst>
          </p:cNvPr>
          <p:cNvSpPr>
            <a:spLocks noGrp="1"/>
          </p:cNvSpPr>
          <p:nvPr/>
        </p:nvSpPr>
        <p:spPr>
          <a:xfrm>
            <a:off x="6477000" y="2381250"/>
            <a:ext cx="5029200" cy="1095375"/>
          </a:xfrm>
          <a:prstGeom prst="roundRect">
            <a:avLst>
              <a:gd name="adj" fmla="val 10435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5D881D4F-CA59-428B-B9BC-CEE3D37BE5CF}"/>
              </a:ext>
            </a:extLst>
          </p:cNvPr>
          <p:cNvSpPr>
            <a:spLocks noGrp="1"/>
          </p:cNvSpPr>
          <p:nvPr/>
        </p:nvSpPr>
        <p:spPr>
          <a:xfrm>
            <a:off x="6705600" y="2609850"/>
            <a:ext cx="133350" cy="133350"/>
          </a:xfrm>
          <a:prstGeom prst="ellipse">
            <a:avLst/>
          </a:prstGeom>
          <a:solidFill>
            <a:srgbClr val="65E7E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F1D6B10-B55C-4ADC-A068-12645C9AE5B7}"/>
              </a:ext>
            </a:extLst>
          </p:cNvPr>
          <p:cNvSpPr>
            <a:spLocks noGrp="1"/>
          </p:cNvSpPr>
          <p:nvPr/>
        </p:nvSpPr>
        <p:spPr>
          <a:xfrm>
            <a:off x="6953250" y="2552700"/>
            <a:ext cx="43815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Mapa operacional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13DA94C9-5742-4E40-BA06-6AF6222236AB}"/>
              </a:ext>
            </a:extLst>
          </p:cNvPr>
          <p:cNvSpPr>
            <a:spLocks noGrp="1"/>
          </p:cNvSpPr>
          <p:nvPr/>
        </p:nvSpPr>
        <p:spPr>
          <a:xfrm>
            <a:off x="6705600" y="2990850"/>
            <a:ext cx="4572000" cy="352425"/>
          </a:xfrm>
          <a:prstGeom prst="roundRect">
            <a:avLst>
              <a:gd name="adj" fmla="val 3243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Brasil, UF, unidade e pior estado consolidado entre equipamentos.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655CFFF-ED81-48AF-9DCB-41E81B7685E7}"/>
              </a:ext>
            </a:extLst>
          </p:cNvPr>
          <p:cNvSpPr>
            <a:spLocks noGrp="1"/>
          </p:cNvSpPr>
          <p:nvPr/>
        </p:nvSpPr>
        <p:spPr>
          <a:xfrm>
            <a:off x="6477000" y="3667125"/>
            <a:ext cx="5029200" cy="1095375"/>
          </a:xfrm>
          <a:prstGeom prst="roundRect">
            <a:avLst>
              <a:gd name="adj" fmla="val 10435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099E2C54-32ED-4585-A040-EFA687A00BC1}"/>
              </a:ext>
            </a:extLst>
          </p:cNvPr>
          <p:cNvSpPr>
            <a:spLocks noGrp="1"/>
          </p:cNvSpPr>
          <p:nvPr/>
        </p:nvSpPr>
        <p:spPr>
          <a:xfrm>
            <a:off x="6705600" y="3895725"/>
            <a:ext cx="133350" cy="133350"/>
          </a:xfrm>
          <a:prstGeom prst="ellipse">
            <a:avLst/>
          </a:prstGeom>
          <a:solidFill>
            <a:srgbClr val="FF6D9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E28DBEFA-B7F2-4403-AB89-56EDB99D15C6}"/>
              </a:ext>
            </a:extLst>
          </p:cNvPr>
          <p:cNvSpPr>
            <a:spLocks noGrp="1"/>
          </p:cNvSpPr>
          <p:nvPr/>
        </p:nvSpPr>
        <p:spPr>
          <a:xfrm>
            <a:off x="6953250" y="3838575"/>
            <a:ext cx="43815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Alertas e relatórios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158D77E-2EE2-4016-92EC-DF1681777A43}"/>
              </a:ext>
            </a:extLst>
          </p:cNvPr>
          <p:cNvSpPr>
            <a:spLocks noGrp="1"/>
          </p:cNvSpPr>
          <p:nvPr/>
        </p:nvSpPr>
        <p:spPr>
          <a:xfrm>
            <a:off x="6705600" y="4276725"/>
            <a:ext cx="4572000" cy="352425"/>
          </a:xfrm>
          <a:prstGeom prst="roundRect">
            <a:avLst>
              <a:gd name="adj" fmla="val 3243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Incidentes ativos/resolvidos, severidade, reconhecimento, tempo médio e impressão.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D672C11-3873-4A7F-83CD-C051179B25E7}"/>
              </a:ext>
            </a:extLst>
          </p:cNvPr>
          <p:cNvSpPr>
            <a:spLocks noGrp="1"/>
          </p:cNvSpPr>
          <p:nvPr/>
        </p:nvSpPr>
        <p:spPr>
          <a:xfrm>
            <a:off x="6477000" y="4953000"/>
            <a:ext cx="5029200" cy="1095375"/>
          </a:xfrm>
          <a:prstGeom prst="roundRect">
            <a:avLst>
              <a:gd name="adj" fmla="val 10435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C8765727-6831-4D0A-8BEF-D31E4B9CCB6D}"/>
              </a:ext>
            </a:extLst>
          </p:cNvPr>
          <p:cNvSpPr>
            <a:spLocks noGrp="1"/>
          </p:cNvSpPr>
          <p:nvPr/>
        </p:nvSpPr>
        <p:spPr>
          <a:xfrm>
            <a:off x="6705600" y="5181600"/>
            <a:ext cx="133350" cy="133350"/>
          </a:xfrm>
          <a:prstGeom prst="ellipse">
            <a:avLst/>
          </a:prstGeom>
          <a:solidFill>
            <a:srgbClr val="9A8C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0F8D998-375F-478A-B319-C60A02EF8BEB}"/>
              </a:ext>
            </a:extLst>
          </p:cNvPr>
          <p:cNvSpPr>
            <a:spLocks noGrp="1"/>
          </p:cNvSpPr>
          <p:nvPr/>
        </p:nvSpPr>
        <p:spPr>
          <a:xfrm>
            <a:off x="6953250" y="5124450"/>
            <a:ext cx="43815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Governança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5BCD1C65-43BB-4667-B21F-B41CB729C3F3}"/>
              </a:ext>
            </a:extLst>
          </p:cNvPr>
          <p:cNvSpPr>
            <a:spLocks noGrp="1"/>
          </p:cNvSpPr>
          <p:nvPr/>
        </p:nvSpPr>
        <p:spPr>
          <a:xfrm>
            <a:off x="6705600" y="5562600"/>
            <a:ext cx="4572000" cy="352425"/>
          </a:xfrm>
          <a:prstGeom prst="roundRect">
            <a:avLst>
              <a:gd name="adj" fmla="val 3243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RBAC, isolamento por cliente, auditoria e histórico preservado.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94770C45-8AFF-4932-B2C8-CE4FB9B92585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05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EFCC1E6A-D056-4B8F-B67B-FEAD77F74F7F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7625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HEALTHLINK SENTINEL  /  PITCH 2026</a:t>
            </a:r>
          </a:p>
        </p:txBody>
      </p:sp>
    </p:spTree>
    <p:extLst>
      <p:ext uri="{BB962C8B-B14F-4D97-AF65-F5344CB8AC3E}">
        <p14:creationId xmlns:p14="http://schemas.microsoft.com/office/powerpoint/2010/main" val="829070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C547ECAF-0C6B-4B17-AF63-B2F033ABDE8F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6667500" cy="2095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MÓDULO 02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635906D-3E90-4282-84F6-9309F631E33F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668000" cy="723900"/>
          </a:xfrm>
          <a:prstGeom prst="roundRect">
            <a:avLst>
              <a:gd name="adj" fmla="val 1578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Unidades móveis com um agente dentro da rede.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D0E33D1-3C40-4A71-A832-47FE6A478C1B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572750" cy="323850"/>
          </a:xfrm>
          <a:prstGeom prst="roundRect">
            <a:avLst>
              <a:gd name="adj" fmla="val 3529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A operação central enxerga a unidade sem precisar acessar diretamente a antena ou o MikroTik.</a:t>
            </a:r>
          </a:p>
        </p:txBody>
      </p:sp>
      <p:pic>
        <p:nvPicPr>
          <p:cNvPr id="22" name="Imagem 21"/>
          <p:cNvPicPr>
            <a:picLocks noChangeAspect="1"/>
          </p:cNvPicPr>
          <p:nvPr/>
        </p:nvPicPr>
        <p:blipFill>
          <a:blip r:embed="rId3"/>
          <a:srcRect t="24101" b="24101"/>
          <a:stretch>
            <a:fillRect/>
          </a:stretch>
        </p:blipFill>
        <p:spPr>
          <a:xfrm>
            <a:off x="685800" y="2428875"/>
            <a:ext cx="5334000" cy="3000375"/>
          </a:xfrm>
          <a:prstGeom prst="roundRect">
            <a:avLst>
              <a:gd name="adj" fmla="val 3810"/>
            </a:avLst>
          </a:prstGeom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FE6AB9C-7AED-4CA1-AD68-B838B30F49EB}"/>
              </a:ext>
            </a:extLst>
          </p:cNvPr>
          <p:cNvSpPr>
            <a:spLocks noGrp="1"/>
          </p:cNvSpPr>
          <p:nvPr/>
        </p:nvSpPr>
        <p:spPr>
          <a:xfrm>
            <a:off x="6477000" y="2428875"/>
            <a:ext cx="5029200" cy="1095375"/>
          </a:xfrm>
          <a:prstGeom prst="roundRect">
            <a:avLst>
              <a:gd name="adj" fmla="val 10435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A9D0514-3BF5-45E4-BD25-500F53B7EADE}"/>
              </a:ext>
            </a:extLst>
          </p:cNvPr>
          <p:cNvSpPr>
            <a:spLocks noGrp="1"/>
          </p:cNvSpPr>
          <p:nvPr/>
        </p:nvSpPr>
        <p:spPr>
          <a:xfrm>
            <a:off x="6705600" y="2657475"/>
            <a:ext cx="133350" cy="133350"/>
          </a:xfrm>
          <a:prstGeom prst="ellipse">
            <a:avLst/>
          </a:prstGeom>
          <a:solidFill>
            <a:srgbClr val="B6F36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636FB2B-EE47-47BE-8358-2AF60D072F4C}"/>
              </a:ext>
            </a:extLst>
          </p:cNvPr>
          <p:cNvSpPr>
            <a:spLocks noGrp="1"/>
          </p:cNvSpPr>
          <p:nvPr/>
        </p:nvSpPr>
        <p:spPr>
          <a:xfrm>
            <a:off x="6953250" y="2600325"/>
            <a:ext cx="43815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Agente local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0F6359E-E725-45D3-9B78-A3E92F3B4927}"/>
              </a:ext>
            </a:extLst>
          </p:cNvPr>
          <p:cNvSpPr>
            <a:spLocks noGrp="1"/>
          </p:cNvSpPr>
          <p:nvPr/>
        </p:nvSpPr>
        <p:spPr>
          <a:xfrm>
            <a:off x="6705600" y="3038475"/>
            <a:ext cx="4572000" cy="352425"/>
          </a:xfrm>
          <a:prstGeom prst="roundRect">
            <a:avLst>
              <a:gd name="adj" fmla="val 3243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Heartbeat, versão, última coleta, fila local, retry e atualização por SHA-256.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00B763F0-9A77-4FEE-89B1-5D37F8CE3444}"/>
              </a:ext>
            </a:extLst>
          </p:cNvPr>
          <p:cNvSpPr>
            <a:spLocks noGrp="1"/>
          </p:cNvSpPr>
          <p:nvPr/>
        </p:nvSpPr>
        <p:spPr>
          <a:xfrm>
            <a:off x="6477000" y="3714750"/>
            <a:ext cx="5029200" cy="1095375"/>
          </a:xfrm>
          <a:prstGeom prst="roundRect">
            <a:avLst>
              <a:gd name="adj" fmla="val 10435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BEB5FE62-C1AC-42CE-9A7F-941C7AC1DBE5}"/>
              </a:ext>
            </a:extLst>
          </p:cNvPr>
          <p:cNvSpPr>
            <a:spLocks noGrp="1"/>
          </p:cNvSpPr>
          <p:nvPr/>
        </p:nvSpPr>
        <p:spPr>
          <a:xfrm>
            <a:off x="6705600" y="3943350"/>
            <a:ext cx="133350" cy="133350"/>
          </a:xfrm>
          <a:prstGeom prst="ellipse">
            <a:avLst/>
          </a:prstGeom>
          <a:solidFill>
            <a:srgbClr val="FFB45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8DD3869-8858-4202-BAD3-1E9B559325EA}"/>
              </a:ext>
            </a:extLst>
          </p:cNvPr>
          <p:cNvSpPr>
            <a:spLocks noGrp="1"/>
          </p:cNvSpPr>
          <p:nvPr/>
        </p:nvSpPr>
        <p:spPr>
          <a:xfrm>
            <a:off x="6953250" y="3886200"/>
            <a:ext cx="43815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Starlink + MikroTik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25C2FC5-E49D-4139-B6EB-700322F02C9D}"/>
              </a:ext>
            </a:extLst>
          </p:cNvPr>
          <p:cNvSpPr>
            <a:spLocks noGrp="1"/>
          </p:cNvSpPr>
          <p:nvPr/>
        </p:nvSpPr>
        <p:spPr>
          <a:xfrm>
            <a:off x="6705600" y="4324350"/>
            <a:ext cx="4572000" cy="352425"/>
          </a:xfrm>
          <a:prstGeom prst="roundRect">
            <a:avLst>
              <a:gd name="adj" fmla="val 3243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Telemetria específica da antena, caminho WAN e interfaces sem misturar fontes.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BC8BB5A-F01E-41F5-82C8-9F1CEC8972CC}"/>
              </a:ext>
            </a:extLst>
          </p:cNvPr>
          <p:cNvSpPr>
            <a:spLocks noGrp="1"/>
          </p:cNvSpPr>
          <p:nvPr/>
        </p:nvSpPr>
        <p:spPr>
          <a:xfrm>
            <a:off x="6477000" y="5000625"/>
            <a:ext cx="5029200" cy="1095375"/>
          </a:xfrm>
          <a:prstGeom prst="roundRect">
            <a:avLst>
              <a:gd name="adj" fmla="val 10435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A48575C4-CAE7-4AAB-BA2F-ACB484F072C8}"/>
              </a:ext>
            </a:extLst>
          </p:cNvPr>
          <p:cNvSpPr>
            <a:spLocks noGrp="1"/>
          </p:cNvSpPr>
          <p:nvPr/>
        </p:nvSpPr>
        <p:spPr>
          <a:xfrm>
            <a:off x="6705600" y="5229225"/>
            <a:ext cx="133350" cy="133350"/>
          </a:xfrm>
          <a:prstGeom prst="ellipse">
            <a:avLst/>
          </a:prstGeom>
          <a:solidFill>
            <a:srgbClr val="65E7E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6637BB3-CCC3-4B18-8F06-E09D574322A2}"/>
              </a:ext>
            </a:extLst>
          </p:cNvPr>
          <p:cNvSpPr>
            <a:spLocks noGrp="1"/>
          </p:cNvSpPr>
          <p:nvPr/>
        </p:nvSpPr>
        <p:spPr>
          <a:xfrm>
            <a:off x="6953250" y="5172075"/>
            <a:ext cx="43815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Suporte orientado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F912688D-84CB-432C-99F9-41E49FAB9300}"/>
              </a:ext>
            </a:extLst>
          </p:cNvPr>
          <p:cNvSpPr>
            <a:spLocks noGrp="1"/>
          </p:cNvSpPr>
          <p:nvPr/>
        </p:nvSpPr>
        <p:spPr>
          <a:xfrm>
            <a:off x="6705600" y="5610225"/>
            <a:ext cx="4572000" cy="352425"/>
          </a:xfrm>
          <a:prstGeom prst="roundRect">
            <a:avLst>
              <a:gd name="adj" fmla="val 3243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Ping, tracert, origem da métrica e evidência para o atendimento.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4BF6DFFD-DD23-49F7-807A-0C808176F851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06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59BBB02-1C57-44BB-AEE6-AE3A2881C814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7625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HEALTHLINK SENTINEL  /  PITCH 2026</a:t>
            </a:r>
          </a:p>
        </p:txBody>
      </p:sp>
    </p:spTree>
    <p:extLst>
      <p:ext uri="{BB962C8B-B14F-4D97-AF65-F5344CB8AC3E}">
        <p14:creationId xmlns:p14="http://schemas.microsoft.com/office/powerpoint/2010/main" val="1337793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AD0BC3DA-CD7B-4B08-A704-277B4EC45E30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6667500" cy="2095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INTEGRAÇÃO STARLINK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0C84F62-FE38-499A-8EAB-55938F05ECAA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668000" cy="723900"/>
          </a:xfrm>
          <a:prstGeom prst="roundRect">
            <a:avLst>
              <a:gd name="adj" fmla="val 1578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A antena deixa de ser uma caixa-preta.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BE201BF-4FF2-4321-890F-1D078B43E617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572750" cy="323850"/>
          </a:xfrm>
          <a:prstGeom prst="roundRect">
            <a:avLst>
              <a:gd name="adj" fmla="val 3529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O HealthLink transforma sinais específicos da constelação em informação operacional.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4C8B781-72FC-4818-89EE-A1E3C423E77A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4953000" cy="1238250"/>
          </a:xfrm>
          <a:prstGeom prst="roundRect">
            <a:avLst>
              <a:gd name="adj" fmla="val 9231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2B0B4840-9D35-451B-9F57-D8C2F3872746}"/>
              </a:ext>
            </a:extLst>
          </p:cNvPr>
          <p:cNvSpPr>
            <a:spLocks noGrp="1"/>
          </p:cNvSpPr>
          <p:nvPr/>
        </p:nvSpPr>
        <p:spPr>
          <a:xfrm>
            <a:off x="914400" y="2705100"/>
            <a:ext cx="133350" cy="133350"/>
          </a:xfrm>
          <a:prstGeom prst="ellipse">
            <a:avLst/>
          </a:prstGeom>
          <a:solidFill>
            <a:srgbClr val="65E7E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D1B0D0C-0468-4FEB-938D-31BF76AD38A2}"/>
              </a:ext>
            </a:extLst>
          </p:cNvPr>
          <p:cNvSpPr>
            <a:spLocks noGrp="1"/>
          </p:cNvSpPr>
          <p:nvPr/>
        </p:nvSpPr>
        <p:spPr>
          <a:xfrm>
            <a:off x="1162050" y="2647950"/>
            <a:ext cx="43053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Visibilidade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AA0CC2B-C8D7-4383-A0B1-2E05447C6C00}"/>
              </a:ext>
            </a:extLst>
          </p:cNvPr>
          <p:cNvSpPr>
            <a:spLocks noGrp="1"/>
          </p:cNvSpPr>
          <p:nvPr/>
        </p:nvSpPr>
        <p:spPr>
          <a:xfrm>
            <a:off x="914400" y="3086100"/>
            <a:ext cx="4495800" cy="495300"/>
          </a:xfrm>
          <a:prstGeom prst="roundRect">
            <a:avLst>
              <a:gd name="adj" fmla="val 2307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Latência, perda, download, upload e uptime.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A03086C-6AA4-451E-B468-0F6F22816E87}"/>
              </a:ext>
            </a:extLst>
          </p:cNvPr>
          <p:cNvSpPr>
            <a:spLocks noGrp="1"/>
          </p:cNvSpPr>
          <p:nvPr/>
        </p:nvSpPr>
        <p:spPr>
          <a:xfrm>
            <a:off x="6115050" y="2476500"/>
            <a:ext cx="4953000" cy="1238250"/>
          </a:xfrm>
          <a:prstGeom prst="roundRect">
            <a:avLst>
              <a:gd name="adj" fmla="val 9231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EBDC0D51-C47C-4C9D-9939-4A4F6388295B}"/>
              </a:ext>
            </a:extLst>
          </p:cNvPr>
          <p:cNvSpPr>
            <a:spLocks noGrp="1"/>
          </p:cNvSpPr>
          <p:nvPr/>
        </p:nvSpPr>
        <p:spPr>
          <a:xfrm>
            <a:off x="6343650" y="2705100"/>
            <a:ext cx="133350" cy="133350"/>
          </a:xfrm>
          <a:prstGeom prst="ellipse">
            <a:avLst/>
          </a:prstGeom>
          <a:solidFill>
            <a:srgbClr val="FFB45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CDA208A-4150-461F-AECC-7C1A46DD2926}"/>
              </a:ext>
            </a:extLst>
          </p:cNvPr>
          <p:cNvSpPr>
            <a:spLocks noGrp="1"/>
          </p:cNvSpPr>
          <p:nvPr/>
        </p:nvSpPr>
        <p:spPr>
          <a:xfrm>
            <a:off x="6591300" y="2647950"/>
            <a:ext cx="43053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Condição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B304C21-2D23-4B84-96BC-397C77449D43}"/>
              </a:ext>
            </a:extLst>
          </p:cNvPr>
          <p:cNvSpPr>
            <a:spLocks noGrp="1"/>
          </p:cNvSpPr>
          <p:nvPr/>
        </p:nvSpPr>
        <p:spPr>
          <a:xfrm>
            <a:off x="6343650" y="3086100"/>
            <a:ext cx="4495800" cy="495300"/>
          </a:xfrm>
          <a:prstGeom prst="roundRect">
            <a:avLst>
              <a:gd name="adj" fmla="val 2307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Disponibilidade/cobertura, obstrução, SNR e temperatura.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752E79F7-D15E-46DC-93AA-319C35E3629C}"/>
              </a:ext>
            </a:extLst>
          </p:cNvPr>
          <p:cNvSpPr>
            <a:spLocks noGrp="1"/>
          </p:cNvSpPr>
          <p:nvPr/>
        </p:nvSpPr>
        <p:spPr>
          <a:xfrm>
            <a:off x="685800" y="4048125"/>
            <a:ext cx="4953000" cy="1238250"/>
          </a:xfrm>
          <a:prstGeom prst="roundRect">
            <a:avLst>
              <a:gd name="adj" fmla="val 9231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4245650C-B1EF-4E6D-8456-C7888D9BE990}"/>
              </a:ext>
            </a:extLst>
          </p:cNvPr>
          <p:cNvSpPr>
            <a:spLocks noGrp="1"/>
          </p:cNvSpPr>
          <p:nvPr/>
        </p:nvSpPr>
        <p:spPr>
          <a:xfrm>
            <a:off x="914400" y="4276725"/>
            <a:ext cx="133350" cy="133350"/>
          </a:xfrm>
          <a:prstGeom prst="ellipse">
            <a:avLst/>
          </a:prstGeom>
          <a:solidFill>
            <a:srgbClr val="B6F36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C425953-3BBB-4D14-B236-470EEC409006}"/>
              </a:ext>
            </a:extLst>
          </p:cNvPr>
          <p:cNvSpPr>
            <a:spLocks noGrp="1"/>
          </p:cNvSpPr>
          <p:nvPr/>
        </p:nvSpPr>
        <p:spPr>
          <a:xfrm>
            <a:off x="1162050" y="4219575"/>
            <a:ext cx="43053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Localização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97AB8F5C-6E2F-47A9-AC7F-757CBD18BB0B}"/>
              </a:ext>
            </a:extLst>
          </p:cNvPr>
          <p:cNvSpPr>
            <a:spLocks noGrp="1"/>
          </p:cNvSpPr>
          <p:nvPr/>
        </p:nvSpPr>
        <p:spPr>
          <a:xfrm>
            <a:off x="914400" y="4657725"/>
            <a:ext cx="4495800" cy="495300"/>
          </a:xfrm>
          <a:prstGeom prst="roundRect">
            <a:avLst>
              <a:gd name="adj" fmla="val 2307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Latitude/longitude da antena e associação à unidade.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036A4C85-2889-4FF9-A010-45326ECB4722}"/>
              </a:ext>
            </a:extLst>
          </p:cNvPr>
          <p:cNvSpPr>
            <a:spLocks noGrp="1"/>
          </p:cNvSpPr>
          <p:nvPr/>
        </p:nvSpPr>
        <p:spPr>
          <a:xfrm>
            <a:off x="6115050" y="4048125"/>
            <a:ext cx="4953000" cy="1238250"/>
          </a:xfrm>
          <a:prstGeom prst="roundRect">
            <a:avLst>
              <a:gd name="adj" fmla="val 9231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284D2CA1-DEDB-46D1-BA5C-8818BFE33BED}"/>
              </a:ext>
            </a:extLst>
          </p:cNvPr>
          <p:cNvSpPr>
            <a:spLocks noGrp="1"/>
          </p:cNvSpPr>
          <p:nvPr/>
        </p:nvSpPr>
        <p:spPr>
          <a:xfrm>
            <a:off x="6343650" y="4276725"/>
            <a:ext cx="133350" cy="133350"/>
          </a:xfrm>
          <a:prstGeom prst="ellipse">
            <a:avLst/>
          </a:prstGeom>
          <a:solidFill>
            <a:srgbClr val="FF6D9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647C346B-4AE2-405D-9DD0-4513F909E654}"/>
              </a:ext>
            </a:extLst>
          </p:cNvPr>
          <p:cNvSpPr>
            <a:spLocks noGrp="1"/>
          </p:cNvSpPr>
          <p:nvPr/>
        </p:nvSpPr>
        <p:spPr>
          <a:xfrm>
            <a:off x="6591300" y="4219575"/>
            <a:ext cx="43053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Confiabilidade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BE005011-8E91-4611-85EB-7C22385EA01F}"/>
              </a:ext>
            </a:extLst>
          </p:cNvPr>
          <p:cNvSpPr>
            <a:spLocks noGrp="1"/>
          </p:cNvSpPr>
          <p:nvPr/>
        </p:nvSpPr>
        <p:spPr>
          <a:xfrm>
            <a:off x="6343650" y="4657725"/>
            <a:ext cx="4495800" cy="495300"/>
          </a:xfrm>
          <a:prstGeom prst="roundRect">
            <a:avLst>
              <a:gd name="adj" fmla="val 2307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Fonte, idade da amostra, N/D e estado unknown quando stale.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00717B09-52B9-4656-B0A5-AEC7CD1C4513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6680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6F36B"/>
                </a:solidFill>
              </a:defRPr>
            </a:pPr>
            <a:r>
              <a:rPr sz="1350" b="1">
                <a:solidFill>
                  <a:srgbClr val="B6F36B"/>
                </a:solidFill>
              </a:rPr>
              <a:t>Já validado: agente autenticou, coletou métricas reais e enviou lote à API com fila pendente zerada.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69B40D32-D191-43F1-A93A-578C14A3065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07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DB41902A-BABD-4029-BA88-AD916AB62416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7625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HEALTHLINK SENTINEL  /  PITCH 2026</a:t>
            </a:r>
          </a:p>
        </p:txBody>
      </p:sp>
    </p:spTree>
    <p:extLst>
      <p:ext uri="{BB962C8B-B14F-4D97-AF65-F5344CB8AC3E}">
        <p14:creationId xmlns:p14="http://schemas.microsoft.com/office/powerpoint/2010/main" val="206755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F5385A4-0441-4DC3-9203-FA1EF471BEFD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6667500" cy="2095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FUNCIONALIDADES NOVAS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DB53BC60-3839-449E-AC3A-E41B1EC06F67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668000" cy="723900"/>
          </a:xfrm>
          <a:prstGeom prst="roundRect">
            <a:avLst>
              <a:gd name="adj" fmla="val 1578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O produto já saiu do conceito e ganhou operação real.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22CE376-7600-46E9-A151-10C29DF5F955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572750" cy="323850"/>
          </a:xfrm>
          <a:prstGeom prst="roundRect">
            <a:avLst>
              <a:gd name="adj" fmla="val 3529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As entregas recentes aumentam capacidade, escala e evidência de execução.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FE8AAA5-E035-493A-87A5-00B67D301AC4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3238500" cy="1285875"/>
          </a:xfrm>
          <a:prstGeom prst="roundRect">
            <a:avLst>
              <a:gd name="adj" fmla="val 8889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FDF54270-B2F9-4664-B155-F46139CA7F80}"/>
              </a:ext>
            </a:extLst>
          </p:cNvPr>
          <p:cNvSpPr>
            <a:spLocks noGrp="1"/>
          </p:cNvSpPr>
          <p:nvPr/>
        </p:nvSpPr>
        <p:spPr>
          <a:xfrm>
            <a:off x="914400" y="2609850"/>
            <a:ext cx="133350" cy="133350"/>
          </a:xfrm>
          <a:prstGeom prst="ellipse">
            <a:avLst/>
          </a:prstGeom>
          <a:solidFill>
            <a:srgbClr val="65E7E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877C707-9870-4C23-ADA8-FE931803CDCE}"/>
              </a:ext>
            </a:extLst>
          </p:cNvPr>
          <p:cNvSpPr>
            <a:spLocks noGrp="1"/>
          </p:cNvSpPr>
          <p:nvPr/>
        </p:nvSpPr>
        <p:spPr>
          <a:xfrm>
            <a:off x="1162050" y="2552700"/>
            <a:ext cx="25908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Filtros operacionais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B4D1E95-DEBE-44CE-9FBA-E7576EBFD730}"/>
              </a:ext>
            </a:extLst>
          </p:cNvPr>
          <p:cNvSpPr>
            <a:spLocks noGrp="1"/>
          </p:cNvSpPr>
          <p:nvPr/>
        </p:nvSpPr>
        <p:spPr>
          <a:xfrm>
            <a:off x="914400" y="2990850"/>
            <a:ext cx="2781300" cy="542925"/>
          </a:xfrm>
          <a:prstGeom prst="roundRect">
            <a:avLst>
              <a:gd name="adj" fmla="val 210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Tipo de unidade, situação e UF alimentam indicadores, mapa e visão.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C0595389-8539-4EDC-AFC5-843800A2552F}"/>
              </a:ext>
            </a:extLst>
          </p:cNvPr>
          <p:cNvSpPr>
            <a:spLocks noGrp="1"/>
          </p:cNvSpPr>
          <p:nvPr/>
        </p:nvSpPr>
        <p:spPr>
          <a:xfrm>
            <a:off x="4324350" y="2381250"/>
            <a:ext cx="3238500" cy="1285875"/>
          </a:xfrm>
          <a:prstGeom prst="roundRect">
            <a:avLst>
              <a:gd name="adj" fmla="val 8889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A585A4AE-51EC-42D8-9B80-62EA5360E5C5}"/>
              </a:ext>
            </a:extLst>
          </p:cNvPr>
          <p:cNvSpPr>
            <a:spLocks noGrp="1"/>
          </p:cNvSpPr>
          <p:nvPr/>
        </p:nvSpPr>
        <p:spPr>
          <a:xfrm>
            <a:off x="4552950" y="2609850"/>
            <a:ext cx="133350" cy="133350"/>
          </a:xfrm>
          <a:prstGeom prst="ellipse">
            <a:avLst/>
          </a:prstGeom>
          <a:solidFill>
            <a:srgbClr val="B6F36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34278075-5CF1-4254-ADDC-C690281C7275}"/>
              </a:ext>
            </a:extLst>
          </p:cNvPr>
          <p:cNvSpPr>
            <a:spLocks noGrp="1"/>
          </p:cNvSpPr>
          <p:nvPr/>
        </p:nvSpPr>
        <p:spPr>
          <a:xfrm>
            <a:off x="4800600" y="2552700"/>
            <a:ext cx="25908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Relatórios de incidentes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F15E506-3EFA-4BA3-926B-DD295C636661}"/>
              </a:ext>
            </a:extLst>
          </p:cNvPr>
          <p:cNvSpPr>
            <a:spLocks noGrp="1"/>
          </p:cNvSpPr>
          <p:nvPr/>
        </p:nvSpPr>
        <p:spPr>
          <a:xfrm>
            <a:off x="4552950" y="2990850"/>
            <a:ext cx="2781300" cy="542925"/>
          </a:xfrm>
          <a:prstGeom prst="roundRect">
            <a:avLst>
              <a:gd name="adj" fmla="val 210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Filtros, indicadores, tabela auditável, atualização e impressão.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63C2954-C11B-433E-B9B0-35C6298AFD7E}"/>
              </a:ext>
            </a:extLst>
          </p:cNvPr>
          <p:cNvSpPr>
            <a:spLocks noGrp="1"/>
          </p:cNvSpPr>
          <p:nvPr/>
        </p:nvSpPr>
        <p:spPr>
          <a:xfrm>
            <a:off x="7962900" y="2381250"/>
            <a:ext cx="3238500" cy="1285875"/>
          </a:xfrm>
          <a:prstGeom prst="roundRect">
            <a:avLst>
              <a:gd name="adj" fmla="val 8889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FCC5EEA4-DD73-4593-BE0B-3955A5B86272}"/>
              </a:ext>
            </a:extLst>
          </p:cNvPr>
          <p:cNvSpPr>
            <a:spLocks noGrp="1"/>
          </p:cNvSpPr>
          <p:nvPr/>
        </p:nvSpPr>
        <p:spPr>
          <a:xfrm>
            <a:off x="8191500" y="2609850"/>
            <a:ext cx="133350" cy="133350"/>
          </a:xfrm>
          <a:prstGeom prst="ellipse">
            <a:avLst/>
          </a:prstGeom>
          <a:solidFill>
            <a:srgbClr val="FFB45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B56AF7AF-B6A2-40A9-A43F-AC24731BA006}"/>
              </a:ext>
            </a:extLst>
          </p:cNvPr>
          <p:cNvSpPr>
            <a:spLocks noGrp="1"/>
          </p:cNvSpPr>
          <p:nvPr/>
        </p:nvSpPr>
        <p:spPr>
          <a:xfrm>
            <a:off x="8439150" y="2552700"/>
            <a:ext cx="25908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Visão de agentes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05D8F9E-D24D-4092-8667-A264401EFBCA}"/>
              </a:ext>
            </a:extLst>
          </p:cNvPr>
          <p:cNvSpPr>
            <a:spLocks noGrp="1"/>
          </p:cNvSpPr>
          <p:nvPr/>
        </p:nvSpPr>
        <p:spPr>
          <a:xfrm>
            <a:off x="8191500" y="2990850"/>
            <a:ext cx="2781300" cy="542925"/>
          </a:xfrm>
          <a:prstGeom prst="roundRect">
            <a:avLst>
              <a:gd name="adj" fmla="val 210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Agente em execução, parado, sem vínculo, versão e última coleta.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17BD594A-AB86-44D7-9202-009B1CEADBBC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3238500" cy="1285875"/>
          </a:xfrm>
          <a:prstGeom prst="roundRect">
            <a:avLst>
              <a:gd name="adj" fmla="val 8889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17328F73-F3A0-48F6-8500-67E2512A61DB}"/>
              </a:ext>
            </a:extLst>
          </p:cNvPr>
          <p:cNvSpPr>
            <a:spLocks noGrp="1"/>
          </p:cNvSpPr>
          <p:nvPr/>
        </p:nvSpPr>
        <p:spPr>
          <a:xfrm>
            <a:off x="914400" y="4229100"/>
            <a:ext cx="133350" cy="133350"/>
          </a:xfrm>
          <a:prstGeom prst="ellipse">
            <a:avLst/>
          </a:prstGeom>
          <a:solidFill>
            <a:srgbClr val="9A8C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3EB12453-CDE6-43C4-9A86-8F062B59B46E}"/>
              </a:ext>
            </a:extLst>
          </p:cNvPr>
          <p:cNvSpPr>
            <a:spLocks noGrp="1"/>
          </p:cNvSpPr>
          <p:nvPr/>
        </p:nvSpPr>
        <p:spPr>
          <a:xfrm>
            <a:off x="1162050" y="4171950"/>
            <a:ext cx="25908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Repositório do agente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EE4F0BC-02B8-40E5-A3CD-E609DC9EBC88}"/>
              </a:ext>
            </a:extLst>
          </p:cNvPr>
          <p:cNvSpPr>
            <a:spLocks noGrp="1"/>
          </p:cNvSpPr>
          <p:nvPr/>
        </p:nvSpPr>
        <p:spPr>
          <a:xfrm>
            <a:off x="914400" y="4610100"/>
            <a:ext cx="2781300" cy="542925"/>
          </a:xfrm>
          <a:prstGeom prst="roundRect">
            <a:avLst>
              <a:gd name="adj" fmla="val 210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Publicação Windows/Linux, SHA-256, versão patch e download autenticado.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341C24F9-557D-4198-B2D1-8035017DDE09}"/>
              </a:ext>
            </a:extLst>
          </p:cNvPr>
          <p:cNvSpPr>
            <a:spLocks noGrp="1"/>
          </p:cNvSpPr>
          <p:nvPr/>
        </p:nvSpPr>
        <p:spPr>
          <a:xfrm>
            <a:off x="4324350" y="4000500"/>
            <a:ext cx="3238500" cy="1285875"/>
          </a:xfrm>
          <a:prstGeom prst="roundRect">
            <a:avLst>
              <a:gd name="adj" fmla="val 8889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8737D5B9-F806-429A-8B3A-079E2BDAF9B3}"/>
              </a:ext>
            </a:extLst>
          </p:cNvPr>
          <p:cNvSpPr>
            <a:spLocks noGrp="1"/>
          </p:cNvSpPr>
          <p:nvPr/>
        </p:nvSpPr>
        <p:spPr>
          <a:xfrm>
            <a:off x="4552950" y="4229100"/>
            <a:ext cx="133350" cy="133350"/>
          </a:xfrm>
          <a:prstGeom prst="ellipse">
            <a:avLst/>
          </a:prstGeom>
          <a:solidFill>
            <a:srgbClr val="FF6D9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37855158-EA42-4636-B44C-66C083418417}"/>
              </a:ext>
            </a:extLst>
          </p:cNvPr>
          <p:cNvSpPr>
            <a:spLocks noGrp="1"/>
          </p:cNvSpPr>
          <p:nvPr/>
        </p:nvSpPr>
        <p:spPr>
          <a:xfrm>
            <a:off x="4800600" y="4171950"/>
            <a:ext cx="25908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Provisionamento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8B144065-8E93-4DCD-B3BE-552E6E0FBF07}"/>
              </a:ext>
            </a:extLst>
          </p:cNvPr>
          <p:cNvSpPr>
            <a:spLocks noGrp="1"/>
          </p:cNvSpPr>
          <p:nvPr/>
        </p:nvSpPr>
        <p:spPr>
          <a:xfrm>
            <a:off x="4552950" y="4610100"/>
            <a:ext cx="2781300" cy="542925"/>
          </a:xfrm>
          <a:prstGeom prst="roundRect">
            <a:avLst>
              <a:gd name="adj" fmla="val 210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Gerar agente por unidade/servidor, enrollment e fonte Starlink local.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F8DB98A4-3931-4B45-BD9C-E53A6862DCF4}"/>
              </a:ext>
            </a:extLst>
          </p:cNvPr>
          <p:cNvSpPr>
            <a:spLocks noGrp="1"/>
          </p:cNvSpPr>
          <p:nvPr/>
        </p:nvSpPr>
        <p:spPr>
          <a:xfrm>
            <a:off x="7962900" y="4000500"/>
            <a:ext cx="3238500" cy="1285875"/>
          </a:xfrm>
          <a:prstGeom prst="roundRect">
            <a:avLst>
              <a:gd name="adj" fmla="val 8889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C584FFC6-AB22-44CD-A41F-FF3B4EFD6890}"/>
              </a:ext>
            </a:extLst>
          </p:cNvPr>
          <p:cNvSpPr>
            <a:spLocks noGrp="1"/>
          </p:cNvSpPr>
          <p:nvPr/>
        </p:nvSpPr>
        <p:spPr>
          <a:xfrm>
            <a:off x="8191500" y="4229100"/>
            <a:ext cx="133350" cy="133350"/>
          </a:xfrm>
          <a:prstGeom prst="ellipse">
            <a:avLst/>
          </a:prstGeom>
          <a:solidFill>
            <a:srgbClr val="65E7E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79283391-FAB2-4DE2-87A6-E713C61BF236}"/>
              </a:ext>
            </a:extLst>
          </p:cNvPr>
          <p:cNvSpPr>
            <a:spLocks noGrp="1"/>
          </p:cNvSpPr>
          <p:nvPr/>
        </p:nvSpPr>
        <p:spPr>
          <a:xfrm>
            <a:off x="8439150" y="4171950"/>
            <a:ext cx="25908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Histórico e retenção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FED496D1-3379-432E-A9F2-E68F8A7CA780}"/>
              </a:ext>
            </a:extLst>
          </p:cNvPr>
          <p:cNvSpPr>
            <a:spLocks noGrp="1"/>
          </p:cNvSpPr>
          <p:nvPr/>
        </p:nvSpPr>
        <p:spPr>
          <a:xfrm>
            <a:off x="8191500" y="4610100"/>
            <a:ext cx="2781300" cy="542925"/>
          </a:xfrm>
          <a:prstGeom prst="roundRect">
            <a:avLst>
              <a:gd name="adj" fmla="val 210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Estados preservados, telemetria stale controlada e limpeza por política.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7F9120FC-C600-4C7B-8AFE-1686C7FDF386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08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848DF34A-A6C6-41BF-ACE7-2D1644488C7E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7625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HEALTHLINK SENTINEL  /  PITCH 2026</a:t>
            </a:r>
          </a:p>
        </p:txBody>
      </p:sp>
    </p:spTree>
    <p:extLst>
      <p:ext uri="{BB962C8B-B14F-4D97-AF65-F5344CB8AC3E}">
        <p14:creationId xmlns:p14="http://schemas.microsoft.com/office/powerpoint/2010/main" val="1402630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1546377D-FDE0-4D0B-99C6-3A24C44E88F3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6667500" cy="2095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DIFERENCIAL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EF8F506-D777-4D46-B74E-9CC9F56F97DE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668000" cy="723900"/>
          </a:xfrm>
          <a:prstGeom prst="roundRect">
            <a:avLst>
              <a:gd name="adj" fmla="val 1578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O Zabbix mostra o evento. O HealthLink fecha o ciclo operacional.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C937537-A2EF-4378-9E1F-A803D7AB96D1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572750" cy="323850"/>
          </a:xfrm>
          <a:prstGeom prst="roundRect">
            <a:avLst>
              <a:gd name="adj" fmla="val 3529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A proposta não é substituir o Zabbix: é capturar o valor que fica depois da coleta.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CADAA2D-F7BC-4156-98F6-53D00BFD58EB}"/>
              </a:ext>
            </a:extLst>
          </p:cNvPr>
          <p:cNvSpPr>
            <a:spLocks noGrp="1"/>
          </p:cNvSpPr>
          <p:nvPr/>
        </p:nvSpPr>
        <p:spPr>
          <a:xfrm>
            <a:off x="2381250" y="2143125"/>
            <a:ext cx="190500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A4ADBD"/>
                </a:solidFill>
              </a:defRPr>
            </a:pPr>
            <a:r>
              <a:rPr sz="1050" b="1">
                <a:solidFill>
                  <a:srgbClr val="A4ADBD"/>
                </a:solidFill>
              </a:rPr>
              <a:t>ZABBIX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EBAAFDD-DF4E-4BF2-B139-FF1400169408}"/>
              </a:ext>
            </a:extLst>
          </p:cNvPr>
          <p:cNvSpPr>
            <a:spLocks noGrp="1"/>
          </p:cNvSpPr>
          <p:nvPr/>
        </p:nvSpPr>
        <p:spPr>
          <a:xfrm>
            <a:off x="7239000" y="2143125"/>
            <a:ext cx="285750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B6F36B"/>
                </a:solidFill>
              </a:defRPr>
            </a:pPr>
            <a:r>
              <a:rPr sz="1050" b="1">
                <a:solidFill>
                  <a:srgbClr val="B6F36B"/>
                </a:solidFill>
              </a:rPr>
              <a:t>HEALTHLINK SENTINEL</a:t>
            </a:r>
          </a:p>
        </p:txBody>
      </p:sp>
      <p:sp>
        <p:nvSpPr>
          <p:cNvPr id="6" name="Conector reto 5">
            <a:extLst>
              <a:ext uri="{FF2B5EF4-FFF2-40B4-BE49-F238E27FC236}">
                <a16:creationId xmlns:a16="http://schemas.microsoft.com/office/drawing/2014/main" id="{F25D1543-1E9A-45A1-95D2-2F75E37C90E2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0820400" cy="0"/>
          </a:xfrm>
          <a:prstGeom prst="line">
            <a:avLst/>
          </a:prstGeom>
          <a:ln w="19050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D05DB12-5849-496E-8CDA-29523E461A81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1428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Contexto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C41EBE93-5997-473C-9DB7-598AD054352B}"/>
              </a:ext>
            </a:extLst>
          </p:cNvPr>
          <p:cNvSpPr>
            <a:spLocks noGrp="1"/>
          </p:cNvSpPr>
          <p:nvPr/>
        </p:nvSpPr>
        <p:spPr>
          <a:xfrm>
            <a:off x="2381250" y="2667000"/>
            <a:ext cx="3714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Host / trigger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0A024DF-1008-4CA0-A03F-B476AA0EF234}"/>
              </a:ext>
            </a:extLst>
          </p:cNvPr>
          <p:cNvSpPr>
            <a:spLocks noGrp="1"/>
          </p:cNvSpPr>
          <p:nvPr/>
        </p:nvSpPr>
        <p:spPr>
          <a:xfrm>
            <a:off x="7239000" y="2667000"/>
            <a:ext cx="4095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7F9FC"/>
                </a:solidFill>
              </a:defRPr>
            </a:pPr>
            <a:r>
              <a:rPr sz="1350" b="1">
                <a:solidFill>
                  <a:srgbClr val="F7F9FC"/>
                </a:solidFill>
              </a:rPr>
              <a:t>Unidade / impacto / missão</a:t>
            </a:r>
          </a:p>
        </p:txBody>
      </p:sp>
      <p:sp>
        <p:nvSpPr>
          <p:cNvPr id="10" name="Conector reto 9">
            <a:extLst>
              <a:ext uri="{FF2B5EF4-FFF2-40B4-BE49-F238E27FC236}">
                <a16:creationId xmlns:a16="http://schemas.microsoft.com/office/drawing/2014/main" id="{61D2D3F8-F42E-4ABE-BA4B-7198B3B8FF04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10820400" cy="0"/>
          </a:xfrm>
          <a:prstGeom prst="line">
            <a:avLst/>
          </a:prstGeom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6FB1C03-BD4C-4399-A391-82C895FF4CB8}"/>
              </a:ext>
            </a:extLst>
          </p:cNvPr>
          <p:cNvSpPr>
            <a:spLocks noGrp="1"/>
          </p:cNvSpPr>
          <p:nvPr/>
        </p:nvSpPr>
        <p:spPr>
          <a:xfrm>
            <a:off x="685800" y="3286125"/>
            <a:ext cx="1428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Experiência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3DB819D4-CFFA-487D-B164-33E3398F5BCE}"/>
              </a:ext>
            </a:extLst>
          </p:cNvPr>
          <p:cNvSpPr>
            <a:spLocks noGrp="1"/>
          </p:cNvSpPr>
          <p:nvPr/>
        </p:nvSpPr>
        <p:spPr>
          <a:xfrm>
            <a:off x="2381250" y="3286125"/>
            <a:ext cx="3714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Tela técnica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0C189A5-FAE7-4D96-BF2A-2BA8FF7CDB72}"/>
              </a:ext>
            </a:extLst>
          </p:cNvPr>
          <p:cNvSpPr>
            <a:spLocks noGrp="1"/>
          </p:cNvSpPr>
          <p:nvPr/>
        </p:nvSpPr>
        <p:spPr>
          <a:xfrm>
            <a:off x="7239000" y="3286125"/>
            <a:ext cx="4095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7F9FC"/>
                </a:solidFill>
              </a:defRPr>
            </a:pPr>
            <a:r>
              <a:rPr sz="1350" b="1">
                <a:solidFill>
                  <a:srgbClr val="F7F9FC"/>
                </a:solidFill>
              </a:rPr>
              <a:t>Mapa / detalhe / alerta / relatório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B230758E-E77E-4F60-90DF-8A37E25E36DD}"/>
              </a:ext>
            </a:extLst>
          </p:cNvPr>
          <p:cNvSpPr>
            <a:spLocks noGrp="1"/>
          </p:cNvSpPr>
          <p:nvPr/>
        </p:nvSpPr>
        <p:spPr>
          <a:xfrm>
            <a:off x="685800" y="3686175"/>
            <a:ext cx="10820400" cy="0"/>
          </a:xfrm>
          <a:prstGeom prst="line">
            <a:avLst/>
          </a:prstGeom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EE0F258-7B62-4BEC-9C31-6BE21E3128B9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1428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Suporte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DF28CA57-E087-4081-8C20-69E6E8B367AD}"/>
              </a:ext>
            </a:extLst>
          </p:cNvPr>
          <p:cNvSpPr>
            <a:spLocks noGrp="1"/>
          </p:cNvSpPr>
          <p:nvPr/>
        </p:nvSpPr>
        <p:spPr>
          <a:xfrm>
            <a:off x="2381250" y="3905250"/>
            <a:ext cx="3714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Leitura manual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C30BBF8E-CED2-431A-879D-9C2BAB2A1E64}"/>
              </a:ext>
            </a:extLst>
          </p:cNvPr>
          <p:cNvSpPr>
            <a:spLocks noGrp="1"/>
          </p:cNvSpPr>
          <p:nvPr/>
        </p:nvSpPr>
        <p:spPr>
          <a:xfrm>
            <a:off x="7239000" y="3905250"/>
            <a:ext cx="4095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7F9FC"/>
                </a:solidFill>
              </a:defRPr>
            </a:pPr>
            <a:r>
              <a:rPr sz="1350" b="1">
                <a:solidFill>
                  <a:srgbClr val="F7F9FC"/>
                </a:solidFill>
              </a:rPr>
              <a:t>Diagnóstico e evidência no mesmo fluxo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645E0AB5-1A6A-4B7C-8995-296CE4E7DFFE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10820400" cy="0"/>
          </a:xfrm>
          <a:prstGeom prst="line">
            <a:avLst/>
          </a:prstGeom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EDA86979-D4B2-40DD-BC4E-BD05B4BD174A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1428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Governança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0BC7450F-FA8B-4FB4-9714-9465117C4F97}"/>
              </a:ext>
            </a:extLst>
          </p:cNvPr>
          <p:cNvSpPr>
            <a:spLocks noGrp="1"/>
          </p:cNvSpPr>
          <p:nvPr/>
        </p:nvSpPr>
        <p:spPr>
          <a:xfrm>
            <a:off x="2381250" y="4524375"/>
            <a:ext cx="3714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Configuração espalhada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871D0846-00FC-441A-A4E9-843885035468}"/>
              </a:ext>
            </a:extLst>
          </p:cNvPr>
          <p:cNvSpPr>
            <a:spLocks noGrp="1"/>
          </p:cNvSpPr>
          <p:nvPr/>
        </p:nvSpPr>
        <p:spPr>
          <a:xfrm>
            <a:off x="7239000" y="4524375"/>
            <a:ext cx="4095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7F9FC"/>
                </a:solidFill>
              </a:defRPr>
            </a:pPr>
            <a:r>
              <a:rPr sz="1350" b="1">
                <a:solidFill>
                  <a:srgbClr val="F7F9FC"/>
                </a:solidFill>
              </a:rPr>
              <a:t>RBAC / multi-tenant / auditoria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69CB8B34-2AA5-4F47-9619-6B974169743C}"/>
              </a:ext>
            </a:extLst>
          </p:cNvPr>
          <p:cNvSpPr>
            <a:spLocks noGrp="1"/>
          </p:cNvSpPr>
          <p:nvPr/>
        </p:nvSpPr>
        <p:spPr>
          <a:xfrm>
            <a:off x="685800" y="4924425"/>
            <a:ext cx="10820400" cy="0"/>
          </a:xfrm>
          <a:prstGeom prst="line">
            <a:avLst/>
          </a:prstGeom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A883311A-F70A-4A7F-BC5C-925CFF0A2CA6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1428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Escala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5297AACD-D3C1-4216-A6D3-185D8B6DC96E}"/>
              </a:ext>
            </a:extLst>
          </p:cNvPr>
          <p:cNvSpPr>
            <a:spLocks noGrp="1"/>
          </p:cNvSpPr>
          <p:nvPr/>
        </p:nvSpPr>
        <p:spPr>
          <a:xfrm>
            <a:off x="2381250" y="5143500"/>
            <a:ext cx="3714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Agente por unidade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E5594746-E4CC-489A-AC69-8ED952803967}"/>
              </a:ext>
            </a:extLst>
          </p:cNvPr>
          <p:cNvSpPr>
            <a:spLocks noGrp="1"/>
          </p:cNvSpPr>
          <p:nvPr/>
        </p:nvSpPr>
        <p:spPr>
          <a:xfrm>
            <a:off x="7239000" y="5143500"/>
            <a:ext cx="4095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7F9FC"/>
                </a:solidFill>
              </a:defRPr>
            </a:pPr>
            <a:r>
              <a:rPr sz="1350" b="1">
                <a:solidFill>
                  <a:srgbClr val="F7F9FC"/>
                </a:solidFill>
              </a:rPr>
              <a:t>Repositório / provisionamento / versões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D3ACECCF-63C3-40E1-835A-E9E4557DD8B3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10820400" cy="0"/>
          </a:xfrm>
          <a:prstGeom prst="line">
            <a:avLst/>
          </a:prstGeom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6200B8C4-857B-42D9-98F1-A934C40CA5BA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4775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B6F36B"/>
                </a:solidFill>
              </a:defRPr>
            </a:pPr>
            <a:r>
              <a:rPr sz="1650" b="1">
                <a:solidFill>
                  <a:srgbClr val="B6F36B"/>
                </a:solidFill>
              </a:rPr>
              <a:t>O diferencial está na última milha: da informação técnica para a decisão.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E17CA31A-E875-4A57-BA05-4BD70A72F23A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09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C52F57D3-2304-4C39-9D5F-329C38ABAD0E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7625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HEALTHLINK SENTINEL  /  PITCH 2026</a:t>
            </a:r>
          </a:p>
        </p:txBody>
      </p:sp>
    </p:spTree>
    <p:extLst>
      <p:ext uri="{BB962C8B-B14F-4D97-AF65-F5344CB8AC3E}">
        <p14:creationId xmlns:p14="http://schemas.microsoft.com/office/powerpoint/2010/main" val="2098191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37549306-857C-4A13-9722-AE3CCFE38D4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6667500" cy="2095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SEGURANÇA E GOVERNANÇA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3B2DE70-0F6F-4201-AE10-420FE8B8C05B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668000" cy="723900"/>
          </a:xfrm>
          <a:prstGeom prst="roundRect">
            <a:avLst>
              <a:gd name="adj" fmla="val 1578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Escalar sem perder controle.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9102E92-2C0B-4B87-ADDC-268C97C04C9B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572750" cy="323850"/>
          </a:xfrm>
          <a:prstGeom prst="roundRect">
            <a:avLst>
              <a:gd name="adj" fmla="val 3529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A plataforma foi pensada para operar dados críticos com limites claros.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8BA72C8-F0B9-42BC-9CDD-EC50F39BF715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2476500" cy="2095500"/>
          </a:xfrm>
          <a:prstGeom prst="roundRect">
            <a:avLst>
              <a:gd name="adj" fmla="val 5455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218406F9-489A-40C1-A0C6-ED32DA93D603}"/>
              </a:ext>
            </a:extLst>
          </p:cNvPr>
          <p:cNvSpPr>
            <a:spLocks noGrp="1"/>
          </p:cNvSpPr>
          <p:nvPr/>
        </p:nvSpPr>
        <p:spPr>
          <a:xfrm>
            <a:off x="914400" y="2800350"/>
            <a:ext cx="133350" cy="133350"/>
          </a:xfrm>
          <a:prstGeom prst="ellipse">
            <a:avLst/>
          </a:prstGeom>
          <a:solidFill>
            <a:srgbClr val="65E7E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B267658-6B28-456A-9088-3C6119F1CFB2}"/>
              </a:ext>
            </a:extLst>
          </p:cNvPr>
          <p:cNvSpPr>
            <a:spLocks noGrp="1"/>
          </p:cNvSpPr>
          <p:nvPr/>
        </p:nvSpPr>
        <p:spPr>
          <a:xfrm>
            <a:off x="1162050" y="2743200"/>
            <a:ext cx="18288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RBAC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3FC5355-608F-44A1-9B69-E42E0EE767EE}"/>
              </a:ext>
            </a:extLst>
          </p:cNvPr>
          <p:cNvSpPr>
            <a:spLocks noGrp="1"/>
          </p:cNvSpPr>
          <p:nvPr/>
        </p:nvSpPr>
        <p:spPr>
          <a:xfrm>
            <a:off x="914400" y="3181350"/>
            <a:ext cx="2019300" cy="1352550"/>
          </a:xfrm>
          <a:prstGeom prst="roundRect">
            <a:avLst>
              <a:gd name="adj" fmla="val 8451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Cada perfil acessa e executa apenas o necessário.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50CFFCA-CE57-43A0-808D-561522B82DBB}"/>
              </a:ext>
            </a:extLst>
          </p:cNvPr>
          <p:cNvSpPr>
            <a:spLocks noGrp="1"/>
          </p:cNvSpPr>
          <p:nvPr/>
        </p:nvSpPr>
        <p:spPr>
          <a:xfrm>
            <a:off x="3448050" y="2571750"/>
            <a:ext cx="2476500" cy="2095500"/>
          </a:xfrm>
          <a:prstGeom prst="roundRect">
            <a:avLst>
              <a:gd name="adj" fmla="val 5455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BEBAAE4-F213-4FD8-B001-9852B021A210}"/>
              </a:ext>
            </a:extLst>
          </p:cNvPr>
          <p:cNvSpPr>
            <a:spLocks noGrp="1"/>
          </p:cNvSpPr>
          <p:nvPr/>
        </p:nvSpPr>
        <p:spPr>
          <a:xfrm>
            <a:off x="3676650" y="2800350"/>
            <a:ext cx="133350" cy="133350"/>
          </a:xfrm>
          <a:prstGeom prst="ellipse">
            <a:avLst/>
          </a:prstGeom>
          <a:solidFill>
            <a:srgbClr val="B6F36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E0AC9984-C1CC-4BCA-8F80-F39B60326EDE}"/>
              </a:ext>
            </a:extLst>
          </p:cNvPr>
          <p:cNvSpPr>
            <a:spLocks noGrp="1"/>
          </p:cNvSpPr>
          <p:nvPr/>
        </p:nvSpPr>
        <p:spPr>
          <a:xfrm>
            <a:off x="3924300" y="2743200"/>
            <a:ext cx="18288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Multi-tenant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1C63B36-285A-45C4-816F-1079B6EF7B29}"/>
              </a:ext>
            </a:extLst>
          </p:cNvPr>
          <p:cNvSpPr>
            <a:spLocks noGrp="1"/>
          </p:cNvSpPr>
          <p:nvPr/>
        </p:nvSpPr>
        <p:spPr>
          <a:xfrm>
            <a:off x="3676650" y="3181350"/>
            <a:ext cx="2019300" cy="1352550"/>
          </a:xfrm>
          <a:prstGeom prst="roundRect">
            <a:avLst>
              <a:gd name="adj" fmla="val 8451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Clientes e operações isolados por tenant e RLS.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D45647A-76A8-4751-ADC6-1CD7427588BB}"/>
              </a:ext>
            </a:extLst>
          </p:cNvPr>
          <p:cNvSpPr>
            <a:spLocks noGrp="1"/>
          </p:cNvSpPr>
          <p:nvPr/>
        </p:nvSpPr>
        <p:spPr>
          <a:xfrm>
            <a:off x="6210300" y="2571750"/>
            <a:ext cx="2476500" cy="2095500"/>
          </a:xfrm>
          <a:prstGeom prst="roundRect">
            <a:avLst>
              <a:gd name="adj" fmla="val 5455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F0373FB4-326C-4A60-83CD-EDC38994C39A}"/>
              </a:ext>
            </a:extLst>
          </p:cNvPr>
          <p:cNvSpPr>
            <a:spLocks noGrp="1"/>
          </p:cNvSpPr>
          <p:nvPr/>
        </p:nvSpPr>
        <p:spPr>
          <a:xfrm>
            <a:off x="6438900" y="2800350"/>
            <a:ext cx="133350" cy="133350"/>
          </a:xfrm>
          <a:prstGeom prst="ellipse">
            <a:avLst/>
          </a:prstGeom>
          <a:solidFill>
            <a:srgbClr val="FFB45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C427E4C-A587-4D1D-81A4-6A042442A336}"/>
              </a:ext>
            </a:extLst>
          </p:cNvPr>
          <p:cNvSpPr>
            <a:spLocks noGrp="1"/>
          </p:cNvSpPr>
          <p:nvPr/>
        </p:nvSpPr>
        <p:spPr>
          <a:xfrm>
            <a:off x="6686550" y="2743200"/>
            <a:ext cx="18288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Auditoria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BC00D08-7485-461B-9640-9D1B0C49A546}"/>
              </a:ext>
            </a:extLst>
          </p:cNvPr>
          <p:cNvSpPr>
            <a:spLocks noGrp="1"/>
          </p:cNvSpPr>
          <p:nvPr/>
        </p:nvSpPr>
        <p:spPr>
          <a:xfrm>
            <a:off x="6438900" y="3181350"/>
            <a:ext cx="2019300" cy="1352550"/>
          </a:xfrm>
          <a:prstGeom prst="roundRect">
            <a:avLst>
              <a:gd name="adj" fmla="val 8451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Ações, vínculos, alterações e comandos deixam evidência.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842DEBAF-3345-4BFB-9276-EEADBE397EF8}"/>
              </a:ext>
            </a:extLst>
          </p:cNvPr>
          <p:cNvSpPr>
            <a:spLocks noGrp="1"/>
          </p:cNvSpPr>
          <p:nvPr/>
        </p:nvSpPr>
        <p:spPr>
          <a:xfrm>
            <a:off x="8972550" y="2571750"/>
            <a:ext cx="2533650" cy="2095500"/>
          </a:xfrm>
          <a:prstGeom prst="roundRect">
            <a:avLst>
              <a:gd name="adj" fmla="val 5455"/>
            </a:avLst>
          </a:prstGeom>
          <a:solidFill>
            <a:srgbClr val="151A27"/>
          </a:solidFill>
          <a:ln w="9525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8347C678-E2CC-46FC-9DB1-4F8FC12D9850}"/>
              </a:ext>
            </a:extLst>
          </p:cNvPr>
          <p:cNvSpPr>
            <a:spLocks noGrp="1"/>
          </p:cNvSpPr>
          <p:nvPr/>
        </p:nvSpPr>
        <p:spPr>
          <a:xfrm>
            <a:off x="9201150" y="2800350"/>
            <a:ext cx="133350" cy="133350"/>
          </a:xfrm>
          <a:prstGeom prst="ellipse">
            <a:avLst/>
          </a:prstGeom>
          <a:solidFill>
            <a:srgbClr val="FF6D9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6CFBAD2A-1FEC-4359-A2DC-1BCD0D788937}"/>
              </a:ext>
            </a:extLst>
          </p:cNvPr>
          <p:cNvSpPr>
            <a:spLocks noGrp="1"/>
          </p:cNvSpPr>
          <p:nvPr/>
        </p:nvSpPr>
        <p:spPr>
          <a:xfrm>
            <a:off x="9448800" y="2743200"/>
            <a:ext cx="18859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7F9FC"/>
                </a:solidFill>
              </a:defRPr>
            </a:pPr>
            <a:r>
              <a:rPr sz="1575" b="1">
                <a:solidFill>
                  <a:srgbClr val="F7F9FC"/>
                </a:solidFill>
              </a:rPr>
              <a:t>Histórico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ECDADA62-87FF-4A1C-BF00-4AB7A62AE40B}"/>
              </a:ext>
            </a:extLst>
          </p:cNvPr>
          <p:cNvSpPr>
            <a:spLocks noGrp="1"/>
          </p:cNvSpPr>
          <p:nvPr/>
        </p:nvSpPr>
        <p:spPr>
          <a:xfrm>
            <a:off x="9201150" y="3181350"/>
            <a:ext cx="2076450" cy="1352550"/>
          </a:xfrm>
          <a:prstGeom prst="roundRect">
            <a:avLst>
              <a:gd name="adj" fmla="val 8451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A4ADBD"/>
                </a:solidFill>
              </a:defRPr>
            </a:pPr>
            <a:r>
              <a:rPr sz="1200" b="0">
                <a:solidFill>
                  <a:srgbClr val="A4ADBD"/>
                </a:solidFill>
              </a:rPr>
              <a:t>Incidentes, estados e telemetria preservam contexto.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624B6019-4AE4-4841-ABFE-8A8EC3276153}"/>
              </a:ext>
            </a:extLst>
          </p:cNvPr>
          <p:cNvSpPr>
            <a:spLocks noGrp="1"/>
          </p:cNvSpPr>
          <p:nvPr/>
        </p:nvSpPr>
        <p:spPr>
          <a:xfrm>
            <a:off x="685800" y="5381625"/>
            <a:ext cx="10477500" cy="361950"/>
          </a:xfrm>
          <a:prstGeom prst="roundRect">
            <a:avLst>
              <a:gd name="adj" fmla="val 3157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F7F9FC"/>
                </a:solidFill>
              </a:defRPr>
            </a:pPr>
            <a:r>
              <a:rPr sz="1725" b="1">
                <a:solidFill>
                  <a:srgbClr val="F7F9FC"/>
                </a:solidFill>
              </a:rPr>
              <a:t>Segurança não é uma camada posterior: é parte do produto desde o MVP.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70C7F366-093B-4945-B2A3-0DCC563CA5CB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10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64F5C474-B3BD-43E5-BDE4-499119D46876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7625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HEALTHLINK SENTINEL  /  PITCH 2026</a:t>
            </a:r>
          </a:p>
        </p:txBody>
      </p:sp>
    </p:spTree>
    <p:extLst>
      <p:ext uri="{BB962C8B-B14F-4D97-AF65-F5344CB8AC3E}">
        <p14:creationId xmlns:p14="http://schemas.microsoft.com/office/powerpoint/2010/main" val="1041621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D08B2324-E7EB-4565-A350-30EEDC0A5655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6667500" cy="2095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ROADMAP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AE42D53-32C7-4985-99A9-124E6E74EF01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668000" cy="723900"/>
          </a:xfrm>
          <a:prstGeom prst="roundRect">
            <a:avLst>
              <a:gd name="adj" fmla="val 1578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F7F9FC"/>
                </a:solidFill>
              </a:defRPr>
            </a:pPr>
            <a:r>
              <a:rPr sz="2700" b="1">
                <a:solidFill>
                  <a:srgbClr val="F7F9FC"/>
                </a:solidFill>
              </a:rPr>
              <a:t>A próxima vantagem é agir — com segurança e escala.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41BAF6F-7E82-4764-B68B-B5EA53AE48D4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572750" cy="323850"/>
          </a:xfrm>
          <a:prstGeom prst="roundRect">
            <a:avLst>
              <a:gd name="adj" fmla="val 3529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A4ADBD"/>
                </a:solidFill>
              </a:defRPr>
            </a:pPr>
            <a:r>
              <a:rPr sz="1350" b="0">
                <a:solidFill>
                  <a:srgbClr val="A4ADBD"/>
                </a:solidFill>
              </a:rPr>
              <a:t>A evolução segue o valor operacional, não uma lista de features desconectadas.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F302609-0BE7-4893-A53A-52026A3FC0FC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33350" cy="133350"/>
          </a:xfrm>
          <a:prstGeom prst="ellipse">
            <a:avLst/>
          </a:prstGeom>
          <a:solidFill>
            <a:srgbClr val="65E7E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83C1D7D-9D27-494B-84A9-1C50308B2024}"/>
              </a:ext>
            </a:extLst>
          </p:cNvPr>
          <p:cNvSpPr>
            <a:spLocks noGrp="1"/>
          </p:cNvSpPr>
          <p:nvPr/>
        </p:nvSpPr>
        <p:spPr>
          <a:xfrm>
            <a:off x="952500" y="2762250"/>
            <a:ext cx="17145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65E7E0"/>
                </a:solidFill>
              </a:defRPr>
            </a:pPr>
            <a:r>
              <a:rPr sz="975" b="1">
                <a:solidFill>
                  <a:srgbClr val="65E7E0"/>
                </a:solidFill>
              </a:rPr>
              <a:t>AGORA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1DE7051-E5BB-402D-B702-3600ED2AD9B0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2190750" cy="1238250"/>
          </a:xfrm>
          <a:prstGeom prst="roundRect">
            <a:avLst>
              <a:gd name="adj" fmla="val 9231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Homologar agente como serviço Windows/Linux; coleta contínua, reinício e rollback.</a:t>
            </a:r>
          </a:p>
        </p:txBody>
      </p:sp>
      <p:sp>
        <p:nvSpPr>
          <p:cNvPr id="7" name="Conector reto 6">
            <a:extLst>
              <a:ext uri="{FF2B5EF4-FFF2-40B4-BE49-F238E27FC236}">
                <a16:creationId xmlns:a16="http://schemas.microsoft.com/office/drawing/2014/main" id="{CEB172D4-E487-4E3B-AEF3-02ACAAA34E25}"/>
              </a:ext>
            </a:extLst>
          </p:cNvPr>
          <p:cNvSpPr>
            <a:spLocks noGrp="1"/>
          </p:cNvSpPr>
          <p:nvPr/>
        </p:nvSpPr>
        <p:spPr>
          <a:xfrm>
            <a:off x="2924175" y="2914650"/>
            <a:ext cx="333375" cy="0"/>
          </a:xfrm>
          <a:prstGeom prst="line">
            <a:avLst/>
          </a:prstGeom>
          <a:ln w="19050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461F2AF-B013-4696-A09E-872A0F78B8EE}"/>
              </a:ext>
            </a:extLst>
          </p:cNvPr>
          <p:cNvSpPr>
            <a:spLocks noGrp="1"/>
          </p:cNvSpPr>
          <p:nvPr/>
        </p:nvSpPr>
        <p:spPr>
          <a:xfrm>
            <a:off x="3400425" y="2857500"/>
            <a:ext cx="133350" cy="133350"/>
          </a:xfrm>
          <a:prstGeom prst="ellipse">
            <a:avLst/>
          </a:prstGeom>
          <a:solidFill>
            <a:srgbClr val="FFB45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43BEDAE4-CC18-4774-BDCD-7437F5FE2CA7}"/>
              </a:ext>
            </a:extLst>
          </p:cNvPr>
          <p:cNvSpPr>
            <a:spLocks noGrp="1"/>
          </p:cNvSpPr>
          <p:nvPr/>
        </p:nvSpPr>
        <p:spPr>
          <a:xfrm>
            <a:off x="3667125" y="2762250"/>
            <a:ext cx="17145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FB454"/>
                </a:solidFill>
              </a:defRPr>
            </a:pPr>
            <a:r>
              <a:rPr sz="975" b="1">
                <a:solidFill>
                  <a:srgbClr val="FFB454"/>
                </a:solidFill>
              </a:rPr>
              <a:t>PRÓXIMO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E309AFE-0238-4AF1-B6E7-14C4A952B23F}"/>
              </a:ext>
            </a:extLst>
          </p:cNvPr>
          <p:cNvSpPr>
            <a:spLocks noGrp="1"/>
          </p:cNvSpPr>
          <p:nvPr/>
        </p:nvSpPr>
        <p:spPr>
          <a:xfrm>
            <a:off x="3400425" y="3333750"/>
            <a:ext cx="2190750" cy="1238250"/>
          </a:xfrm>
          <a:prstGeom prst="roundRect">
            <a:avLst>
              <a:gd name="adj" fmla="val 9231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Comandos remotos autorizados: reiniciar, ajustar Wi‑Fi e aplicar configurações Starlink.</a:t>
            </a:r>
          </a:p>
        </p:txBody>
      </p:sp>
      <p:sp>
        <p:nvSpPr>
          <p:cNvPr id="11" name="Conector reto 10">
            <a:extLst>
              <a:ext uri="{FF2B5EF4-FFF2-40B4-BE49-F238E27FC236}">
                <a16:creationId xmlns:a16="http://schemas.microsoft.com/office/drawing/2014/main" id="{A958BB14-AD9C-41F2-96C7-A07398D7147D}"/>
              </a:ext>
            </a:extLst>
          </p:cNvPr>
          <p:cNvSpPr>
            <a:spLocks noGrp="1"/>
          </p:cNvSpPr>
          <p:nvPr/>
        </p:nvSpPr>
        <p:spPr>
          <a:xfrm>
            <a:off x="5638800" y="2914650"/>
            <a:ext cx="333375" cy="0"/>
          </a:xfrm>
          <a:prstGeom prst="line">
            <a:avLst/>
          </a:prstGeom>
          <a:ln w="19050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4649ACE-E9F0-4C44-BCB7-D1DE4432C67A}"/>
              </a:ext>
            </a:extLst>
          </p:cNvPr>
          <p:cNvSpPr>
            <a:spLocks noGrp="1"/>
          </p:cNvSpPr>
          <p:nvPr/>
        </p:nvSpPr>
        <p:spPr>
          <a:xfrm>
            <a:off x="6115050" y="2857500"/>
            <a:ext cx="133350" cy="133350"/>
          </a:xfrm>
          <a:prstGeom prst="ellipse">
            <a:avLst/>
          </a:prstGeom>
          <a:solidFill>
            <a:srgbClr val="B6F36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A2C68FD-5FA7-4416-BC39-8F0A710772DA}"/>
              </a:ext>
            </a:extLst>
          </p:cNvPr>
          <p:cNvSpPr>
            <a:spLocks noGrp="1"/>
          </p:cNvSpPr>
          <p:nvPr/>
        </p:nvSpPr>
        <p:spPr>
          <a:xfrm>
            <a:off x="6381750" y="2762250"/>
            <a:ext cx="17145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B6F36B"/>
                </a:solidFill>
              </a:defRPr>
            </a:pPr>
            <a:r>
              <a:rPr sz="975" b="1">
                <a:solidFill>
                  <a:srgbClr val="B6F36B"/>
                </a:solidFill>
              </a:rPr>
              <a:t>ESCALA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EAB03BC-A824-4BAC-99E4-8084E83C4622}"/>
              </a:ext>
            </a:extLst>
          </p:cNvPr>
          <p:cNvSpPr>
            <a:spLocks noGrp="1"/>
          </p:cNvSpPr>
          <p:nvPr/>
        </p:nvSpPr>
        <p:spPr>
          <a:xfrm>
            <a:off x="6115050" y="3333750"/>
            <a:ext cx="2190750" cy="1238250"/>
          </a:xfrm>
          <a:prstGeom prst="roundRect">
            <a:avLst>
              <a:gd name="adj" fmla="val 9231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Políticas por grupo, atualização remota, SLA, multi-clientes e integrações.</a:t>
            </a:r>
          </a:p>
        </p:txBody>
      </p:sp>
      <p:sp>
        <p:nvSpPr>
          <p:cNvPr id="15" name="Conector reto 14">
            <a:extLst>
              <a:ext uri="{FF2B5EF4-FFF2-40B4-BE49-F238E27FC236}">
                <a16:creationId xmlns:a16="http://schemas.microsoft.com/office/drawing/2014/main" id="{1A3ADCB5-3958-4FE5-BD13-0739C658E282}"/>
              </a:ext>
            </a:extLst>
          </p:cNvPr>
          <p:cNvSpPr>
            <a:spLocks noGrp="1"/>
          </p:cNvSpPr>
          <p:nvPr/>
        </p:nvSpPr>
        <p:spPr>
          <a:xfrm>
            <a:off x="8353425" y="2914650"/>
            <a:ext cx="333375" cy="0"/>
          </a:xfrm>
          <a:prstGeom prst="line">
            <a:avLst/>
          </a:prstGeom>
          <a:ln w="19050">
            <a:solidFill>
              <a:srgbClr val="303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54F0BA14-7D68-4314-9615-EAFDE8C9029D}"/>
              </a:ext>
            </a:extLst>
          </p:cNvPr>
          <p:cNvSpPr>
            <a:spLocks noGrp="1"/>
          </p:cNvSpPr>
          <p:nvPr/>
        </p:nvSpPr>
        <p:spPr>
          <a:xfrm>
            <a:off x="8829675" y="2857500"/>
            <a:ext cx="133350" cy="133350"/>
          </a:xfrm>
          <a:prstGeom prst="ellipse">
            <a:avLst/>
          </a:prstGeom>
          <a:solidFill>
            <a:srgbClr val="9A8C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DEEC4ABF-BB21-4E26-AC8A-8FAC7A76F56C}"/>
              </a:ext>
            </a:extLst>
          </p:cNvPr>
          <p:cNvSpPr>
            <a:spLocks noGrp="1"/>
          </p:cNvSpPr>
          <p:nvPr/>
        </p:nvSpPr>
        <p:spPr>
          <a:xfrm>
            <a:off x="9096375" y="2762250"/>
            <a:ext cx="17145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9A8CFF"/>
                </a:solidFill>
              </a:defRPr>
            </a:pPr>
            <a:r>
              <a:rPr sz="975" b="1">
                <a:solidFill>
                  <a:srgbClr val="9A8CFF"/>
                </a:solidFill>
              </a:rPr>
              <a:t>FUTURO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2678118E-1657-4C08-AAFC-C91D5A4932C0}"/>
              </a:ext>
            </a:extLst>
          </p:cNvPr>
          <p:cNvSpPr>
            <a:spLocks noGrp="1"/>
          </p:cNvSpPr>
          <p:nvPr/>
        </p:nvSpPr>
        <p:spPr>
          <a:xfrm>
            <a:off x="8829675" y="3333750"/>
            <a:ext cx="2190750" cy="1238250"/>
          </a:xfrm>
          <a:prstGeom prst="roundRect">
            <a:avLst>
              <a:gd name="adj" fmla="val 9231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7F9FC"/>
                </a:solidFill>
              </a:defRPr>
            </a:pPr>
            <a:r>
              <a:rPr sz="1425" b="1">
                <a:solidFill>
                  <a:srgbClr val="F7F9FC"/>
                </a:solidFill>
              </a:rPr>
              <a:t>IA operacional, previsão de degradação, recomendações e canais WhatsApp/Telegram.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42C5E437-B95C-45EE-AB2B-0E478E45CFBF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0477500" cy="40005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A4ADBD"/>
                </a:solidFill>
              </a:defRPr>
            </a:pPr>
            <a:r>
              <a:rPr sz="1500" b="0">
                <a:solidFill>
                  <a:srgbClr val="A4ADBD"/>
                </a:solidFill>
              </a:rPr>
              <a:t>Cada etapa precisa reduzir tempo de diagnóstico, manter rastreabilidade e ampliar a capacidade de atendimento.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A029CDF3-5B20-4A96-B589-6B242C2E6467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11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9C48AE93-9BA4-43CF-8D27-08C37F413884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76250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A4ADBD"/>
                </a:solidFill>
              </a:defRPr>
            </a:pPr>
            <a:r>
              <a:rPr sz="900" b="1">
                <a:solidFill>
                  <a:srgbClr val="A4ADBD"/>
                </a:solidFill>
              </a:rPr>
              <a:t>HEALTHLINK SENTINEL  /  PITCH 2026</a:t>
            </a:r>
          </a:p>
        </p:txBody>
      </p:sp>
    </p:spTree>
    <p:extLst>
      <p:ext uri="{BB962C8B-B14F-4D97-AF65-F5344CB8AC3E}">
        <p14:creationId xmlns:p14="http://schemas.microsoft.com/office/powerpoint/2010/main" val="191582755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945</Words>
  <Application>Microsoft Office PowerPoint</Application>
  <DocSecurity>0</DocSecurity>
  <PresentationFormat>Widescreen</PresentationFormat>
  <Paragraphs>156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jhonny barroncas</cp:lastModifiedBy>
  <cp:revision>1</cp:revision>
  <dcterms:created xsi:type="dcterms:W3CDTF">2026-08-24T20:35:42Z</dcterms:created>
  <dcterms:modified xsi:type="dcterms:W3CDTF">2026-08-24T20:42:53Z</dcterms:modified>
</cp:coreProperties>
</file>